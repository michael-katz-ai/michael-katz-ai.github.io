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1000" r:id="rId2"/>
    <p:sldId id="982" r:id="rId3"/>
    <p:sldId id="1060" r:id="rId4"/>
    <p:sldId id="1061" r:id="rId5"/>
    <p:sldId id="984" r:id="rId6"/>
    <p:sldId id="1052" r:id="rId7"/>
    <p:sldId id="1034" r:id="rId8"/>
    <p:sldId id="993" r:id="rId9"/>
    <p:sldId id="991" r:id="rId10"/>
    <p:sldId id="1062" r:id="rId11"/>
    <p:sldId id="1063" r:id="rId12"/>
    <p:sldId id="104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5E1"/>
    <a:srgbClr val="E7E6E6"/>
    <a:srgbClr val="C7D0DF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43"/>
    <p:restoredTop sz="83670"/>
  </p:normalViewPr>
  <p:slideViewPr>
    <p:cSldViewPr snapToGrid="0">
      <p:cViewPr varScale="1">
        <p:scale>
          <a:sx n="117" d="100"/>
          <a:sy n="117" d="100"/>
        </p:scale>
        <p:origin x="17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89028-9AA5-EB4F-B8BE-7C57B92012CB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FDEBB-CCCC-8B46-A2A2-C1D34AD7B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44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07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B9C41-1CB9-26ED-7ACA-E93B3CC6B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05803-65C8-394C-8354-2E3F3A94C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C7262-CB0E-7AFE-3833-5933B0398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D1A30-C8ED-F6E9-1B4E-DFD321B2F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CF2BD-61DD-BBE4-B5DA-ADD89B76DA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485182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1C5ED-A18E-FA4F-0433-19ECBFE2E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9A9AF-935B-ECAF-C08F-1331ECCAA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4CF633-A9DC-BE76-90A2-F39E63323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4A08C-8A3C-3CE0-A06E-E50ECF28F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35E3E-5B3E-33A5-90A2-29E09294C8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480365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9E130-CE85-5DEB-F66F-A586F8CBD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04BE9B-1147-F89B-3418-6FF58896A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07EE3-F375-1497-4F75-2DEC90410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7A3A2-2D57-047A-0740-2E6B1EF92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B59DD-A3C9-36F4-E765-DA7D93BFBA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764463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FAB00-D610-E8B2-C645-8A3907833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8E12F8-9184-396B-3E41-9F4BB9855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E36484-0086-E52C-6BBC-C31E146E6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F0752-8886-70C4-D167-AA52208A67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B6C7B-933D-4D74-A9B8-E4B619B4CF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907427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F4404-6A83-CF3D-B709-63AA73C3D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C0FBE-B494-3410-33DF-DB69E78CC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AFE38C-670C-5BAE-29D8-0A37ED9B0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Handcrafted or given state representation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C1BE1-C159-016C-C7A0-0C9D59FD7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6BAD4-4ADC-13AD-22E7-6E60B34A066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577281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B0446-CD76-655E-587F-3043ED166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F2BA66-6F70-B0B4-C63E-B38786BA6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FD62-0366-73F3-2C0B-A06AB031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AC0A9-50B5-D2A9-CA26-74D8C372B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FBE9A-5254-62A2-BC88-F608FFF0B69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611439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46CD-9A31-173F-A471-8E70E74DE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C43A2-6FA5-8B5F-78ED-0329B5517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65A282-1A38-2EF9-DE79-6CD11EC3A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065B7-DB1D-BEAD-81BE-6669F3814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AA7E1-78BC-CDA2-C9DB-BD9EDF7D53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041936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06715-C34C-1DE0-2389-CB2906E02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99FF1-010D-A637-2DB0-DB52C4F77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EF8EBE-50C5-70FA-9E14-D7D9A9A81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0A1AA-9A5E-996E-187C-A9BB0D63B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0E345-D1AC-B90A-746F-F3A361C415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008869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AEEF0-1BFC-4F11-0DF7-1F78417FB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3CA31-0854-1B9E-0A9E-308A83D90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AB8A49-40DF-4279-90C1-96C985E61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FF616-A4F8-9230-DEF8-35CBE63B2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E7A43-516D-C66B-D135-23C18B9D6D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86290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1FCF-0CE9-6D3B-16EB-A5119E095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83427-FF72-1EBD-4A0A-CC34B0117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14471-D4C0-0E5D-DBA6-97A3C7648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2FF74-043B-05F9-EC58-4238B4C29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5C816-71A6-15B6-B3BA-D76253271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0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D7979-2C0B-87AB-1A9C-FE395D01B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705FC-E951-C9E6-4FAD-80067A7A6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76035-4C6C-6228-45E6-36A0BC97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A859F-A026-A827-B01E-FC636C19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E8C3C-3662-309D-D21B-6BE2F016F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A62A0-3F05-BEC5-A2A6-89FA01F0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050F4-193F-8A54-409D-15459CE60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B3CC7-5D28-A20C-CF0F-E2E69EE28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17C5C-2A8F-5B86-FC6A-930F6A230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854D9-29BA-621B-7756-F3261C6A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8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E9919-BA08-5C40-6857-2B7484FA3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877B7-433E-AE53-E67C-2CDCC2598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3A7E7-CAD6-CAAB-82F1-8C13C5AF3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47764-9003-6D58-B97F-14B718D72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78F01-8DE6-76CF-17CB-AADC255FB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A2F18-9C5E-C800-FEAD-5CF69FBDE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13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9A7CB-0349-5E21-B85F-E5F2C4A6B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D3DFB-4BBE-F6EF-3B21-A17611F97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09CBB-EA58-36BE-A447-E7B00D171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3C917-22C4-F7AD-780D-C718115BF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33C1B3-5F3B-000B-6EC1-FFC031C42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C392D9-072C-0FE1-3967-D3ACC056F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A793EA-75DB-148F-2F62-140A3310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945BA-29E7-CAE0-6162-67C2063C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510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22CE8-28A3-8D99-1DF3-864BF872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25EBE-2EC2-0202-B026-B7EB58D69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9A54C-DB6E-F68B-D24D-E2262EB9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CE15E-EB98-1910-68D0-27D183D6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96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938809-CBDD-5D94-47DB-A4A9EBB0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150C0-5D71-2213-F4F6-BB698FB03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A7695-4215-99E5-56EE-DF98029A0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15C52-18FB-9FC0-5D47-81B90B0F9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13FC7-641A-B751-C6DF-21CE1570A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8BA57-5AB1-37A9-AE57-FAECF47D3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4CEE9-5602-B278-776E-1DCFC6F3E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712C6-4180-0BE1-396C-A5F64A33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D20D6-4F86-0BAD-B1FC-CCD3E08E9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54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CA6D5-DABF-3943-17F6-43DD95E1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08A7E7-D050-DA63-8E49-D18EFE762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F5AFB-A5B4-3DB3-56F1-0E60630F1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C99D2-2131-1407-FDCD-99AA5A29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05233-375B-5080-E42E-938A7BF45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7AF54-D19E-31E5-E1D7-BC8BD0536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93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45E70-2E59-7152-AAA7-123A13D31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4B018-BA8F-0207-B623-16C2A2E6E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07BDD-9C87-4D36-AC94-8C8F0FFB9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B2B19-8BC8-01D1-F6A5-CC03C46B1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E0624-53C0-7C7C-BF1F-039A0D86F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6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24E9AF-07E4-B53E-289B-714B3F8CB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A45DBB-BDF7-BB37-695A-B0F46D513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4FF1F-EF7D-19DD-84E8-C5C7E2BA7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A1352-43B3-367F-05DC-41BD6F7C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02C3D-5DC9-8690-62AE-F32289EE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76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26127" y="1985921"/>
            <a:ext cx="9455003" cy="3054431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6806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75F80-7516-72B5-7496-23B3E142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9724-21E5-03B7-BE29-8713E569F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47784-EA72-E42A-D7A5-3B361F343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10E33-DD58-4472-A9AD-89E2B8174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C21A2-CF4E-A518-78AC-20DB4E7EF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50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6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15.png"/><Relationship Id="rId17" Type="http://schemas.microsoft.com/office/2007/relationships/hdphoto" Target="../media/hdphoto1.wdp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11" Type="http://schemas.openxmlformats.org/officeDocument/2006/relationships/image" Target="../media/image3.png"/><Relationship Id="rId5" Type="http://schemas.openxmlformats.org/officeDocument/2006/relationships/image" Target="../media/image13.png"/><Relationship Id="rId15" Type="http://schemas.openxmlformats.org/officeDocument/2006/relationships/image" Target="../media/image18.svg"/><Relationship Id="rId10" Type="http://schemas.openxmlformats.org/officeDocument/2006/relationships/image" Target="../media/image7.svg"/><Relationship Id="rId4" Type="http://schemas.openxmlformats.org/officeDocument/2006/relationships/image" Target="../media/image12.png"/><Relationship Id="rId9" Type="http://schemas.openxmlformats.org/officeDocument/2006/relationships/image" Target="../media/image6.png"/><Relationship Id="rId1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11" Type="http://schemas.openxmlformats.org/officeDocument/2006/relationships/image" Target="../media/image3.png"/><Relationship Id="rId5" Type="http://schemas.openxmlformats.org/officeDocument/2006/relationships/image" Target="../media/image13.png"/><Relationship Id="rId10" Type="http://schemas.openxmlformats.org/officeDocument/2006/relationships/image" Target="../media/image7.svg"/><Relationship Id="rId4" Type="http://schemas.openxmlformats.org/officeDocument/2006/relationships/image" Target="../media/image12.pn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18.svg"/><Relationship Id="rId5" Type="http://schemas.openxmlformats.org/officeDocument/2006/relationships/image" Target="../media/image16.svg"/><Relationship Id="rId10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7.svg"/><Relationship Id="rId1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41000" r="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49CCF2-5AD5-F193-336E-D1E01025238A}"/>
              </a:ext>
            </a:extLst>
          </p:cNvPr>
          <p:cNvSpPr/>
          <p:nvPr/>
        </p:nvSpPr>
        <p:spPr>
          <a:xfrm>
            <a:off x="768611" y="328558"/>
            <a:ext cx="1065477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Planning in the LLM Era: </a:t>
            </a:r>
          </a:p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Building for Reliability and Efficiency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B96621-9DD6-36BC-8DB2-21C46D1E3AAD}"/>
              </a:ext>
            </a:extLst>
          </p:cNvPr>
          <p:cNvSpPr txBox="1"/>
          <p:nvPr/>
        </p:nvSpPr>
        <p:spPr>
          <a:xfrm>
            <a:off x="710648" y="2304700"/>
            <a:ext cx="11340548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u="sng" dirty="0"/>
              <a:t>Michael Katz </a:t>
            </a:r>
            <a:r>
              <a:rPr lang="en-US" sz="2800" dirty="0"/>
              <a:t>             Harsha Kokel              Kavitha Srinivas             Shirin Sohrabi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AA959A-7B3A-CA90-7485-A8D91B9D4B53}"/>
              </a:ext>
            </a:extLst>
          </p:cNvPr>
          <p:cNvSpPr txBox="1"/>
          <p:nvPr/>
        </p:nvSpPr>
        <p:spPr>
          <a:xfrm>
            <a:off x="5427555" y="2827920"/>
            <a:ext cx="7777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IBM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566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52530-4510-D1C1-BB29-9A87C999A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C3F2F87A-C3BD-A1A8-0999-31C18F2A1497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7587EE9C-1AD7-8688-FA4F-E4FE616A088B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CCB76969-F33F-8B33-AA26-DEB7DC99CC1C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AC32835-8A10-EF3F-F723-6EBE628E71C3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C90DA462-F709-6549-591C-884FE7FB80C6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AFAB71C1-9A10-B3B5-35C4-10D7D10277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E0AB2DE9-1D83-1A37-1B76-834AC66D97B9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167D2520-8715-5CDE-A186-D970A916761F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5D032C45-0B76-A6A1-EC7C-D3220ECC468A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8CEEFFCC-D436-B453-5941-D5CB49CAB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153427" cy="523220"/>
          </a:xfrm>
        </p:spPr>
        <p:txBody>
          <a:bodyPr>
            <a:noAutofit/>
          </a:bodyPr>
          <a:lstStyle/>
          <a:p>
            <a:r>
              <a:rPr lang="en-US" sz="4400" dirty="0"/>
              <a:t>Motivation</a:t>
            </a:r>
          </a:p>
        </p:txBody>
      </p:sp>
      <p:sp>
        <p:nvSpPr>
          <p:cNvPr id="1293" name="TextBox 1292">
            <a:extLst>
              <a:ext uri="{FF2B5EF4-FFF2-40B4-BE49-F238E27FC236}">
                <a16:creationId xmlns:a16="http://schemas.microsoft.com/office/drawing/2014/main" id="{BD5C097B-F541-973A-FC45-C44DCD1EBF6A}"/>
              </a:ext>
            </a:extLst>
          </p:cNvPr>
          <p:cNvSpPr txBox="1"/>
          <p:nvPr/>
        </p:nvSpPr>
        <p:spPr>
          <a:xfrm>
            <a:off x="5159203" y="683163"/>
            <a:ext cx="2969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of the focus since 2022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AE7ECF4-9319-4A56-DEB8-A699A5D5DB8C}"/>
              </a:ext>
            </a:extLst>
          </p:cNvPr>
          <p:cNvGrpSpPr/>
          <p:nvPr/>
        </p:nvGrpSpPr>
        <p:grpSpPr>
          <a:xfrm>
            <a:off x="8509270" y="1292934"/>
            <a:ext cx="1312854" cy="1142543"/>
            <a:chOff x="8470238" y="4638689"/>
            <a:chExt cx="1312854" cy="1142543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11E0696-5920-456A-0D69-32B590FE8B7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536959" y="5777245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9076DF-7D7E-336A-84C9-F557FA15297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470238" y="4954882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5CECA25-83C1-F4D1-D88F-E310492CE6EF}"/>
                </a:ext>
              </a:extLst>
            </p:cNvPr>
            <p:cNvSpPr txBox="1"/>
            <p:nvPr/>
          </p:nvSpPr>
          <p:spPr>
            <a:xfrm>
              <a:off x="8549341" y="5416492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509DCEC-9B09-D909-3532-96BF108B1CF9}"/>
                </a:ext>
              </a:extLst>
            </p:cNvPr>
            <p:cNvSpPr txBox="1"/>
            <p:nvPr/>
          </p:nvSpPr>
          <p:spPr>
            <a:xfrm>
              <a:off x="8528118" y="4638689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BA93CF8-7E87-E768-9B6F-867F14558313}"/>
              </a:ext>
            </a:extLst>
          </p:cNvPr>
          <p:cNvGrpSpPr>
            <a:grpSpLocks noChangeAspect="1"/>
          </p:cNvGrpSpPr>
          <p:nvPr/>
        </p:nvGrpSpPr>
        <p:grpSpPr>
          <a:xfrm>
            <a:off x="5553366" y="1113547"/>
            <a:ext cx="2917025" cy="1767705"/>
            <a:chOff x="5106326" y="1451475"/>
            <a:chExt cx="3354003" cy="2032511"/>
          </a:xfrm>
        </p:grpSpPr>
        <p:grpSp>
          <p:nvGrpSpPr>
            <p:cNvPr id="1167" name="Group 1166">
              <a:extLst>
                <a:ext uri="{FF2B5EF4-FFF2-40B4-BE49-F238E27FC236}">
                  <a16:creationId xmlns:a16="http://schemas.microsoft.com/office/drawing/2014/main" id="{03B7904D-AE4C-8F52-98F8-8DA5EF1A97AB}"/>
                </a:ext>
              </a:extLst>
            </p:cNvPr>
            <p:cNvGrpSpPr/>
            <p:nvPr/>
          </p:nvGrpSpPr>
          <p:grpSpPr>
            <a:xfrm>
              <a:off x="5219299" y="1451475"/>
              <a:ext cx="3241030" cy="2032511"/>
              <a:chOff x="6657992" y="856293"/>
              <a:chExt cx="1837807" cy="1127312"/>
            </a:xfrm>
          </p:grpSpPr>
          <p:sp>
            <p:nvSpPr>
              <p:cNvPr id="1103" name="Rounded Rectangle 1102">
                <a:extLst>
                  <a:ext uri="{FF2B5EF4-FFF2-40B4-BE49-F238E27FC236}">
                    <a16:creationId xmlns:a16="http://schemas.microsoft.com/office/drawing/2014/main" id="{E82F1DA7-6C88-140A-2044-94EFE6B0F1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57992" y="856293"/>
                <a:ext cx="1837807" cy="1127312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313ABA29-3DAF-743F-C363-9CBD1E4656E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19088" y="893054"/>
                <a:ext cx="561901" cy="563643"/>
                <a:chOff x="2706216" y="2534577"/>
                <a:chExt cx="939638" cy="1039482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EE933B71-2F1F-8A2D-10E0-424A0286D2B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706216" y="2534577"/>
                  <a:ext cx="939638" cy="1039482"/>
                </a:xfrm>
                <a:prstGeom prst="ellipse">
                  <a:avLst/>
                </a:prstGeom>
                <a:solidFill>
                  <a:srgbClr val="FFD6E8"/>
                </a:solidFill>
                <a:ln w="19050">
                  <a:solidFill>
                    <a:srgbClr val="EE539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62" name="Picture 1061">
                  <a:extLst>
                    <a:ext uri="{FF2B5EF4-FFF2-40B4-BE49-F238E27FC236}">
                      <a16:creationId xmlns:a16="http://schemas.microsoft.com/office/drawing/2014/main" id="{CD430864-EBC5-5689-564F-248D45784C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03410" y="2809340"/>
                  <a:ext cx="620646" cy="620646"/>
                </a:xfrm>
                <a:prstGeom prst="rect">
                  <a:avLst/>
                </a:prstGeom>
              </p:spPr>
            </p:pic>
          </p:grpSp>
          <p:cxnSp>
            <p:nvCxnSpPr>
              <p:cNvPr id="1274" name="Curved Connector 1273">
                <a:extLst>
                  <a:ext uri="{FF2B5EF4-FFF2-40B4-BE49-F238E27FC236}">
                    <a16:creationId xmlns:a16="http://schemas.microsoft.com/office/drawing/2014/main" id="{20B803B7-6480-2B07-3BF3-5EB3F7CCB8E6}"/>
                  </a:ext>
                </a:extLst>
              </p:cNvPr>
              <p:cNvCxnSpPr>
                <a:cxnSpLocks/>
                <a:stCxn id="8" idx="2"/>
                <a:endCxn id="1077" idx="2"/>
              </p:cNvCxnSpPr>
              <p:nvPr/>
            </p:nvCxnSpPr>
            <p:spPr>
              <a:xfrm rot="10800000" flipV="1">
                <a:off x="7699876" y="1174876"/>
                <a:ext cx="119212" cy="600818"/>
              </a:xfrm>
              <a:prstGeom prst="curvedConnector3">
                <a:avLst>
                  <a:gd name="adj1" fmla="val 582704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68" name="Group 1067">
                <a:extLst>
                  <a:ext uri="{FF2B5EF4-FFF2-40B4-BE49-F238E27FC236}">
                    <a16:creationId xmlns:a16="http://schemas.microsoft.com/office/drawing/2014/main" id="{3F4C6C5A-B0A2-9343-38BA-8B38511061ED}"/>
                  </a:ext>
                </a:extLst>
              </p:cNvPr>
              <p:cNvGrpSpPr/>
              <p:nvPr/>
            </p:nvGrpSpPr>
            <p:grpSpPr>
              <a:xfrm>
                <a:off x="7699876" y="1582585"/>
                <a:ext cx="773317" cy="381910"/>
                <a:chOff x="7498472" y="1277142"/>
                <a:chExt cx="773317" cy="381910"/>
              </a:xfrm>
            </p:grpSpPr>
            <p:grpSp>
              <p:nvGrpSpPr>
                <p:cNvPr id="1070" name="Group 1069">
                  <a:extLst>
                    <a:ext uri="{FF2B5EF4-FFF2-40B4-BE49-F238E27FC236}">
                      <a16:creationId xmlns:a16="http://schemas.microsoft.com/office/drawing/2014/main" id="{7E0A7CFB-F9BC-3B5E-8A2B-1324DC0DB8B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890839" y="1277142"/>
                  <a:ext cx="380950" cy="380433"/>
                  <a:chOff x="3293553" y="4938168"/>
                  <a:chExt cx="845421" cy="845419"/>
                </a:xfrm>
              </p:grpSpPr>
              <p:sp>
                <p:nvSpPr>
                  <p:cNvPr id="1083" name="Oval 1082">
                    <a:extLst>
                      <a:ext uri="{FF2B5EF4-FFF2-40B4-BE49-F238E27FC236}">
                        <a16:creationId xmlns:a16="http://schemas.microsoft.com/office/drawing/2014/main" id="{937D32C9-1259-80B1-AFF9-DE5A5877DBD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3293553" y="4938168"/>
                    <a:ext cx="845421" cy="8454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85" name="Graphic 1084" descr="Transfer with solid fill">
                    <a:extLst>
                      <a:ext uri="{FF2B5EF4-FFF2-40B4-BE49-F238E27FC236}">
                        <a16:creationId xmlns:a16="http://schemas.microsoft.com/office/drawing/2014/main" id="{A6A96AE1-0080-566C-05EA-47F93315321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5976" y="5157680"/>
                    <a:ext cx="457140" cy="4571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75" name="Group 1074">
                  <a:extLst>
                    <a:ext uri="{FF2B5EF4-FFF2-40B4-BE49-F238E27FC236}">
                      <a16:creationId xmlns:a16="http://schemas.microsoft.com/office/drawing/2014/main" id="{1F73A5D5-96A2-2A14-347A-156193976A5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498472" y="1281450"/>
                  <a:ext cx="380292" cy="377602"/>
                  <a:chOff x="1429103" y="4084579"/>
                  <a:chExt cx="842519" cy="842520"/>
                </a:xfrm>
              </p:grpSpPr>
              <p:sp>
                <p:nvSpPr>
                  <p:cNvPr id="1077" name="Oval 1076">
                    <a:extLst>
                      <a:ext uri="{FF2B5EF4-FFF2-40B4-BE49-F238E27FC236}">
                        <a16:creationId xmlns:a16="http://schemas.microsoft.com/office/drawing/2014/main" id="{D90C84C3-8AE7-4D8F-1DE4-B8B42611F0F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1429103" y="4084579"/>
                    <a:ext cx="842519" cy="84252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82" name="Graphic 1081" descr="Route (Two Pins With A Path) with solid fill">
                    <a:extLst>
                      <a:ext uri="{FF2B5EF4-FFF2-40B4-BE49-F238E27FC236}">
                        <a16:creationId xmlns:a16="http://schemas.microsoft.com/office/drawing/2014/main" id="{91554B96-0D1E-FE26-55AA-26FD2D891E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06970" y="4288688"/>
                    <a:ext cx="457141" cy="457141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9DC7348-0C80-A86D-8C47-BB00E01F24D0}"/>
                </a:ext>
              </a:extLst>
            </p:cNvPr>
            <p:cNvSpPr txBox="1"/>
            <p:nvPr/>
          </p:nvSpPr>
          <p:spPr>
            <a:xfrm>
              <a:off x="5106326" y="1586087"/>
              <a:ext cx="2286695" cy="50163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20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Planner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684B863-7EF4-1D2B-5202-5FEBAAE1D570}"/>
              </a:ext>
            </a:extLst>
          </p:cNvPr>
          <p:cNvSpPr txBox="1"/>
          <p:nvPr/>
        </p:nvSpPr>
        <p:spPr>
          <a:xfrm>
            <a:off x="334414" y="2825540"/>
            <a:ext cx="5360707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Planning is central to intelligent agents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LLMs sparked renewed interest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should we do with them?</a:t>
            </a:r>
          </a:p>
        </p:txBody>
      </p:sp>
    </p:spTree>
    <p:extLst>
      <p:ext uri="{BB962C8B-B14F-4D97-AF65-F5344CB8AC3E}">
        <p14:creationId xmlns:p14="http://schemas.microsoft.com/office/powerpoint/2010/main" val="41240977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2FA38-B03D-ADBF-2D3C-9AFC0010B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E282890E-20B1-F810-A9CB-895458E75866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36C77289-623F-247C-EC4D-CCDFE32B7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153427" cy="523220"/>
          </a:xfrm>
        </p:spPr>
        <p:txBody>
          <a:bodyPr>
            <a:noAutofit/>
          </a:bodyPr>
          <a:lstStyle/>
          <a:p>
            <a:r>
              <a:rPr lang="en-US" sz="4400" dirty="0"/>
              <a:t>Why LLM as Planner Falls Short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8B7A1-4FCA-2627-FABC-0761ADFE00F3}"/>
              </a:ext>
            </a:extLst>
          </p:cNvPr>
          <p:cNvSpPr txBox="1"/>
          <p:nvPr/>
        </p:nvSpPr>
        <p:spPr>
          <a:xfrm>
            <a:off x="334414" y="2825540"/>
            <a:ext cx="5360707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Unsound and incomplete methods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High computational cost per task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No reuse across tasks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Fragile to change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627839-1055-C01F-0333-500C742DF76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6000"/>
          </a:blip>
          <a:stretch>
            <a:fillRect/>
          </a:stretch>
        </p:blipFill>
        <p:spPr>
          <a:xfrm>
            <a:off x="6113966" y="546809"/>
            <a:ext cx="6078034" cy="607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41000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8EDF6-3DF3-73DE-BBCA-72EEBBB6D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DE26D13D-E3C0-E608-54A3-0B5F8717937D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8AD3EFC9-DEE7-793C-DB52-6C9703316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153427" cy="523220"/>
          </a:xfrm>
        </p:spPr>
        <p:txBody>
          <a:bodyPr>
            <a:noAutofit/>
          </a:bodyPr>
          <a:lstStyle/>
          <a:p>
            <a:r>
              <a:rPr lang="en-US" sz="4400" dirty="0"/>
              <a:t>Central Idea: LLM as Solver Generator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494417-3A2C-5CA0-65D2-D210382C933E}"/>
              </a:ext>
            </a:extLst>
          </p:cNvPr>
          <p:cNvSpPr txBox="1"/>
          <p:nvPr/>
        </p:nvSpPr>
        <p:spPr>
          <a:xfrm>
            <a:off x="334414" y="2348462"/>
            <a:ext cx="5360707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Generate a solver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Validate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Reuse efficiently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730482-C83E-A783-2526-2CB26EDDAB5F}"/>
              </a:ext>
            </a:extLst>
          </p:cNvPr>
          <p:cNvSpPr txBox="1"/>
          <p:nvPr/>
        </p:nvSpPr>
        <p:spPr>
          <a:xfrm>
            <a:off x="215146" y="1689653"/>
            <a:ext cx="87016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Use LLMs mostly at construction time, not inference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B6A712-B46E-2FBA-C60F-BD01AB8C3831}"/>
              </a:ext>
            </a:extLst>
          </p:cNvPr>
          <p:cNvSpPr txBox="1"/>
          <p:nvPr/>
        </p:nvSpPr>
        <p:spPr>
          <a:xfrm>
            <a:off x="334413" y="4893606"/>
            <a:ext cx="5360707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Reliability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Efficiency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Maintainability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D8C98-C8C1-C65C-17F8-40AD3A54AFC2}"/>
              </a:ext>
            </a:extLst>
          </p:cNvPr>
          <p:cNvSpPr txBox="1"/>
          <p:nvPr/>
        </p:nvSpPr>
        <p:spPr>
          <a:xfrm>
            <a:off x="215145" y="4267201"/>
            <a:ext cx="1507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Benefits: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B00CEF-DFD9-99E9-9256-2848AF69C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411" y="4350872"/>
            <a:ext cx="3886200" cy="2590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9A5C8B-F8FC-EEB7-8D97-0DFBB3879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226" y="2848303"/>
            <a:ext cx="8393909" cy="559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89585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3B1B136A-1A7A-DAF9-C715-D7C7F0893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35012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F9224-8BCF-DF6D-5B0D-CAFDB847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2887D434-221B-7C83-8E02-6CA222DF30B4}"/>
              </a:ext>
            </a:extLst>
          </p:cNvPr>
          <p:cNvSpPr txBox="1"/>
          <p:nvPr/>
        </p:nvSpPr>
        <p:spPr>
          <a:xfrm>
            <a:off x="7737984" y="3327331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5FD7036B-EE38-E8CB-2244-F6A7051FA27F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E4D86EFE-CD5C-16EB-552F-26CC7F790DFB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C3F456E-D50B-C98E-D723-15120DF0E45D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3339A39-770B-1A15-D93F-8EABCF46DA67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B52E94B7-B8E8-A3D8-899F-483AE66BD34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E31045FD-11DB-1EA8-85E0-54F96B9DE9FE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5F428F60-2F2D-D0DF-F0D5-9D022196262A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D67E564E-D372-DFC2-B231-DEDA3D0CE231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E45599DE-14BE-0107-54E5-2D0CD05B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The Three Paradigms</a:t>
            </a:r>
          </a:p>
        </p:txBody>
      </p:sp>
      <p:grpSp>
        <p:nvGrpSpPr>
          <p:cNvPr id="1170" name="Group 1169">
            <a:extLst>
              <a:ext uri="{FF2B5EF4-FFF2-40B4-BE49-F238E27FC236}">
                <a16:creationId xmlns:a16="http://schemas.microsoft.com/office/drawing/2014/main" id="{63311C7E-C898-D309-E128-A95E9507F305}"/>
              </a:ext>
            </a:extLst>
          </p:cNvPr>
          <p:cNvGrpSpPr/>
          <p:nvPr/>
        </p:nvGrpSpPr>
        <p:grpSpPr>
          <a:xfrm>
            <a:off x="189999" y="1328097"/>
            <a:ext cx="2888143" cy="1179610"/>
            <a:chOff x="189999" y="1328097"/>
            <a:chExt cx="2888143" cy="1179610"/>
          </a:xfrm>
        </p:grpSpPr>
        <p:sp>
          <p:nvSpPr>
            <p:cNvPr id="1257" name="TextBox 1256">
              <a:extLst>
                <a:ext uri="{FF2B5EF4-FFF2-40B4-BE49-F238E27FC236}">
                  <a16:creationId xmlns:a16="http://schemas.microsoft.com/office/drawing/2014/main" id="{F52870DA-72A5-3739-71A6-ECCF69E7DB5A}"/>
                </a:ext>
              </a:extLst>
            </p:cNvPr>
            <p:cNvSpPr txBox="1"/>
            <p:nvPr/>
          </p:nvSpPr>
          <p:spPr>
            <a:xfrm>
              <a:off x="202060" y="1328097"/>
              <a:ext cx="22065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Katz et al, NeurIPS 2024</a:t>
              </a:r>
            </a:p>
          </p:txBody>
        </p:sp>
        <p:sp>
          <p:nvSpPr>
            <p:cNvPr id="1258" name="TextBox 1257">
              <a:extLst>
                <a:ext uri="{FF2B5EF4-FFF2-40B4-BE49-F238E27FC236}">
                  <a16:creationId xmlns:a16="http://schemas.microsoft.com/office/drawing/2014/main" id="{7980B639-90E6-4EC0-F5DA-36E4D3CE6F55}"/>
                </a:ext>
              </a:extLst>
            </p:cNvPr>
            <p:cNvSpPr txBox="1"/>
            <p:nvPr/>
          </p:nvSpPr>
          <p:spPr>
            <a:xfrm>
              <a:off x="193759" y="1605755"/>
              <a:ext cx="288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Cao et al, ICAPS 2026</a:t>
              </a:r>
            </a:p>
          </p:txBody>
        </p:sp>
        <p:sp>
          <p:nvSpPr>
            <p:cNvPr id="1260" name="TextBox 1259">
              <a:extLst>
                <a:ext uri="{FF2B5EF4-FFF2-40B4-BE49-F238E27FC236}">
                  <a16:creationId xmlns:a16="http://schemas.microsoft.com/office/drawing/2014/main" id="{6DAC0B4C-2BC8-879B-0D45-C43E8004F183}"/>
                </a:ext>
              </a:extLst>
            </p:cNvPr>
            <p:cNvSpPr txBox="1"/>
            <p:nvPr/>
          </p:nvSpPr>
          <p:spPr>
            <a:xfrm>
              <a:off x="189999" y="1887070"/>
              <a:ext cx="24715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err="1">
                  <a:solidFill>
                    <a:schemeClr val="accent1">
                      <a:lumMod val="75000"/>
                    </a:schemeClr>
                  </a:solidFill>
                </a:rPr>
                <a:t>Tuisov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 et al, ICAPS 2026</a:t>
              </a:r>
            </a:p>
          </p:txBody>
        </p:sp>
        <p:sp>
          <p:nvSpPr>
            <p:cNvPr id="1261" name="TextBox 1260">
              <a:extLst>
                <a:ext uri="{FF2B5EF4-FFF2-40B4-BE49-F238E27FC236}">
                  <a16:creationId xmlns:a16="http://schemas.microsoft.com/office/drawing/2014/main" id="{93C37F2A-E090-DBAD-1B31-5DA11CB7CE3D}"/>
                </a:ext>
              </a:extLst>
            </p:cNvPr>
            <p:cNvSpPr txBox="1"/>
            <p:nvPr/>
          </p:nvSpPr>
          <p:spPr>
            <a:xfrm>
              <a:off x="189999" y="2169153"/>
              <a:ext cx="24715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Correa et al, NeurIPS 2025</a:t>
              </a:r>
            </a:p>
          </p:txBody>
        </p:sp>
      </p:grpSp>
      <p:cxnSp>
        <p:nvCxnSpPr>
          <p:cNvPr id="1290" name="Straight Connector 1289">
            <a:extLst>
              <a:ext uri="{FF2B5EF4-FFF2-40B4-BE49-F238E27FC236}">
                <a16:creationId xmlns:a16="http://schemas.microsoft.com/office/drawing/2014/main" id="{F80F10F8-ADE1-2F3D-6A15-E90D6048A8D4}"/>
              </a:ext>
            </a:extLst>
          </p:cNvPr>
          <p:cNvCxnSpPr>
            <a:cxnSpLocks/>
          </p:cNvCxnSpPr>
          <p:nvPr/>
        </p:nvCxnSpPr>
        <p:spPr>
          <a:xfrm>
            <a:off x="242801" y="2734197"/>
            <a:ext cx="9616232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1" name="Straight Connector 1290">
            <a:extLst>
              <a:ext uri="{FF2B5EF4-FFF2-40B4-BE49-F238E27FC236}">
                <a16:creationId xmlns:a16="http://schemas.microsoft.com/office/drawing/2014/main" id="{477286FE-409D-DB66-9F36-14BEC0880ABB}"/>
              </a:ext>
            </a:extLst>
          </p:cNvPr>
          <p:cNvCxnSpPr>
            <a:cxnSpLocks/>
          </p:cNvCxnSpPr>
          <p:nvPr/>
        </p:nvCxnSpPr>
        <p:spPr>
          <a:xfrm>
            <a:off x="165337" y="4824280"/>
            <a:ext cx="963193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8" name="Group 1057">
            <a:extLst>
              <a:ext uri="{FF2B5EF4-FFF2-40B4-BE49-F238E27FC236}">
                <a16:creationId xmlns:a16="http://schemas.microsoft.com/office/drawing/2014/main" id="{69BF345B-CFED-2BBD-25A2-04B728F42F04}"/>
              </a:ext>
            </a:extLst>
          </p:cNvPr>
          <p:cNvGrpSpPr/>
          <p:nvPr/>
        </p:nvGrpSpPr>
        <p:grpSpPr>
          <a:xfrm>
            <a:off x="8525159" y="3194658"/>
            <a:ext cx="1312854" cy="665341"/>
            <a:chOff x="8546179" y="5706967"/>
            <a:chExt cx="1312854" cy="665341"/>
          </a:xfrm>
        </p:grpSpPr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C0269C9F-5B7A-58A3-B918-AFA9245113D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1" name="Straight Connector 1050">
              <a:extLst>
                <a:ext uri="{FF2B5EF4-FFF2-40B4-BE49-F238E27FC236}">
                  <a16:creationId xmlns:a16="http://schemas.microsoft.com/office/drawing/2014/main" id="{4A3E2F90-21C8-700F-0566-F358BA1D404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72842A19-6743-7C64-90AD-70C4C2CF4511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52A66E0A-323B-520C-4908-862B9494FE51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8825A338-157D-62D6-A387-F232498B8107}"/>
              </a:ext>
            </a:extLst>
          </p:cNvPr>
          <p:cNvGrpSpPr/>
          <p:nvPr/>
        </p:nvGrpSpPr>
        <p:grpSpPr>
          <a:xfrm>
            <a:off x="8510329" y="5373874"/>
            <a:ext cx="1312854" cy="665341"/>
            <a:chOff x="8546179" y="5706967"/>
            <a:chExt cx="1312854" cy="665341"/>
          </a:xfrm>
        </p:grpSpPr>
        <p:cxnSp>
          <p:nvCxnSpPr>
            <p:cNvPr id="1071" name="Straight Connector 1070">
              <a:extLst>
                <a:ext uri="{FF2B5EF4-FFF2-40B4-BE49-F238E27FC236}">
                  <a16:creationId xmlns:a16="http://schemas.microsoft.com/office/drawing/2014/main" id="{665AB8BC-09B1-F5B2-A3B8-FEA175630C0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62E45D9A-F6DB-1898-B59B-125796E353F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6C87569A-F558-779D-ED5E-16AEA2DA92B8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9D8AFFCB-C959-EB0E-3A3C-EA6A992B72C5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DEA1401F-E12A-33CD-5A7E-02B6BEE896F8}"/>
              </a:ext>
            </a:extLst>
          </p:cNvPr>
          <p:cNvGrpSpPr/>
          <p:nvPr/>
        </p:nvGrpSpPr>
        <p:grpSpPr>
          <a:xfrm>
            <a:off x="8492047" y="1438294"/>
            <a:ext cx="1312854" cy="665341"/>
            <a:chOff x="8546179" y="5706967"/>
            <a:chExt cx="1312854" cy="665341"/>
          </a:xfrm>
        </p:grpSpPr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5ED388C9-84F5-DC3C-9889-1A75587B5A0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E0AC6655-315B-9FEA-64CE-6343175D1B2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09" name="TextBox 1108">
              <a:extLst>
                <a:ext uri="{FF2B5EF4-FFF2-40B4-BE49-F238E27FC236}">
                  <a16:creationId xmlns:a16="http://schemas.microsoft.com/office/drawing/2014/main" id="{CF7D121A-CFF3-2C9C-102A-2EF6B635C26E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110" name="TextBox 1109">
              <a:extLst>
                <a:ext uri="{FF2B5EF4-FFF2-40B4-BE49-F238E27FC236}">
                  <a16:creationId xmlns:a16="http://schemas.microsoft.com/office/drawing/2014/main" id="{5DFE5DC1-A06D-B387-5BEC-36C0B38488B6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164" name="Group 1163">
            <a:extLst>
              <a:ext uri="{FF2B5EF4-FFF2-40B4-BE49-F238E27FC236}">
                <a16:creationId xmlns:a16="http://schemas.microsoft.com/office/drawing/2014/main" id="{0830F727-DD06-B389-6A2F-F11E27FC0F53}"/>
              </a:ext>
            </a:extLst>
          </p:cNvPr>
          <p:cNvGrpSpPr/>
          <p:nvPr/>
        </p:nvGrpSpPr>
        <p:grpSpPr>
          <a:xfrm>
            <a:off x="3878071" y="1381042"/>
            <a:ext cx="4612180" cy="1051916"/>
            <a:chOff x="3121502" y="4031327"/>
            <a:chExt cx="4612180" cy="1051916"/>
          </a:xfrm>
        </p:grpSpPr>
        <p:sp>
          <p:nvSpPr>
            <p:cNvPr id="1093" name="TextBox 1092">
              <a:extLst>
                <a:ext uri="{FF2B5EF4-FFF2-40B4-BE49-F238E27FC236}">
                  <a16:creationId xmlns:a16="http://schemas.microsoft.com/office/drawing/2014/main" id="{7259545E-1F70-CEF3-89AC-318B7687AC1B}"/>
                </a:ext>
              </a:extLst>
            </p:cNvPr>
            <p:cNvSpPr txBox="1"/>
            <p:nvPr/>
          </p:nvSpPr>
          <p:spPr>
            <a:xfrm>
              <a:off x="4698987" y="4064174"/>
              <a:ext cx="2471753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search components generator </a:t>
              </a:r>
            </a:p>
          </p:txBody>
        </p:sp>
        <p:grpSp>
          <p:nvGrpSpPr>
            <p:cNvPr id="1163" name="Group 1162">
              <a:extLst>
                <a:ext uri="{FF2B5EF4-FFF2-40B4-BE49-F238E27FC236}">
                  <a16:creationId xmlns:a16="http://schemas.microsoft.com/office/drawing/2014/main" id="{4008E5F2-0D27-614E-56B8-11A70F0BD4AC}"/>
                </a:ext>
              </a:extLst>
            </p:cNvPr>
            <p:cNvGrpSpPr/>
            <p:nvPr/>
          </p:nvGrpSpPr>
          <p:grpSpPr>
            <a:xfrm>
              <a:off x="3121502" y="4031327"/>
              <a:ext cx="4612180" cy="1051916"/>
              <a:chOff x="3880220" y="3400661"/>
              <a:chExt cx="4612180" cy="1051916"/>
            </a:xfrm>
          </p:grpSpPr>
          <p:sp>
            <p:nvSpPr>
              <p:cNvPr id="1120" name="Rounded Rectangle 1119">
                <a:extLst>
                  <a:ext uri="{FF2B5EF4-FFF2-40B4-BE49-F238E27FC236}">
                    <a16:creationId xmlns:a16="http://schemas.microsoft.com/office/drawing/2014/main" id="{FA949BE3-80E2-C2A0-030E-1AE5A271568B}"/>
                  </a:ext>
                </a:extLst>
              </p:cNvPr>
              <p:cNvSpPr/>
              <p:nvPr/>
            </p:nvSpPr>
            <p:spPr>
              <a:xfrm>
                <a:off x="3880220" y="3400661"/>
                <a:ext cx="4612180" cy="1047824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5998AE2-6BBE-6747-A33B-67232F6A0B1C}"/>
                  </a:ext>
                </a:extLst>
              </p:cNvPr>
              <p:cNvSpPr txBox="1"/>
              <p:nvPr/>
            </p:nvSpPr>
            <p:spPr>
              <a:xfrm>
                <a:off x="3975801" y="3541074"/>
                <a:ext cx="936739" cy="85734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Search components code (black box model)</a:t>
                </a:r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02870C0A-6A76-15B8-9B86-95E8AB67906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5672519" y="3710088"/>
                <a:ext cx="2214026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8" name="Straight Connector 1197">
                <a:extLst>
                  <a:ext uri="{FF2B5EF4-FFF2-40B4-BE49-F238E27FC236}">
                    <a16:creationId xmlns:a16="http://schemas.microsoft.com/office/drawing/2014/main" id="{4B419473-EE5D-9A92-BF7C-D6A4DC193A3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672519" y="4237389"/>
                <a:ext cx="29282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1" name="Straight Connector 1200">
                <a:extLst>
                  <a:ext uri="{FF2B5EF4-FFF2-40B4-BE49-F238E27FC236}">
                    <a16:creationId xmlns:a16="http://schemas.microsoft.com/office/drawing/2014/main" id="{7C208E36-ED23-E399-6737-2FF5833B5BE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091331" y="4237389"/>
                <a:ext cx="567403" cy="10786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3D614AF3-024A-067C-31BF-6078760A0F9B}"/>
                  </a:ext>
                </a:extLst>
              </p:cNvPr>
              <p:cNvGrpSpPr/>
              <p:nvPr/>
            </p:nvGrpSpPr>
            <p:grpSpPr>
              <a:xfrm>
                <a:off x="4938489" y="3598455"/>
                <a:ext cx="795114" cy="795114"/>
                <a:chOff x="8251677" y="1916963"/>
                <a:chExt cx="795114" cy="795114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C0443744-0C5E-7A16-5203-67F76F5B54F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251677" y="1916963"/>
                  <a:ext cx="795114" cy="795114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0" name="Picture 8" descr="Coding ">
                  <a:extLst>
                    <a:ext uri="{FF2B5EF4-FFF2-40B4-BE49-F238E27FC236}">
                      <a16:creationId xmlns:a16="http://schemas.microsoft.com/office/drawing/2014/main" id="{BB429048-828A-B844-0FF2-3E6C49CD0FA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37821" y="2103044"/>
                  <a:ext cx="406347" cy="40634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047" name="Group 1046">
                <a:extLst>
                  <a:ext uri="{FF2B5EF4-FFF2-40B4-BE49-F238E27FC236}">
                    <a16:creationId xmlns:a16="http://schemas.microsoft.com/office/drawing/2014/main" id="{34E2AAB3-572E-F334-E060-27FE24CB93DE}"/>
                  </a:ext>
                </a:extLst>
              </p:cNvPr>
              <p:cNvGrpSpPr/>
              <p:nvPr/>
            </p:nvGrpSpPr>
            <p:grpSpPr>
              <a:xfrm>
                <a:off x="5710995" y="3780991"/>
                <a:ext cx="1372661" cy="671586"/>
                <a:chOff x="5643165" y="4422291"/>
                <a:chExt cx="1082209" cy="671586"/>
              </a:xfrm>
            </p:grpSpPr>
            <p:grpSp>
              <p:nvGrpSpPr>
                <p:cNvPr id="1063" name="Group 1062">
                  <a:extLst>
                    <a:ext uri="{FF2B5EF4-FFF2-40B4-BE49-F238E27FC236}">
                      <a16:creationId xmlns:a16="http://schemas.microsoft.com/office/drawing/2014/main" id="{F78B7E92-DC19-352D-91E1-08EB2E15ACE9}"/>
                    </a:ext>
                  </a:extLst>
                </p:cNvPr>
                <p:cNvGrpSpPr/>
                <p:nvPr/>
              </p:nvGrpSpPr>
              <p:grpSpPr>
                <a:xfrm>
                  <a:off x="5857721" y="4422291"/>
                  <a:ext cx="867653" cy="620330"/>
                  <a:chOff x="9994816" y="1149802"/>
                  <a:chExt cx="867653" cy="620330"/>
                </a:xfrm>
              </p:grpSpPr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FA32BA60-1421-A562-545D-357E05344DF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994816" y="1149802"/>
                    <a:ext cx="867653" cy="620330"/>
                  </a:xfrm>
                  <a:prstGeom prst="rect">
                    <a:avLst/>
                  </a:prstGeom>
                  <a:solidFill>
                    <a:srgbClr val="FFF1F1"/>
                  </a:solidFill>
                  <a:ln w="19050">
                    <a:solidFill>
                      <a:srgbClr val="FA4D5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57" name="Graphic 56" descr="Search Inventory with solid fill">
                    <a:extLst>
                      <a:ext uri="{FF2B5EF4-FFF2-40B4-BE49-F238E27FC236}">
                        <a16:creationId xmlns:a16="http://schemas.microsoft.com/office/drawing/2014/main" id="{0F19DDFE-DD4B-4F74-A3CD-6DF69FE71D1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449469" y="1155596"/>
                    <a:ext cx="377688" cy="45714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5F52871B-32C7-430E-C1B3-222C6D54B0D7}"/>
                    </a:ext>
                  </a:extLst>
                </p:cNvPr>
                <p:cNvSpPr txBox="1"/>
                <p:nvPr/>
              </p:nvSpPr>
              <p:spPr>
                <a:xfrm>
                  <a:off x="5643165" y="4617689"/>
                  <a:ext cx="952376" cy="47618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1200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Search </a:t>
                  </a:r>
                </a:p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1200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algorithm</a:t>
                  </a: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CD9AF2E2-BE5D-2EC2-4320-3A4271174D65}"/>
                  </a:ext>
                </a:extLst>
              </p:cNvPr>
              <p:cNvGrpSpPr/>
              <p:nvPr/>
            </p:nvGrpSpPr>
            <p:grpSpPr>
              <a:xfrm>
                <a:off x="7693893" y="4034860"/>
                <a:ext cx="773317" cy="381910"/>
                <a:chOff x="7498472" y="1277142"/>
                <a:chExt cx="773317" cy="381910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BDB207CA-56BA-707E-80A3-264CB1A29E6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890839" y="1277142"/>
                  <a:ext cx="380950" cy="380433"/>
                  <a:chOff x="3293553" y="4938168"/>
                  <a:chExt cx="845421" cy="845419"/>
                </a:xfrm>
              </p:grpSpPr>
              <p:sp>
                <p:nvSpPr>
                  <p:cNvPr id="1038" name="Oval 1037">
                    <a:extLst>
                      <a:ext uri="{FF2B5EF4-FFF2-40B4-BE49-F238E27FC236}">
                        <a16:creationId xmlns:a16="http://schemas.microsoft.com/office/drawing/2014/main" id="{A573E5AB-B163-5F5A-4155-40C6BD27488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3293553" y="4938168"/>
                    <a:ext cx="845421" cy="8454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48" name="Graphic 1047" descr="Transfer with solid fill">
                    <a:extLst>
                      <a:ext uri="{FF2B5EF4-FFF2-40B4-BE49-F238E27FC236}">
                        <a16:creationId xmlns:a16="http://schemas.microsoft.com/office/drawing/2014/main" id="{49FE4555-7DC5-0CE4-5832-0DBC8196ED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5976" y="5157680"/>
                    <a:ext cx="457140" cy="4571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D4E680D9-0EB5-9880-D7E1-974432A562C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498472" y="1281450"/>
                  <a:ext cx="380292" cy="377602"/>
                  <a:chOff x="1429103" y="4084579"/>
                  <a:chExt cx="842519" cy="842520"/>
                </a:xfrm>
              </p:grpSpPr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447F4C1E-64F4-A947-26FA-8C5CA989DF0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1429103" y="4084579"/>
                    <a:ext cx="842519" cy="84252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30" name="Graphic 1029" descr="Route (Two Pins With A Path) with solid fill">
                    <a:extLst>
                      <a:ext uri="{FF2B5EF4-FFF2-40B4-BE49-F238E27FC236}">
                        <a16:creationId xmlns:a16="http://schemas.microsoft.com/office/drawing/2014/main" id="{729A4796-F0B0-535C-706D-9CA5492307B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06970" y="4288688"/>
                    <a:ext cx="457141" cy="457141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086" name="Group 1085">
                <a:extLst>
                  <a:ext uri="{FF2B5EF4-FFF2-40B4-BE49-F238E27FC236}">
                    <a16:creationId xmlns:a16="http://schemas.microsoft.com/office/drawing/2014/main" id="{8D547570-DC95-05C0-2E4D-EB04C8F1B0A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81855" y="3447878"/>
                <a:ext cx="561901" cy="563643"/>
                <a:chOff x="2706216" y="2534577"/>
                <a:chExt cx="939638" cy="1039482"/>
              </a:xfrm>
            </p:grpSpPr>
            <p:sp>
              <p:nvSpPr>
                <p:cNvPr id="1087" name="Oval 1086">
                  <a:extLst>
                    <a:ext uri="{FF2B5EF4-FFF2-40B4-BE49-F238E27FC236}">
                      <a16:creationId xmlns:a16="http://schemas.microsoft.com/office/drawing/2014/main" id="{6B45CF8A-12E1-91E3-5302-4C97FA6676F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706216" y="2534577"/>
                  <a:ext cx="939638" cy="1039482"/>
                </a:xfrm>
                <a:prstGeom prst="ellipse">
                  <a:avLst/>
                </a:prstGeom>
                <a:solidFill>
                  <a:srgbClr val="FFD6E8"/>
                </a:solidFill>
                <a:ln w="19050">
                  <a:solidFill>
                    <a:srgbClr val="EE539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88" name="Picture 1087">
                  <a:extLst>
                    <a:ext uri="{FF2B5EF4-FFF2-40B4-BE49-F238E27FC236}">
                      <a16:creationId xmlns:a16="http://schemas.microsoft.com/office/drawing/2014/main" id="{FB24C5A9-D30E-B050-C235-48DA6F86A1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03410" y="2809340"/>
                  <a:ext cx="620646" cy="62064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165" name="Group 1164">
            <a:extLst>
              <a:ext uri="{FF2B5EF4-FFF2-40B4-BE49-F238E27FC236}">
                <a16:creationId xmlns:a16="http://schemas.microsoft.com/office/drawing/2014/main" id="{64EE441D-5E3D-16EF-BF34-1896D4C93CBB}"/>
              </a:ext>
            </a:extLst>
          </p:cNvPr>
          <p:cNvGrpSpPr/>
          <p:nvPr/>
        </p:nvGrpSpPr>
        <p:grpSpPr>
          <a:xfrm>
            <a:off x="3859200" y="5307360"/>
            <a:ext cx="4642469" cy="1061695"/>
            <a:chOff x="3880220" y="4569348"/>
            <a:chExt cx="4642469" cy="1061695"/>
          </a:xfrm>
        </p:grpSpPr>
        <p:sp>
          <p:nvSpPr>
            <p:cNvPr id="1107" name="Rounded Rectangle 1106">
              <a:extLst>
                <a:ext uri="{FF2B5EF4-FFF2-40B4-BE49-F238E27FC236}">
                  <a16:creationId xmlns:a16="http://schemas.microsoft.com/office/drawing/2014/main" id="{D1997A08-FAD9-B7C7-3CC0-40A57D913852}"/>
                </a:ext>
              </a:extLst>
            </p:cNvPr>
            <p:cNvSpPr/>
            <p:nvPr/>
          </p:nvSpPr>
          <p:spPr>
            <a:xfrm>
              <a:off x="3880220" y="4569348"/>
              <a:ext cx="4642469" cy="1061695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C8264EF-16B7-8319-2070-6957D207F4ED}"/>
                </a:ext>
              </a:extLst>
            </p:cNvPr>
            <p:cNvGrpSpPr/>
            <p:nvPr/>
          </p:nvGrpSpPr>
          <p:grpSpPr>
            <a:xfrm>
              <a:off x="5200015" y="4784955"/>
              <a:ext cx="795114" cy="795114"/>
              <a:chOff x="8251677" y="1916963"/>
              <a:chExt cx="795114" cy="795114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38E873F-D3D5-31FB-288B-B1FEC79143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251677" y="1916963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4" name="Picture 8" descr="Coding ">
                <a:extLst>
                  <a:ext uri="{FF2B5EF4-FFF2-40B4-BE49-F238E27FC236}">
                    <a16:creationId xmlns:a16="http://schemas.microsoft.com/office/drawing/2014/main" id="{4EF6941B-0E4D-FF43-0FF0-9089574153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37821" y="2103044"/>
                <a:ext cx="406347" cy="4063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36AED36-83C7-4B6C-D4DF-FA9789CC6AE2}"/>
                </a:ext>
              </a:extLst>
            </p:cNvPr>
            <p:cNvSpPr txBox="1"/>
            <p:nvPr/>
          </p:nvSpPr>
          <p:spPr>
            <a:xfrm>
              <a:off x="3904758" y="4894218"/>
              <a:ext cx="1396461" cy="6943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Policy code</a:t>
              </a:r>
            </a:p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(domain-specific planner)</a:t>
              </a:r>
            </a:p>
          </p:txBody>
        </p: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B3FC890B-A18B-47F8-73A0-A09363701256}"/>
                </a:ext>
              </a:extLst>
            </p:cNvPr>
            <p:cNvCxnSpPr>
              <a:cxnSpLocks/>
              <a:endCxn id="12" idx="7"/>
            </p:cNvCxnSpPr>
            <p:nvPr/>
          </p:nvCxnSpPr>
          <p:spPr bwMode="auto">
            <a:xfrm flipH="1">
              <a:off x="5878687" y="4894881"/>
              <a:ext cx="2007858" cy="65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32DF34FF-C83A-1ADB-89B0-8B88003ACDDA}"/>
                </a:ext>
              </a:extLst>
            </p:cNvPr>
            <p:cNvSpPr txBox="1"/>
            <p:nvPr/>
          </p:nvSpPr>
          <p:spPr>
            <a:xfrm>
              <a:off x="6098536" y="4632618"/>
              <a:ext cx="1812229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policy generator</a:t>
              </a:r>
            </a:p>
          </p:txBody>
        </p:sp>
        <p:cxnSp>
          <p:nvCxnSpPr>
            <p:cNvPr id="1176" name="Straight Connector 1175">
              <a:extLst>
                <a:ext uri="{FF2B5EF4-FFF2-40B4-BE49-F238E27FC236}">
                  <a16:creationId xmlns:a16="http://schemas.microsoft.com/office/drawing/2014/main" id="{93B54E36-7447-6DAC-4EF0-7EA79A29311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934864" y="5364385"/>
              <a:ext cx="1773506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7D3915D-ACC2-AF94-DE4A-9FF330875A30}"/>
                </a:ext>
              </a:extLst>
            </p:cNvPr>
            <p:cNvGrpSpPr/>
            <p:nvPr/>
          </p:nvGrpSpPr>
          <p:grpSpPr>
            <a:xfrm>
              <a:off x="7717032" y="5221610"/>
              <a:ext cx="773317" cy="381910"/>
              <a:chOff x="7498472" y="1277142"/>
              <a:chExt cx="773317" cy="38191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92B44C52-3DEC-6767-3E44-5CD0B47BA42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BE985FE6-37AF-2469-0481-3D5A52DE0A0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38" name="Graphic 37" descr="Transfer with solid fill">
                  <a:extLst>
                    <a:ext uri="{FF2B5EF4-FFF2-40B4-BE49-F238E27FC236}">
                      <a16:creationId xmlns:a16="http://schemas.microsoft.com/office/drawing/2014/main" id="{9D56B62A-6C62-3F4C-219D-7B3C08CAF8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FC41205-35EA-B9A7-E27E-7BAA46A89F4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35FF78C3-D8DE-CE61-E646-B28FEE26FFB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8" name="Graphic 17" descr="Route (Two Pins With A Path) with solid fill">
                  <a:extLst>
                    <a:ext uri="{FF2B5EF4-FFF2-40B4-BE49-F238E27FC236}">
                      <a16:creationId xmlns:a16="http://schemas.microsoft.com/office/drawing/2014/main" id="{A88B4D22-6DE5-99CD-F535-E3286C3746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127" name="Group 1126">
              <a:extLst>
                <a:ext uri="{FF2B5EF4-FFF2-40B4-BE49-F238E27FC236}">
                  <a16:creationId xmlns:a16="http://schemas.microsoft.com/office/drawing/2014/main" id="{8A2D7F1D-C611-337E-952A-ECA3137B0A8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02582" y="4633098"/>
              <a:ext cx="561901" cy="563643"/>
              <a:chOff x="2706216" y="2534577"/>
              <a:chExt cx="939638" cy="1039482"/>
            </a:xfrm>
          </p:grpSpPr>
          <p:sp>
            <p:nvSpPr>
              <p:cNvPr id="1128" name="Oval 1127">
                <a:extLst>
                  <a:ext uri="{FF2B5EF4-FFF2-40B4-BE49-F238E27FC236}">
                    <a16:creationId xmlns:a16="http://schemas.microsoft.com/office/drawing/2014/main" id="{F70338E2-9817-E3D6-DF5E-345E59A38C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29" name="Picture 1128">
                <a:extLst>
                  <a:ext uri="{FF2B5EF4-FFF2-40B4-BE49-F238E27FC236}">
                    <a16:creationId xmlns:a16="http://schemas.microsoft.com/office/drawing/2014/main" id="{B24BD3C7-0B41-EDB9-5500-2E252D204B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1166" name="Group 1165">
            <a:extLst>
              <a:ext uri="{FF2B5EF4-FFF2-40B4-BE49-F238E27FC236}">
                <a16:creationId xmlns:a16="http://schemas.microsoft.com/office/drawing/2014/main" id="{8DC96854-225D-899C-455A-2CB87699D4FE}"/>
              </a:ext>
            </a:extLst>
          </p:cNvPr>
          <p:cNvGrpSpPr/>
          <p:nvPr/>
        </p:nvGrpSpPr>
        <p:grpSpPr>
          <a:xfrm>
            <a:off x="3846380" y="3130132"/>
            <a:ext cx="4654543" cy="1157440"/>
            <a:chOff x="3867400" y="5758053"/>
            <a:chExt cx="4654543" cy="1157440"/>
          </a:xfrm>
        </p:grpSpPr>
        <p:sp>
          <p:nvSpPr>
            <p:cNvPr id="1116" name="Rounded Rectangle 1115">
              <a:extLst>
                <a:ext uri="{FF2B5EF4-FFF2-40B4-BE49-F238E27FC236}">
                  <a16:creationId xmlns:a16="http://schemas.microsoft.com/office/drawing/2014/main" id="{D8365A1A-A983-1A62-DCAA-EF8A71BDDEE0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A4F93E-CFE7-A03C-CB93-868A4557B614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860E300-51D4-FDAB-6D10-205BAE59591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91BB6E9-37C9-DEDF-395A-0FB0321C679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2" name="TextBox 1091">
              <a:extLst>
                <a:ext uri="{FF2B5EF4-FFF2-40B4-BE49-F238E27FC236}">
                  <a16:creationId xmlns:a16="http://schemas.microsoft.com/office/drawing/2014/main" id="{5B29041A-C7B2-F304-AE0C-873121B201FF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1225" name="Straight Connector 1224">
              <a:extLst>
                <a:ext uri="{FF2B5EF4-FFF2-40B4-BE49-F238E27FC236}">
                  <a16:creationId xmlns:a16="http://schemas.microsoft.com/office/drawing/2014/main" id="{C475A0AF-59AB-12C4-6BBE-89029EE6E299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714023E-9082-5CF6-D902-6914286CCE85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AD2A3A54-87C3-24C0-13DC-FE56AFB463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59" name="Graphic 58">
                <a:extLst>
                  <a:ext uri="{FF2B5EF4-FFF2-40B4-BE49-F238E27FC236}">
                    <a16:creationId xmlns:a16="http://schemas.microsoft.com/office/drawing/2014/main" id="{FFCBFFC5-5299-9E5F-B4D9-46EC0C0F9B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0A199283-3F34-1815-F344-D223AEB174AB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40" name="Group 1039">
                <a:extLst>
                  <a:ext uri="{FF2B5EF4-FFF2-40B4-BE49-F238E27FC236}">
                    <a16:creationId xmlns:a16="http://schemas.microsoft.com/office/drawing/2014/main" id="{464A0364-FDF0-A73A-7288-BBF81641498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44" name="Oval 1043">
                  <a:extLst>
                    <a:ext uri="{FF2B5EF4-FFF2-40B4-BE49-F238E27FC236}">
                      <a16:creationId xmlns:a16="http://schemas.microsoft.com/office/drawing/2014/main" id="{34AE7220-A8B0-86FC-57F9-CB4123FCC0D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45" name="Graphic 1044" descr="Transfer with solid fill">
                  <a:extLst>
                    <a:ext uri="{FF2B5EF4-FFF2-40B4-BE49-F238E27FC236}">
                      <a16:creationId xmlns:a16="http://schemas.microsoft.com/office/drawing/2014/main" id="{0A5F8584-7570-E573-76D2-DE8778DF9D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1" name="Group 1040">
                <a:extLst>
                  <a:ext uri="{FF2B5EF4-FFF2-40B4-BE49-F238E27FC236}">
                    <a16:creationId xmlns:a16="http://schemas.microsoft.com/office/drawing/2014/main" id="{33A87103-F109-10A4-83F7-77EBD0EE605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42" name="Oval 1041">
                  <a:extLst>
                    <a:ext uri="{FF2B5EF4-FFF2-40B4-BE49-F238E27FC236}">
                      <a16:creationId xmlns:a16="http://schemas.microsoft.com/office/drawing/2014/main" id="{EF979C75-0DC1-179A-D3D3-C865251D6C3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43" name="Graphic 1042" descr="Route (Two Pins With A Path) with solid fill">
                  <a:extLst>
                    <a:ext uri="{FF2B5EF4-FFF2-40B4-BE49-F238E27FC236}">
                      <a16:creationId xmlns:a16="http://schemas.microsoft.com/office/drawing/2014/main" id="{B8B9CE6A-D36E-7B58-E787-02619EE00B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46" name="Group 1045">
              <a:extLst>
                <a:ext uri="{FF2B5EF4-FFF2-40B4-BE49-F238E27FC236}">
                  <a16:creationId xmlns:a16="http://schemas.microsoft.com/office/drawing/2014/main" id="{04E1FFC7-4B66-EBDA-D852-FCA529986CA6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5978B136-913A-45FC-E30D-79256A1DB920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33D9B91-6281-2B42-283E-849208F0522D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8" name="Graphic 57" descr="Magnifying glass with solid fill">
                  <a:extLst>
                    <a:ext uri="{FF2B5EF4-FFF2-40B4-BE49-F238E27FC236}">
                      <a16:creationId xmlns:a16="http://schemas.microsoft.com/office/drawing/2014/main" id="{4469E7DC-D08A-F803-C8D8-AFC61FC901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60" name="Picture 59">
                  <a:extLst>
                    <a:ext uri="{FF2B5EF4-FFF2-40B4-BE49-F238E27FC236}">
                      <a16:creationId xmlns:a16="http://schemas.microsoft.com/office/drawing/2014/main" id="{D5DA1B41-2F40-1606-EC6F-0D8EDE8061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6">
                  <a:extLst>
                    <a:ext uri="{BEBA8EAE-BF5A-486C-A8C5-ECC9F3942E4B}">
                      <a14:imgProps xmlns:a14="http://schemas.microsoft.com/office/drawing/2010/main">
                        <a14:imgLayer r:embed="rId17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6F699A6-68CF-CA49-E9F3-48AC2CBFF6F0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130" name="Group 1129">
              <a:extLst>
                <a:ext uri="{FF2B5EF4-FFF2-40B4-BE49-F238E27FC236}">
                  <a16:creationId xmlns:a16="http://schemas.microsoft.com/office/drawing/2014/main" id="{2BA8BCA6-99AC-00A5-0E36-B0E356307F7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131" name="Oval 1130">
                <a:extLst>
                  <a:ext uri="{FF2B5EF4-FFF2-40B4-BE49-F238E27FC236}">
                    <a16:creationId xmlns:a16="http://schemas.microsoft.com/office/drawing/2014/main" id="{1BE44FFD-BCF2-559F-D0EE-C2237A5C33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32" name="Picture 1131">
                <a:extLst>
                  <a:ext uri="{FF2B5EF4-FFF2-40B4-BE49-F238E27FC236}">
                    <a16:creationId xmlns:a16="http://schemas.microsoft.com/office/drawing/2014/main" id="{5AA2C4BA-1791-F7DD-3EF6-62F35136E0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F79947A-62B7-0DA6-420F-6583862BBFB3}"/>
              </a:ext>
            </a:extLst>
          </p:cNvPr>
          <p:cNvGrpSpPr/>
          <p:nvPr/>
        </p:nvGrpSpPr>
        <p:grpSpPr>
          <a:xfrm>
            <a:off x="181816" y="2931513"/>
            <a:ext cx="3121111" cy="1847333"/>
            <a:chOff x="181816" y="2931513"/>
            <a:chExt cx="3121111" cy="184733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A9A76FB-E293-A968-4DD3-0B7B8950876E}"/>
                </a:ext>
              </a:extLst>
            </p:cNvPr>
            <p:cNvSpPr txBox="1"/>
            <p:nvPr/>
          </p:nvSpPr>
          <p:spPr>
            <a:xfrm>
              <a:off x="197886" y="3521129"/>
              <a:ext cx="22896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Oswald et al, ICAPS 2024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ACC90C3-2183-82B3-1511-F522FB4F711E}"/>
                </a:ext>
              </a:extLst>
            </p:cNvPr>
            <p:cNvSpPr txBox="1"/>
            <p:nvPr/>
          </p:nvSpPr>
          <p:spPr>
            <a:xfrm>
              <a:off x="189999" y="2931513"/>
              <a:ext cx="24715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Guan et al, NeurIPS 2023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2585D4C-83DE-FD1B-DCD8-4035F73CE6C5}"/>
                </a:ext>
              </a:extLst>
            </p:cNvPr>
            <p:cNvSpPr txBox="1"/>
            <p:nvPr/>
          </p:nvSpPr>
          <p:spPr>
            <a:xfrm>
              <a:off x="202060" y="3247885"/>
              <a:ext cx="30248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err="1">
                  <a:solidFill>
                    <a:schemeClr val="accent1">
                      <a:lumMod val="75000"/>
                    </a:schemeClr>
                  </a:solidFill>
                </a:rPr>
                <a:t>Gestrin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 et al, HAXP@ICAPS 2024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37DD4AB-F28D-92FD-9A7D-F130D83012BF}"/>
                </a:ext>
              </a:extLst>
            </p:cNvPr>
            <p:cNvSpPr txBox="1"/>
            <p:nvPr/>
          </p:nvSpPr>
          <p:spPr>
            <a:xfrm>
              <a:off x="187833" y="3801861"/>
              <a:ext cx="21421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Huang et al, AAAI 2025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3CB6ED-BF74-23C2-8990-7A094BFA2624}"/>
                </a:ext>
              </a:extLst>
            </p:cNvPr>
            <p:cNvSpPr txBox="1"/>
            <p:nvPr/>
          </p:nvSpPr>
          <p:spPr>
            <a:xfrm>
              <a:off x="181816" y="4115486"/>
              <a:ext cx="31211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err="1">
                  <a:solidFill>
                    <a:schemeClr val="accent1">
                      <a:lumMod val="75000"/>
                    </a:schemeClr>
                  </a:solidFill>
                </a:rPr>
                <a:t>Tantakoun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 et al, ACL Findings 2025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EF7103A-BFD8-25B2-4F6F-F9C527AB645E}"/>
                </a:ext>
              </a:extLst>
            </p:cNvPr>
            <p:cNvSpPr txBox="1"/>
            <p:nvPr/>
          </p:nvSpPr>
          <p:spPr>
            <a:xfrm>
              <a:off x="189999" y="4440292"/>
              <a:ext cx="2709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Oswald et al, WM@ICLR 2026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E953C4-624E-E41D-216B-4B5087E1BB41}"/>
              </a:ext>
            </a:extLst>
          </p:cNvPr>
          <p:cNvGrpSpPr/>
          <p:nvPr/>
        </p:nvGrpSpPr>
        <p:grpSpPr>
          <a:xfrm>
            <a:off x="242801" y="5209255"/>
            <a:ext cx="3732270" cy="1266071"/>
            <a:chOff x="242801" y="5080048"/>
            <a:chExt cx="3732270" cy="126607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8052458-34FD-D151-6F27-0534EA6B81DC}"/>
                </a:ext>
              </a:extLst>
            </p:cNvPr>
            <p:cNvGrpSpPr/>
            <p:nvPr/>
          </p:nvGrpSpPr>
          <p:grpSpPr>
            <a:xfrm>
              <a:off x="242801" y="5080048"/>
              <a:ext cx="3731486" cy="950229"/>
              <a:chOff x="242801" y="4580572"/>
              <a:chExt cx="3731486" cy="950229"/>
            </a:xfrm>
          </p:grpSpPr>
          <p:sp>
            <p:nvSpPr>
              <p:cNvPr id="1255" name="TextBox 1254">
                <a:extLst>
                  <a:ext uri="{FF2B5EF4-FFF2-40B4-BE49-F238E27FC236}">
                    <a16:creationId xmlns:a16="http://schemas.microsoft.com/office/drawing/2014/main" id="{B02439FC-5052-0D55-AEDE-59B65C04BAFC}"/>
                  </a:ext>
                </a:extLst>
              </p:cNvPr>
              <p:cNvSpPr txBox="1"/>
              <p:nvPr/>
            </p:nvSpPr>
            <p:spPr>
              <a:xfrm>
                <a:off x="242801" y="4580572"/>
                <a:ext cx="20616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Silver et al, AAAI 2024</a:t>
                </a:r>
              </a:p>
            </p:txBody>
          </p:sp>
          <p:sp>
            <p:nvSpPr>
              <p:cNvPr id="1292" name="TextBox 1291">
                <a:extLst>
                  <a:ext uri="{FF2B5EF4-FFF2-40B4-BE49-F238E27FC236}">
                    <a16:creationId xmlns:a16="http://schemas.microsoft.com/office/drawing/2014/main" id="{E51A1702-0FB3-8024-C150-FF155F05F77A}"/>
                  </a:ext>
                </a:extLst>
              </p:cNvPr>
              <p:cNvSpPr txBox="1"/>
              <p:nvPr/>
            </p:nvSpPr>
            <p:spPr>
              <a:xfrm>
                <a:off x="242801" y="4871506"/>
                <a:ext cx="212429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Hodel, BSc Thesis 2024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DECD63-B7D1-2143-492E-E2E72BBE1C8D}"/>
                  </a:ext>
                </a:extLst>
              </p:cNvPr>
              <p:cNvSpPr txBox="1"/>
              <p:nvPr/>
            </p:nvSpPr>
            <p:spPr>
              <a:xfrm>
                <a:off x="244893" y="5192247"/>
                <a:ext cx="372939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Stein et al, ICAPS 2026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8E07339-C6BE-77A8-7D30-5B7FC75FBE2D}"/>
                </a:ext>
              </a:extLst>
            </p:cNvPr>
            <p:cNvSpPr txBox="1"/>
            <p:nvPr/>
          </p:nvSpPr>
          <p:spPr>
            <a:xfrm>
              <a:off x="245677" y="6007565"/>
              <a:ext cx="37293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Sohrabi et al, LM4Plan@ICAPS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283317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5FBF3-9AB7-6B0D-558B-BA1EE91BF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B7B711D-5FFC-A409-7128-5C48DB8F996F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DFCCDE02-866D-1D7D-3CDF-9250BD448535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80CD8025-192A-C6EA-D638-3732EDAD76A8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2EA8EE5-CD00-E9E5-E2AD-C119B7EF10EC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C215EB71-EA02-09C3-BBF0-FD8B9CAE25D9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00A419C4-DAA5-ED53-2832-3F75A83A12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D621D43D-57E6-5CE8-BBC8-384CD8F8FB28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75502788-5156-31A3-CB2E-AC2C2857C934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E3E59BB7-3BDF-05C9-FF64-9974E06583BD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49A015C7-707F-1BC4-E54D-B89075975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Search Components Generation</a:t>
            </a:r>
          </a:p>
        </p:txBody>
      </p:sp>
      <p:grpSp>
        <p:nvGrpSpPr>
          <p:cNvPr id="1170" name="Group 1169">
            <a:extLst>
              <a:ext uri="{FF2B5EF4-FFF2-40B4-BE49-F238E27FC236}">
                <a16:creationId xmlns:a16="http://schemas.microsoft.com/office/drawing/2014/main" id="{C6CD4312-E638-215A-19A3-BB39836EE61B}"/>
              </a:ext>
            </a:extLst>
          </p:cNvPr>
          <p:cNvGrpSpPr/>
          <p:nvPr/>
        </p:nvGrpSpPr>
        <p:grpSpPr>
          <a:xfrm>
            <a:off x="271259" y="1338607"/>
            <a:ext cx="2884979" cy="1143873"/>
            <a:chOff x="173285" y="1328097"/>
            <a:chExt cx="2884979" cy="1143873"/>
          </a:xfrm>
        </p:grpSpPr>
        <p:sp>
          <p:nvSpPr>
            <p:cNvPr id="1257" name="TextBox 1256">
              <a:extLst>
                <a:ext uri="{FF2B5EF4-FFF2-40B4-BE49-F238E27FC236}">
                  <a16:creationId xmlns:a16="http://schemas.microsoft.com/office/drawing/2014/main" id="{EBE06061-D41D-2490-8D65-93C4DE348222}"/>
                </a:ext>
              </a:extLst>
            </p:cNvPr>
            <p:cNvSpPr txBox="1"/>
            <p:nvPr/>
          </p:nvSpPr>
          <p:spPr>
            <a:xfrm>
              <a:off x="202060" y="1328097"/>
              <a:ext cx="22065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Katz et al, NeurIPS 2024</a:t>
              </a:r>
            </a:p>
          </p:txBody>
        </p:sp>
        <p:sp>
          <p:nvSpPr>
            <p:cNvPr id="1258" name="TextBox 1257">
              <a:extLst>
                <a:ext uri="{FF2B5EF4-FFF2-40B4-BE49-F238E27FC236}">
                  <a16:creationId xmlns:a16="http://schemas.microsoft.com/office/drawing/2014/main" id="{BDEE53C5-6857-9418-F3E4-2B6E557488D9}"/>
                </a:ext>
              </a:extLst>
            </p:cNvPr>
            <p:cNvSpPr txBox="1"/>
            <p:nvPr/>
          </p:nvSpPr>
          <p:spPr>
            <a:xfrm>
              <a:off x="173881" y="1585877"/>
              <a:ext cx="288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Cao et al, ICAPS 2026</a:t>
              </a:r>
            </a:p>
          </p:txBody>
        </p:sp>
        <p:sp>
          <p:nvSpPr>
            <p:cNvPr id="1260" name="TextBox 1259">
              <a:extLst>
                <a:ext uri="{FF2B5EF4-FFF2-40B4-BE49-F238E27FC236}">
                  <a16:creationId xmlns:a16="http://schemas.microsoft.com/office/drawing/2014/main" id="{8EDA45DF-2EC1-DA11-9998-B14E688D1E0B}"/>
                </a:ext>
              </a:extLst>
            </p:cNvPr>
            <p:cNvSpPr txBox="1"/>
            <p:nvPr/>
          </p:nvSpPr>
          <p:spPr>
            <a:xfrm>
              <a:off x="179323" y="2133416"/>
              <a:ext cx="24715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err="1">
                  <a:solidFill>
                    <a:schemeClr val="accent1">
                      <a:lumMod val="75000"/>
                    </a:schemeClr>
                  </a:solidFill>
                </a:rPr>
                <a:t>Tuisov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 et al, ICAPS 2026</a:t>
              </a:r>
            </a:p>
          </p:txBody>
        </p:sp>
        <p:sp>
          <p:nvSpPr>
            <p:cNvPr id="1261" name="TextBox 1260">
              <a:extLst>
                <a:ext uri="{FF2B5EF4-FFF2-40B4-BE49-F238E27FC236}">
                  <a16:creationId xmlns:a16="http://schemas.microsoft.com/office/drawing/2014/main" id="{799FE5A0-D68E-B21A-6247-907A6E87627D}"/>
                </a:ext>
              </a:extLst>
            </p:cNvPr>
            <p:cNvSpPr txBox="1"/>
            <p:nvPr/>
          </p:nvSpPr>
          <p:spPr>
            <a:xfrm>
              <a:off x="173285" y="1847043"/>
              <a:ext cx="24715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Correa et al, </a:t>
              </a:r>
              <a:r>
                <a:rPr lang="en-US" sz="1600" b="1" dirty="0" err="1">
                  <a:solidFill>
                    <a:schemeClr val="accent1">
                      <a:lumMod val="75000"/>
                    </a:schemeClr>
                  </a:solidFill>
                </a:rPr>
                <a:t>NeurIPS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 2025</a:t>
              </a:r>
            </a:p>
          </p:txBody>
        </p:sp>
      </p:grpSp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9CC0A09C-8B23-6FF2-BFB4-EEA912709764}"/>
              </a:ext>
            </a:extLst>
          </p:cNvPr>
          <p:cNvGrpSpPr/>
          <p:nvPr/>
        </p:nvGrpSpPr>
        <p:grpSpPr>
          <a:xfrm>
            <a:off x="8492047" y="1438294"/>
            <a:ext cx="1312854" cy="665341"/>
            <a:chOff x="8546179" y="5706967"/>
            <a:chExt cx="1312854" cy="665341"/>
          </a:xfrm>
        </p:grpSpPr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AA83441D-05FF-1263-93D0-B51C306778E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B8B514F1-683F-66F8-5020-6F33963C9FD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09" name="TextBox 1108">
              <a:extLst>
                <a:ext uri="{FF2B5EF4-FFF2-40B4-BE49-F238E27FC236}">
                  <a16:creationId xmlns:a16="http://schemas.microsoft.com/office/drawing/2014/main" id="{56B6ECD1-131A-E02E-CD2F-770D94DB7BF1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110" name="TextBox 1109">
              <a:extLst>
                <a:ext uri="{FF2B5EF4-FFF2-40B4-BE49-F238E27FC236}">
                  <a16:creationId xmlns:a16="http://schemas.microsoft.com/office/drawing/2014/main" id="{22F21475-4E7E-4B0B-C5F8-F582C7953712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164" name="Group 1163">
            <a:extLst>
              <a:ext uri="{FF2B5EF4-FFF2-40B4-BE49-F238E27FC236}">
                <a16:creationId xmlns:a16="http://schemas.microsoft.com/office/drawing/2014/main" id="{67D9AB7A-3F06-E3C1-A4CF-6E8B49FFA9C5}"/>
              </a:ext>
            </a:extLst>
          </p:cNvPr>
          <p:cNvGrpSpPr/>
          <p:nvPr/>
        </p:nvGrpSpPr>
        <p:grpSpPr>
          <a:xfrm>
            <a:off x="3878071" y="1381042"/>
            <a:ext cx="4612180" cy="1051916"/>
            <a:chOff x="3121502" y="4031327"/>
            <a:chExt cx="4612180" cy="1051916"/>
          </a:xfrm>
        </p:grpSpPr>
        <p:sp>
          <p:nvSpPr>
            <p:cNvPr id="1093" name="TextBox 1092">
              <a:extLst>
                <a:ext uri="{FF2B5EF4-FFF2-40B4-BE49-F238E27FC236}">
                  <a16:creationId xmlns:a16="http://schemas.microsoft.com/office/drawing/2014/main" id="{376993D2-AEB4-D8F0-9CAA-5C019D9883D8}"/>
                </a:ext>
              </a:extLst>
            </p:cNvPr>
            <p:cNvSpPr txBox="1"/>
            <p:nvPr/>
          </p:nvSpPr>
          <p:spPr>
            <a:xfrm>
              <a:off x="4698987" y="4064174"/>
              <a:ext cx="2471753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search components generator </a:t>
              </a:r>
            </a:p>
          </p:txBody>
        </p:sp>
        <p:grpSp>
          <p:nvGrpSpPr>
            <p:cNvPr id="1163" name="Group 1162">
              <a:extLst>
                <a:ext uri="{FF2B5EF4-FFF2-40B4-BE49-F238E27FC236}">
                  <a16:creationId xmlns:a16="http://schemas.microsoft.com/office/drawing/2014/main" id="{A6F4FD41-02A9-2387-8722-BD882C9D7DF8}"/>
                </a:ext>
              </a:extLst>
            </p:cNvPr>
            <p:cNvGrpSpPr/>
            <p:nvPr/>
          </p:nvGrpSpPr>
          <p:grpSpPr>
            <a:xfrm>
              <a:off x="3121502" y="4031327"/>
              <a:ext cx="4612180" cy="1051916"/>
              <a:chOff x="3880220" y="3400661"/>
              <a:chExt cx="4612180" cy="1051916"/>
            </a:xfrm>
          </p:grpSpPr>
          <p:sp>
            <p:nvSpPr>
              <p:cNvPr id="1120" name="Rounded Rectangle 1119">
                <a:extLst>
                  <a:ext uri="{FF2B5EF4-FFF2-40B4-BE49-F238E27FC236}">
                    <a16:creationId xmlns:a16="http://schemas.microsoft.com/office/drawing/2014/main" id="{0ADA389F-2E31-D672-8728-3664F66DF8E9}"/>
                  </a:ext>
                </a:extLst>
              </p:cNvPr>
              <p:cNvSpPr/>
              <p:nvPr/>
            </p:nvSpPr>
            <p:spPr>
              <a:xfrm>
                <a:off x="3880220" y="3400661"/>
                <a:ext cx="4612180" cy="1047824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642D22F-3D01-FBE4-3A4F-4C305F7E59B0}"/>
                  </a:ext>
                </a:extLst>
              </p:cNvPr>
              <p:cNvSpPr txBox="1"/>
              <p:nvPr/>
            </p:nvSpPr>
            <p:spPr>
              <a:xfrm>
                <a:off x="3975801" y="3541074"/>
                <a:ext cx="936739" cy="85734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Search components code (black box model)</a:t>
                </a:r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458AFE28-80D8-910A-982B-E54082B2B59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5672519" y="3710088"/>
                <a:ext cx="2214026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8" name="Straight Connector 1197">
                <a:extLst>
                  <a:ext uri="{FF2B5EF4-FFF2-40B4-BE49-F238E27FC236}">
                    <a16:creationId xmlns:a16="http://schemas.microsoft.com/office/drawing/2014/main" id="{144EB632-7CFF-8D6A-482B-DEBC2F1BA18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672519" y="4237389"/>
                <a:ext cx="29282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1" name="Straight Connector 1200">
                <a:extLst>
                  <a:ext uri="{FF2B5EF4-FFF2-40B4-BE49-F238E27FC236}">
                    <a16:creationId xmlns:a16="http://schemas.microsoft.com/office/drawing/2014/main" id="{E62874D2-CC09-A65C-A6C1-0461C70EE3B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091331" y="4237389"/>
                <a:ext cx="567403" cy="10786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79BAA2BF-C81B-AA70-BB21-B6374A1090C3}"/>
                  </a:ext>
                </a:extLst>
              </p:cNvPr>
              <p:cNvGrpSpPr/>
              <p:nvPr/>
            </p:nvGrpSpPr>
            <p:grpSpPr>
              <a:xfrm>
                <a:off x="4938489" y="3598455"/>
                <a:ext cx="795114" cy="795114"/>
                <a:chOff x="8251677" y="1916963"/>
                <a:chExt cx="795114" cy="795114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5F42EB0-504B-60BA-2AF5-B4907BFF4ED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251677" y="1916963"/>
                  <a:ext cx="795114" cy="795114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0" name="Picture 8" descr="Coding ">
                  <a:extLst>
                    <a:ext uri="{FF2B5EF4-FFF2-40B4-BE49-F238E27FC236}">
                      <a16:creationId xmlns:a16="http://schemas.microsoft.com/office/drawing/2014/main" id="{73FB3064-C888-0AB3-C6B1-3C44837B153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37821" y="2103044"/>
                  <a:ext cx="406347" cy="40634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047" name="Group 1046">
                <a:extLst>
                  <a:ext uri="{FF2B5EF4-FFF2-40B4-BE49-F238E27FC236}">
                    <a16:creationId xmlns:a16="http://schemas.microsoft.com/office/drawing/2014/main" id="{B5351FE1-FA3D-11B5-FEBE-819F339E2F6C}"/>
                  </a:ext>
                </a:extLst>
              </p:cNvPr>
              <p:cNvGrpSpPr/>
              <p:nvPr/>
            </p:nvGrpSpPr>
            <p:grpSpPr>
              <a:xfrm>
                <a:off x="5710995" y="3780991"/>
                <a:ext cx="1372661" cy="671586"/>
                <a:chOff x="5643165" y="4422291"/>
                <a:chExt cx="1082209" cy="671586"/>
              </a:xfrm>
            </p:grpSpPr>
            <p:grpSp>
              <p:nvGrpSpPr>
                <p:cNvPr id="1063" name="Group 1062">
                  <a:extLst>
                    <a:ext uri="{FF2B5EF4-FFF2-40B4-BE49-F238E27FC236}">
                      <a16:creationId xmlns:a16="http://schemas.microsoft.com/office/drawing/2014/main" id="{00E4ADB6-EB1A-3A93-3752-3F847F6C207E}"/>
                    </a:ext>
                  </a:extLst>
                </p:cNvPr>
                <p:cNvGrpSpPr/>
                <p:nvPr/>
              </p:nvGrpSpPr>
              <p:grpSpPr>
                <a:xfrm>
                  <a:off x="5857721" y="4422291"/>
                  <a:ext cx="867653" cy="620330"/>
                  <a:chOff x="9994816" y="1149802"/>
                  <a:chExt cx="867653" cy="620330"/>
                </a:xfrm>
              </p:grpSpPr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608771A7-F94E-E6BC-DF21-D8FF3DFBAA8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994816" y="1149802"/>
                    <a:ext cx="867653" cy="620330"/>
                  </a:xfrm>
                  <a:prstGeom prst="rect">
                    <a:avLst/>
                  </a:prstGeom>
                  <a:solidFill>
                    <a:srgbClr val="FFF1F1"/>
                  </a:solidFill>
                  <a:ln w="19050">
                    <a:solidFill>
                      <a:srgbClr val="FA4D5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57" name="Graphic 56" descr="Search Inventory with solid fill">
                    <a:extLst>
                      <a:ext uri="{FF2B5EF4-FFF2-40B4-BE49-F238E27FC236}">
                        <a16:creationId xmlns:a16="http://schemas.microsoft.com/office/drawing/2014/main" id="{0192B3F9-5F46-09AE-4399-D3616DA92A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449469" y="1155596"/>
                    <a:ext cx="377688" cy="45714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486D003-D9EE-7645-7E6B-511843C953DF}"/>
                    </a:ext>
                  </a:extLst>
                </p:cNvPr>
                <p:cNvSpPr txBox="1"/>
                <p:nvPr/>
              </p:nvSpPr>
              <p:spPr>
                <a:xfrm>
                  <a:off x="5643165" y="4617689"/>
                  <a:ext cx="952376" cy="47618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1200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Search </a:t>
                  </a:r>
                </a:p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1200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algorithm</a:t>
                  </a: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D000AE32-9681-69D2-5D07-F75C7F799697}"/>
                  </a:ext>
                </a:extLst>
              </p:cNvPr>
              <p:cNvGrpSpPr/>
              <p:nvPr/>
            </p:nvGrpSpPr>
            <p:grpSpPr>
              <a:xfrm>
                <a:off x="7693893" y="4034860"/>
                <a:ext cx="773317" cy="381910"/>
                <a:chOff x="7498472" y="1277142"/>
                <a:chExt cx="773317" cy="381910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AD8DEACF-3FE8-91C6-8F5B-3CF3B5FE3ED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890839" y="1277142"/>
                  <a:ext cx="380950" cy="380433"/>
                  <a:chOff x="3293553" y="4938168"/>
                  <a:chExt cx="845421" cy="845419"/>
                </a:xfrm>
              </p:grpSpPr>
              <p:sp>
                <p:nvSpPr>
                  <p:cNvPr id="1038" name="Oval 1037">
                    <a:extLst>
                      <a:ext uri="{FF2B5EF4-FFF2-40B4-BE49-F238E27FC236}">
                        <a16:creationId xmlns:a16="http://schemas.microsoft.com/office/drawing/2014/main" id="{649170EC-14FF-0424-3DE4-456C9A48ABA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3293553" y="4938168"/>
                    <a:ext cx="845421" cy="8454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48" name="Graphic 1047" descr="Transfer with solid fill">
                    <a:extLst>
                      <a:ext uri="{FF2B5EF4-FFF2-40B4-BE49-F238E27FC236}">
                        <a16:creationId xmlns:a16="http://schemas.microsoft.com/office/drawing/2014/main" id="{FA161496-1CC4-739E-242E-C188EE8376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5976" y="5157680"/>
                    <a:ext cx="457140" cy="4571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42A6B8D7-A81A-FD5B-0BD2-56DAAA569CC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498472" y="1281450"/>
                  <a:ext cx="380292" cy="377602"/>
                  <a:chOff x="1429103" y="4084579"/>
                  <a:chExt cx="842519" cy="842520"/>
                </a:xfrm>
              </p:grpSpPr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B5992E23-A875-576E-0E49-717B0C381B4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1429103" y="4084579"/>
                    <a:ext cx="842519" cy="84252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30" name="Graphic 1029" descr="Route (Two Pins With A Path) with solid fill">
                    <a:extLst>
                      <a:ext uri="{FF2B5EF4-FFF2-40B4-BE49-F238E27FC236}">
                        <a16:creationId xmlns:a16="http://schemas.microsoft.com/office/drawing/2014/main" id="{1D3EF137-3001-F858-7EA8-9CBE5AB526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06970" y="4288688"/>
                    <a:ext cx="457141" cy="457141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086" name="Group 1085">
                <a:extLst>
                  <a:ext uri="{FF2B5EF4-FFF2-40B4-BE49-F238E27FC236}">
                    <a16:creationId xmlns:a16="http://schemas.microsoft.com/office/drawing/2014/main" id="{CFA5D461-2410-86D0-2BB1-28056754A68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81855" y="3447878"/>
                <a:ext cx="561901" cy="563643"/>
                <a:chOff x="2706216" y="2534577"/>
                <a:chExt cx="939638" cy="1039482"/>
              </a:xfrm>
            </p:grpSpPr>
            <p:sp>
              <p:nvSpPr>
                <p:cNvPr id="1087" name="Oval 1086">
                  <a:extLst>
                    <a:ext uri="{FF2B5EF4-FFF2-40B4-BE49-F238E27FC236}">
                      <a16:creationId xmlns:a16="http://schemas.microsoft.com/office/drawing/2014/main" id="{19F256B6-562D-6FB8-63C7-89E68924E40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706216" y="2534577"/>
                  <a:ext cx="939638" cy="1039482"/>
                </a:xfrm>
                <a:prstGeom prst="ellipse">
                  <a:avLst/>
                </a:prstGeom>
                <a:solidFill>
                  <a:srgbClr val="FFD6E8"/>
                </a:solidFill>
                <a:ln w="19050">
                  <a:solidFill>
                    <a:srgbClr val="EE539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88" name="Picture 1087">
                  <a:extLst>
                    <a:ext uri="{FF2B5EF4-FFF2-40B4-BE49-F238E27FC236}">
                      <a16:creationId xmlns:a16="http://schemas.microsoft.com/office/drawing/2014/main" id="{B73D7B18-EAB2-C0E2-3E8B-B391A0FE6B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03410" y="2809340"/>
                  <a:ext cx="620646" cy="620646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F77938A-27C3-8EF7-7A2F-7A89BE3EA976}"/>
              </a:ext>
            </a:extLst>
          </p:cNvPr>
          <p:cNvSpPr txBox="1"/>
          <p:nvPr/>
        </p:nvSpPr>
        <p:spPr>
          <a:xfrm>
            <a:off x="416853" y="3441738"/>
            <a:ext cx="876498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State representation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State features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Find the right level of abstraction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Partial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Hidden knowledge (initial state, goal)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Information gathering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Linear implementation workflow – no exploration / backtracking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Validation required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DD40AB-B500-7ED6-263C-FEE5014547DF}"/>
              </a:ext>
            </a:extLst>
          </p:cNvPr>
          <p:cNvSpPr txBox="1"/>
          <p:nvPr/>
        </p:nvSpPr>
        <p:spPr>
          <a:xfrm>
            <a:off x="202060" y="2948358"/>
            <a:ext cx="27344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Open challenges:</a:t>
            </a:r>
          </a:p>
        </p:txBody>
      </p:sp>
    </p:spTree>
    <p:extLst>
      <p:ext uri="{BB962C8B-B14F-4D97-AF65-F5344CB8AC3E}">
        <p14:creationId xmlns:p14="http://schemas.microsoft.com/office/powerpoint/2010/main" val="279351261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A577F-51FB-D5A1-2A2D-6006F2484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B3CF418F-4928-B349-E39D-E01E84F40FE4}"/>
              </a:ext>
            </a:extLst>
          </p:cNvPr>
          <p:cNvSpPr txBox="1"/>
          <p:nvPr/>
        </p:nvSpPr>
        <p:spPr>
          <a:xfrm>
            <a:off x="7737984" y="1339511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4584FC20-1CB3-6DAD-5E20-F6F90C13A0D4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16845AC1-13B2-972E-2087-A5F2A633155B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ABA5885-E634-1F1F-3ED0-05E42A842409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0A21A04-E739-5698-9C3E-95FB7A81D8E2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F5B76B1F-5B3D-2101-841B-47C6D187C8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7C0D94E5-EAEB-2E9E-6859-D7CC097C4E85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7A0A5B08-9B8A-48AD-B27E-6BB6381CE48D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C9094250-15F5-A3E4-08BE-8D1BBF18B1B1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2F2C61C8-1136-F8F5-4F81-2174C83DD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</a:t>
            </a:r>
          </a:p>
        </p:txBody>
      </p:sp>
      <p:grpSp>
        <p:nvGrpSpPr>
          <p:cNvPr id="1166" name="Group 1165">
            <a:extLst>
              <a:ext uri="{FF2B5EF4-FFF2-40B4-BE49-F238E27FC236}">
                <a16:creationId xmlns:a16="http://schemas.microsoft.com/office/drawing/2014/main" id="{A8A1F4D9-465F-BC95-1A5B-D4BA1200668D}"/>
              </a:ext>
            </a:extLst>
          </p:cNvPr>
          <p:cNvGrpSpPr/>
          <p:nvPr/>
        </p:nvGrpSpPr>
        <p:grpSpPr>
          <a:xfrm>
            <a:off x="3846380" y="1380744"/>
            <a:ext cx="4654543" cy="1157440"/>
            <a:chOff x="3867400" y="5758053"/>
            <a:chExt cx="4654543" cy="1157440"/>
          </a:xfrm>
        </p:grpSpPr>
        <p:sp>
          <p:nvSpPr>
            <p:cNvPr id="1116" name="Rounded Rectangle 1115">
              <a:extLst>
                <a:ext uri="{FF2B5EF4-FFF2-40B4-BE49-F238E27FC236}">
                  <a16:creationId xmlns:a16="http://schemas.microsoft.com/office/drawing/2014/main" id="{4EFF051D-F2B4-C852-2CB6-02C3C1912DD2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A74AC10-CB5F-4399-EB54-4F6BC1D148FC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C648EF5-32A5-3688-E8CD-422A124455F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AFE5EC7-8C7A-71C1-7EB2-8A5B905CC0F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2" name="TextBox 1091">
              <a:extLst>
                <a:ext uri="{FF2B5EF4-FFF2-40B4-BE49-F238E27FC236}">
                  <a16:creationId xmlns:a16="http://schemas.microsoft.com/office/drawing/2014/main" id="{7719B4A9-D123-E662-CB57-A12BCD51895F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1225" name="Straight Connector 1224">
              <a:extLst>
                <a:ext uri="{FF2B5EF4-FFF2-40B4-BE49-F238E27FC236}">
                  <a16:creationId xmlns:a16="http://schemas.microsoft.com/office/drawing/2014/main" id="{2C5DA7B8-3E4B-1AA9-ADB2-3914721797CA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AB1CB0C-53AB-D175-713A-32517B20FA74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D61C2CD-F4E7-8839-0427-73B4522C2F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59" name="Graphic 58">
                <a:extLst>
                  <a:ext uri="{FF2B5EF4-FFF2-40B4-BE49-F238E27FC236}">
                    <a16:creationId xmlns:a16="http://schemas.microsoft.com/office/drawing/2014/main" id="{23B6ED5A-EC32-19D1-44ED-2822105D65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9B49A7D7-2DCB-5EA7-BC8F-05CF57AD5D51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40" name="Group 1039">
                <a:extLst>
                  <a:ext uri="{FF2B5EF4-FFF2-40B4-BE49-F238E27FC236}">
                    <a16:creationId xmlns:a16="http://schemas.microsoft.com/office/drawing/2014/main" id="{6973A620-8434-43F3-6277-181DBC8AF6D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44" name="Oval 1043">
                  <a:extLst>
                    <a:ext uri="{FF2B5EF4-FFF2-40B4-BE49-F238E27FC236}">
                      <a16:creationId xmlns:a16="http://schemas.microsoft.com/office/drawing/2014/main" id="{CFDFFC9F-40E4-0F4F-E70A-AD1F17543AE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45" name="Graphic 1044" descr="Transfer with solid fill">
                  <a:extLst>
                    <a:ext uri="{FF2B5EF4-FFF2-40B4-BE49-F238E27FC236}">
                      <a16:creationId xmlns:a16="http://schemas.microsoft.com/office/drawing/2014/main" id="{2C59DA05-C546-9050-5316-23C1976DA7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1" name="Group 1040">
                <a:extLst>
                  <a:ext uri="{FF2B5EF4-FFF2-40B4-BE49-F238E27FC236}">
                    <a16:creationId xmlns:a16="http://schemas.microsoft.com/office/drawing/2014/main" id="{A76E5962-3EC8-A908-68F5-68F57987B76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42" name="Oval 1041">
                  <a:extLst>
                    <a:ext uri="{FF2B5EF4-FFF2-40B4-BE49-F238E27FC236}">
                      <a16:creationId xmlns:a16="http://schemas.microsoft.com/office/drawing/2014/main" id="{5472FA49-F11D-8A20-FFD5-985D0C444F7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43" name="Graphic 1042" descr="Route (Two Pins With A Path) with solid fill">
                  <a:extLst>
                    <a:ext uri="{FF2B5EF4-FFF2-40B4-BE49-F238E27FC236}">
                      <a16:creationId xmlns:a16="http://schemas.microsoft.com/office/drawing/2014/main" id="{8F687412-A829-0459-06A5-B3845E4A48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46" name="Group 1045">
              <a:extLst>
                <a:ext uri="{FF2B5EF4-FFF2-40B4-BE49-F238E27FC236}">
                  <a16:creationId xmlns:a16="http://schemas.microsoft.com/office/drawing/2014/main" id="{3BA09885-4C79-B29F-DFC5-943851568C36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7A7C945E-1065-32B3-22E9-03713D66BA9A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C83819E-B4EB-4C55-3885-4989493A8ADD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8" name="Graphic 57" descr="Magnifying glass with solid fill">
                  <a:extLst>
                    <a:ext uri="{FF2B5EF4-FFF2-40B4-BE49-F238E27FC236}">
                      <a16:creationId xmlns:a16="http://schemas.microsoft.com/office/drawing/2014/main" id="{0A558CF5-57AB-0566-5074-75475C9A5C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60" name="Picture 59">
                  <a:extLst>
                    <a:ext uri="{FF2B5EF4-FFF2-40B4-BE49-F238E27FC236}">
                      <a16:creationId xmlns:a16="http://schemas.microsoft.com/office/drawing/2014/main" id="{FF635264-CF4C-B549-4537-A62D6FA348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2">
                  <a:extLst>
                    <a:ext uri="{BEBA8EAE-BF5A-486C-A8C5-ECC9F3942E4B}">
                      <a14:imgProps xmlns:a14="http://schemas.microsoft.com/office/drawing/2010/main">
                        <a14:imgLayer r:embed="rId13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38D673F-D8D7-7F93-A724-053C1784AE62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130" name="Group 1129">
              <a:extLst>
                <a:ext uri="{FF2B5EF4-FFF2-40B4-BE49-F238E27FC236}">
                  <a16:creationId xmlns:a16="http://schemas.microsoft.com/office/drawing/2014/main" id="{7B39C8DD-4978-4C8B-E09B-6213A3238C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131" name="Oval 1130">
                <a:extLst>
                  <a:ext uri="{FF2B5EF4-FFF2-40B4-BE49-F238E27FC236}">
                    <a16:creationId xmlns:a16="http://schemas.microsoft.com/office/drawing/2014/main" id="{1B363D58-9D8A-EE15-2F47-A92810EC9F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32" name="Picture 1131">
                <a:extLst>
                  <a:ext uri="{FF2B5EF4-FFF2-40B4-BE49-F238E27FC236}">
                    <a16:creationId xmlns:a16="http://schemas.microsoft.com/office/drawing/2014/main" id="{BDC2D593-B929-2BA1-780B-7BDCC314B0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986DDC6-65E9-781E-4004-9186F686550B}"/>
              </a:ext>
            </a:extLst>
          </p:cNvPr>
          <p:cNvGrpSpPr/>
          <p:nvPr/>
        </p:nvGrpSpPr>
        <p:grpSpPr>
          <a:xfrm>
            <a:off x="296785" y="1285758"/>
            <a:ext cx="3136146" cy="1307726"/>
            <a:chOff x="79069" y="1035385"/>
            <a:chExt cx="3136146" cy="130772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4752F0E-D395-21E7-E35E-EE9DD5E6CCB9}"/>
                </a:ext>
              </a:extLst>
            </p:cNvPr>
            <p:cNvSpPr txBox="1"/>
            <p:nvPr/>
          </p:nvSpPr>
          <p:spPr>
            <a:xfrm>
              <a:off x="80340" y="1424437"/>
              <a:ext cx="22896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Oswald et al, ICAPS 2024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5079D7D-492B-0EB9-1C74-B418C3EFB04C}"/>
                </a:ext>
              </a:extLst>
            </p:cNvPr>
            <p:cNvSpPr txBox="1"/>
            <p:nvPr/>
          </p:nvSpPr>
          <p:spPr>
            <a:xfrm>
              <a:off x="92152" y="1035385"/>
              <a:ext cx="24715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Guan et al, NeurIPS 2023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2646E20-CCDD-ACE1-5468-3F70CA897C61}"/>
                </a:ext>
              </a:extLst>
            </p:cNvPr>
            <p:cNvSpPr txBox="1"/>
            <p:nvPr/>
          </p:nvSpPr>
          <p:spPr>
            <a:xfrm>
              <a:off x="79069" y="1219739"/>
              <a:ext cx="30248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err="1">
                  <a:solidFill>
                    <a:schemeClr val="accent1">
                      <a:lumMod val="75000"/>
                    </a:schemeClr>
                  </a:solidFill>
                </a:rPr>
                <a:t>Gestrin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 et al, HAXP@ICAPS 2024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F8149D9-8A23-26A6-D2FF-F7FDFB9383AF}"/>
                </a:ext>
              </a:extLst>
            </p:cNvPr>
            <p:cNvSpPr txBox="1"/>
            <p:nvPr/>
          </p:nvSpPr>
          <p:spPr>
            <a:xfrm>
              <a:off x="87419" y="1616911"/>
              <a:ext cx="21421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Huang et al, AAAI 2025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B50DF50-B6B5-EA04-C17B-65188DAD8722}"/>
                </a:ext>
              </a:extLst>
            </p:cNvPr>
            <p:cNvSpPr txBox="1"/>
            <p:nvPr/>
          </p:nvSpPr>
          <p:spPr>
            <a:xfrm>
              <a:off x="94104" y="1818142"/>
              <a:ext cx="31211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err="1">
                  <a:solidFill>
                    <a:schemeClr val="accent1">
                      <a:lumMod val="75000"/>
                    </a:schemeClr>
                  </a:solidFill>
                </a:rPr>
                <a:t>Tantakoun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 et al, ACL Findings 2025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DD9B7E-C21F-1665-A443-28F9585D5100}"/>
                </a:ext>
              </a:extLst>
            </p:cNvPr>
            <p:cNvSpPr txBox="1"/>
            <p:nvPr/>
          </p:nvSpPr>
          <p:spPr>
            <a:xfrm>
              <a:off x="82020" y="2004557"/>
              <a:ext cx="2709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Oswald et al, WM@ICLR 2026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AE448F5-1CBC-53F4-5ACC-4DFD35F6AA76}"/>
              </a:ext>
            </a:extLst>
          </p:cNvPr>
          <p:cNvSpPr txBox="1"/>
          <p:nvPr/>
        </p:nvSpPr>
        <p:spPr>
          <a:xfrm>
            <a:off x="416853" y="3441738"/>
            <a:ext cx="876498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Same as before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Interplay between planning and execution while constructing the planning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Non-standard features – object creation, conditional plans, loops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Procedural glue code – pagination, data </a:t>
            </a:r>
            <a:r>
              <a:rPr lang="en-US" sz="2400" dirty="0" err="1"/>
              <a:t>tranformation</a:t>
            </a:r>
            <a:r>
              <a:rPr lang="en-US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PDDL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Search in the PDDL modification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Richer feedback mechanisms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Validation required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F2D2D6-208D-8865-17E3-CC0BA212CE20}"/>
              </a:ext>
            </a:extLst>
          </p:cNvPr>
          <p:cNvSpPr txBox="1"/>
          <p:nvPr/>
        </p:nvSpPr>
        <p:spPr>
          <a:xfrm>
            <a:off x="202060" y="2948358"/>
            <a:ext cx="27344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Open challenges: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5F5F8B7-5C32-6866-90FD-90A0961B41B2}"/>
              </a:ext>
            </a:extLst>
          </p:cNvPr>
          <p:cNvGrpSpPr/>
          <p:nvPr/>
        </p:nvGrpSpPr>
        <p:grpSpPr>
          <a:xfrm>
            <a:off x="8492047" y="1438294"/>
            <a:ext cx="1312854" cy="665341"/>
            <a:chOff x="8546179" y="5706967"/>
            <a:chExt cx="1312854" cy="66534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D242A11-73AA-7BE1-EF15-82516035D39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7A84C9C-62F7-AC96-8D4E-07AD314DBAC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62F49D9-04EC-2587-1BC4-803A5CEA40AC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89A1ADD-5A7F-8F6A-58C3-4D44C4B4C7F4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59168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006CA-A85F-00DD-2297-662D81061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FA04BD97-57AE-6DAE-C303-F2ED6C01965B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AB6C1F90-1089-DFA8-2797-8B39C9F0CD97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E608134-661D-458F-7F31-AF2019DF7371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C1B237A-B17D-E7FC-224F-0FA19AAC4064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081D0ABA-701F-065D-560B-65E2B3944C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C4C668BA-3A3C-213D-D2CC-30E01E921B77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10140890-4B6C-2DD4-9897-952D994DB7B5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97E26916-7908-198D-DA29-9C1F2A75E652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159672F5-AC36-BD4F-A1B0-ADD40771B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</a:t>
            </a:r>
          </a:p>
        </p:txBody>
      </p:sp>
      <p:grpSp>
        <p:nvGrpSpPr>
          <p:cNvPr id="1165" name="Group 1164">
            <a:extLst>
              <a:ext uri="{FF2B5EF4-FFF2-40B4-BE49-F238E27FC236}">
                <a16:creationId xmlns:a16="http://schemas.microsoft.com/office/drawing/2014/main" id="{9736F2C6-2971-B15E-DAC2-A980BE6BF486}"/>
              </a:ext>
            </a:extLst>
          </p:cNvPr>
          <p:cNvGrpSpPr/>
          <p:nvPr/>
        </p:nvGrpSpPr>
        <p:grpSpPr>
          <a:xfrm>
            <a:off x="3859200" y="1380744"/>
            <a:ext cx="4642469" cy="1061695"/>
            <a:chOff x="3880220" y="4569348"/>
            <a:chExt cx="4642469" cy="1061695"/>
          </a:xfrm>
        </p:grpSpPr>
        <p:sp>
          <p:nvSpPr>
            <p:cNvPr id="1107" name="Rounded Rectangle 1106">
              <a:extLst>
                <a:ext uri="{FF2B5EF4-FFF2-40B4-BE49-F238E27FC236}">
                  <a16:creationId xmlns:a16="http://schemas.microsoft.com/office/drawing/2014/main" id="{A181DA8F-3110-A14C-1F75-DE6E868308FA}"/>
                </a:ext>
              </a:extLst>
            </p:cNvPr>
            <p:cNvSpPr/>
            <p:nvPr/>
          </p:nvSpPr>
          <p:spPr>
            <a:xfrm>
              <a:off x="3880220" y="4569348"/>
              <a:ext cx="4642469" cy="1061695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7B07B7D-13FD-2F28-4449-2CE51EAC1D9F}"/>
                </a:ext>
              </a:extLst>
            </p:cNvPr>
            <p:cNvGrpSpPr/>
            <p:nvPr/>
          </p:nvGrpSpPr>
          <p:grpSpPr>
            <a:xfrm>
              <a:off x="5200015" y="4784955"/>
              <a:ext cx="795114" cy="795114"/>
              <a:chOff x="8251677" y="1916963"/>
              <a:chExt cx="795114" cy="795114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63C1206-D95B-92DF-E8FE-66664F79B3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251677" y="1916963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4" name="Picture 8" descr="Coding ">
                <a:extLst>
                  <a:ext uri="{FF2B5EF4-FFF2-40B4-BE49-F238E27FC236}">
                    <a16:creationId xmlns:a16="http://schemas.microsoft.com/office/drawing/2014/main" id="{E29B7A0A-32F1-FAF1-8080-64DEFB34BC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37821" y="2103044"/>
                <a:ext cx="406347" cy="4063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E423D6C-D4F4-1884-D55F-723EB269FCDA}"/>
                </a:ext>
              </a:extLst>
            </p:cNvPr>
            <p:cNvSpPr txBox="1"/>
            <p:nvPr/>
          </p:nvSpPr>
          <p:spPr>
            <a:xfrm>
              <a:off x="3904758" y="4894218"/>
              <a:ext cx="1396461" cy="6943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Policy code</a:t>
              </a:r>
            </a:p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(domain-specific planner)</a:t>
              </a:r>
            </a:p>
          </p:txBody>
        </p: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D4EBA0B4-4DEE-5139-8FAD-D313A05AA2E7}"/>
                </a:ext>
              </a:extLst>
            </p:cNvPr>
            <p:cNvCxnSpPr>
              <a:cxnSpLocks/>
              <a:endCxn id="12" idx="7"/>
            </p:cNvCxnSpPr>
            <p:nvPr/>
          </p:nvCxnSpPr>
          <p:spPr bwMode="auto">
            <a:xfrm flipH="1">
              <a:off x="5878687" y="4894881"/>
              <a:ext cx="2007858" cy="65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28D2D4E1-7721-BF56-6B52-E32033625E88}"/>
                </a:ext>
              </a:extLst>
            </p:cNvPr>
            <p:cNvSpPr txBox="1"/>
            <p:nvPr/>
          </p:nvSpPr>
          <p:spPr>
            <a:xfrm>
              <a:off x="6098536" y="4632618"/>
              <a:ext cx="1812229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policy generator</a:t>
              </a:r>
            </a:p>
          </p:txBody>
        </p:sp>
        <p:cxnSp>
          <p:nvCxnSpPr>
            <p:cNvPr id="1176" name="Straight Connector 1175">
              <a:extLst>
                <a:ext uri="{FF2B5EF4-FFF2-40B4-BE49-F238E27FC236}">
                  <a16:creationId xmlns:a16="http://schemas.microsoft.com/office/drawing/2014/main" id="{C412AF42-EBB0-F8A3-304B-03A74BF5B12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934864" y="5364385"/>
              <a:ext cx="1773506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D459DD1-417C-2ECD-953D-885A98B82036}"/>
                </a:ext>
              </a:extLst>
            </p:cNvPr>
            <p:cNvGrpSpPr/>
            <p:nvPr/>
          </p:nvGrpSpPr>
          <p:grpSpPr>
            <a:xfrm>
              <a:off x="7717032" y="5221610"/>
              <a:ext cx="773317" cy="381910"/>
              <a:chOff x="7498472" y="1277142"/>
              <a:chExt cx="773317" cy="38191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E7536DC-2A89-C275-BBB7-769FF3665E6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7988C2AB-8BA4-0AA1-E68B-2B5157B7237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38" name="Graphic 37" descr="Transfer with solid fill">
                  <a:extLst>
                    <a:ext uri="{FF2B5EF4-FFF2-40B4-BE49-F238E27FC236}">
                      <a16:creationId xmlns:a16="http://schemas.microsoft.com/office/drawing/2014/main" id="{88253026-0F23-F912-D04F-8ADC8BDD44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82D26F3-EF5B-BCEB-3E14-00E2A138AB3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6C42EBFF-D2A1-ACBA-4C86-E55409FDF53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8" name="Graphic 17" descr="Route (Two Pins With A Path) with solid fill">
                  <a:extLst>
                    <a:ext uri="{FF2B5EF4-FFF2-40B4-BE49-F238E27FC236}">
                      <a16:creationId xmlns:a16="http://schemas.microsoft.com/office/drawing/2014/main" id="{228D2EA6-65A7-70BD-72F0-99881E49DF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127" name="Group 1126">
              <a:extLst>
                <a:ext uri="{FF2B5EF4-FFF2-40B4-BE49-F238E27FC236}">
                  <a16:creationId xmlns:a16="http://schemas.microsoft.com/office/drawing/2014/main" id="{DB3B5DB5-711C-9F12-EA20-D1666B76C90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02582" y="4633098"/>
              <a:ext cx="561901" cy="563643"/>
              <a:chOff x="2706216" y="2534577"/>
              <a:chExt cx="939638" cy="1039482"/>
            </a:xfrm>
          </p:grpSpPr>
          <p:sp>
            <p:nvSpPr>
              <p:cNvPr id="1128" name="Oval 1127">
                <a:extLst>
                  <a:ext uri="{FF2B5EF4-FFF2-40B4-BE49-F238E27FC236}">
                    <a16:creationId xmlns:a16="http://schemas.microsoft.com/office/drawing/2014/main" id="{C711AB29-5E82-E912-C0F6-68102C9342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29" name="Picture 1128">
                <a:extLst>
                  <a:ext uri="{FF2B5EF4-FFF2-40B4-BE49-F238E27FC236}">
                    <a16:creationId xmlns:a16="http://schemas.microsoft.com/office/drawing/2014/main" id="{1029DBC4-90C6-E3C2-A1DD-12DD5FAF23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4D61645-0385-B4D3-4D9C-95A91CE6F3C3}"/>
              </a:ext>
            </a:extLst>
          </p:cNvPr>
          <p:cNvGrpSpPr/>
          <p:nvPr/>
        </p:nvGrpSpPr>
        <p:grpSpPr>
          <a:xfrm>
            <a:off x="314633" y="1370989"/>
            <a:ext cx="3732270" cy="1266071"/>
            <a:chOff x="242801" y="5080048"/>
            <a:chExt cx="3732270" cy="126607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8815F70-5517-B2DC-A207-09D4C0AD3696}"/>
                </a:ext>
              </a:extLst>
            </p:cNvPr>
            <p:cNvGrpSpPr/>
            <p:nvPr/>
          </p:nvGrpSpPr>
          <p:grpSpPr>
            <a:xfrm>
              <a:off x="242801" y="5080048"/>
              <a:ext cx="3731486" cy="950229"/>
              <a:chOff x="242801" y="4580572"/>
              <a:chExt cx="3731486" cy="95022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138424-70A5-3F5D-1B3A-3533743A4BE0}"/>
                  </a:ext>
                </a:extLst>
              </p:cNvPr>
              <p:cNvSpPr txBox="1"/>
              <p:nvPr/>
            </p:nvSpPr>
            <p:spPr>
              <a:xfrm>
                <a:off x="242801" y="4580572"/>
                <a:ext cx="20616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Silver et al, AAAI 2024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6BF8E6-1F98-0524-0C57-633628FAADA9}"/>
                  </a:ext>
                </a:extLst>
              </p:cNvPr>
              <p:cNvSpPr txBox="1"/>
              <p:nvPr/>
            </p:nvSpPr>
            <p:spPr>
              <a:xfrm>
                <a:off x="242801" y="4871506"/>
                <a:ext cx="212429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Hodel, BSc Thesis 2024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7918014-899E-70E2-9E23-81E381FB9619}"/>
                  </a:ext>
                </a:extLst>
              </p:cNvPr>
              <p:cNvSpPr txBox="1"/>
              <p:nvPr/>
            </p:nvSpPr>
            <p:spPr>
              <a:xfrm>
                <a:off x="244893" y="5192247"/>
                <a:ext cx="372939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Stein et al, ICAPS 2026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A3C661F-BCD9-CADB-8551-D70F1C9CD539}"/>
                </a:ext>
              </a:extLst>
            </p:cNvPr>
            <p:cNvSpPr txBox="1"/>
            <p:nvPr/>
          </p:nvSpPr>
          <p:spPr>
            <a:xfrm>
              <a:off x="245677" y="6007565"/>
              <a:ext cx="37293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Sohrabi et al, LM4Plan@ICAPS 2026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D740B10-B36C-9083-D4CF-595B89074148}"/>
              </a:ext>
            </a:extLst>
          </p:cNvPr>
          <p:cNvSpPr txBox="1"/>
          <p:nvPr/>
        </p:nvSpPr>
        <p:spPr>
          <a:xfrm>
            <a:off x="416854" y="3441738"/>
            <a:ext cx="93090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Conceptual 2-step approach: producing algorithm and implementing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Revisit the first step if evidence of error obtained in the second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Linear implementation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Validation required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FA8E5C-5571-9272-F09D-CE0CFB8135C7}"/>
              </a:ext>
            </a:extLst>
          </p:cNvPr>
          <p:cNvSpPr txBox="1"/>
          <p:nvPr/>
        </p:nvSpPr>
        <p:spPr>
          <a:xfrm>
            <a:off x="202060" y="2948358"/>
            <a:ext cx="27344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Open challenges: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BBD0C8D-1C73-A8E7-5EC3-CA478C2BFD4C}"/>
              </a:ext>
            </a:extLst>
          </p:cNvPr>
          <p:cNvGrpSpPr/>
          <p:nvPr/>
        </p:nvGrpSpPr>
        <p:grpSpPr>
          <a:xfrm>
            <a:off x="8492047" y="1438294"/>
            <a:ext cx="1312854" cy="665341"/>
            <a:chOff x="8546179" y="5706967"/>
            <a:chExt cx="1312854" cy="66534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C46757-EAF3-EBBD-4172-76AE876D315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429588E-ABF4-9044-7D2B-06ACC0BFE45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4355172-7DBA-B8E2-A7CC-732B5D5D94D9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283ED5F-FB62-877D-0C28-2FA62143BD79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542552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347DF-4774-3F13-7A77-F16138BA7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60A0C9C5-6628-72F4-63CB-B8765DCB0A63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085619ED-4597-49C5-87B1-B0C37776B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153427" cy="523220"/>
          </a:xfrm>
        </p:spPr>
        <p:txBody>
          <a:bodyPr>
            <a:noAutofit/>
          </a:bodyPr>
          <a:lstStyle/>
          <a:p>
            <a:r>
              <a:rPr lang="en-US" sz="4400" dirty="0"/>
              <a:t>Cross-Category Observations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B352E5-D295-34CD-D6E1-55CA651A9451}"/>
              </a:ext>
            </a:extLst>
          </p:cNvPr>
          <p:cNvSpPr txBox="1"/>
          <p:nvPr/>
        </p:nvSpPr>
        <p:spPr>
          <a:xfrm>
            <a:off x="330700" y="1624302"/>
            <a:ext cx="7137578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Can improve each other: e.g., transition function code can help generate PDDL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43B377-B1E5-FF0B-B966-C1F49B512BC5}"/>
              </a:ext>
            </a:extLst>
          </p:cNvPr>
          <p:cNvSpPr txBox="1"/>
          <p:nvPr/>
        </p:nvSpPr>
        <p:spPr>
          <a:xfrm>
            <a:off x="215146" y="1101082"/>
            <a:ext cx="4578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Complementarity of methods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47EADD-F20C-D1FB-3FC7-11D492ED9C3F}"/>
              </a:ext>
            </a:extLst>
          </p:cNvPr>
          <p:cNvSpPr txBox="1"/>
          <p:nvPr/>
        </p:nvSpPr>
        <p:spPr>
          <a:xfrm>
            <a:off x="330701" y="3783253"/>
            <a:ext cx="6690210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Procedural glue code natively supported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Loops, conditions, etc.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Interleaving sensing with acting is more natural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Reusable skills and hierarchical structure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Partial observability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9A90C-8A30-F3FB-AD17-7858E30CC193}"/>
              </a:ext>
            </a:extLst>
          </p:cNvPr>
          <p:cNvSpPr txBox="1"/>
          <p:nvPr/>
        </p:nvSpPr>
        <p:spPr>
          <a:xfrm>
            <a:off x="211432" y="3124444"/>
            <a:ext cx="5018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Advantages of Policy 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12E796-B451-00B7-7B1B-696DE9565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832" y="498516"/>
            <a:ext cx="4723722" cy="314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9887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F74BA-11AB-8705-FD4E-D61366181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573AFDA4-8604-88B3-5624-91155A4B80DC}"/>
              </a:ext>
            </a:extLst>
          </p:cNvPr>
          <p:cNvSpPr txBox="1"/>
          <p:nvPr/>
        </p:nvSpPr>
        <p:spPr>
          <a:xfrm>
            <a:off x="7759004" y="6189424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17FD1196-BA97-13D8-DCF7-B72E15551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153427" cy="523220"/>
          </a:xfrm>
        </p:spPr>
        <p:txBody>
          <a:bodyPr>
            <a:noAutofit/>
          </a:bodyPr>
          <a:lstStyle/>
          <a:p>
            <a:r>
              <a:rPr lang="en-US" sz="4400" dirty="0"/>
              <a:t>Conclusions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32CCEE-45C7-850C-0F43-FA3B632004CC}"/>
              </a:ext>
            </a:extLst>
          </p:cNvPr>
          <p:cNvSpPr txBox="1"/>
          <p:nvPr/>
        </p:nvSpPr>
        <p:spPr>
          <a:xfrm>
            <a:off x="334414" y="2348462"/>
            <a:ext cx="92444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Three emerging directions: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NL2Search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NL2PDDL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NL2Policy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All show promise, but have limitations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D2DD85-57BC-A48C-B6D3-31716ED5A08F}"/>
              </a:ext>
            </a:extLst>
          </p:cNvPr>
          <p:cNvSpPr txBox="1"/>
          <p:nvPr/>
        </p:nvSpPr>
        <p:spPr>
          <a:xfrm>
            <a:off x="215146" y="1689653"/>
            <a:ext cx="87016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Use LLMs mostly at construction time, not inference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6C007E-2805-636D-29BA-989C7AAB48D8}"/>
              </a:ext>
            </a:extLst>
          </p:cNvPr>
          <p:cNvSpPr txBox="1"/>
          <p:nvPr/>
        </p:nvSpPr>
        <p:spPr>
          <a:xfrm>
            <a:off x="334413" y="5127778"/>
            <a:ext cx="71369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Ensure producing planners that are efficient, reliable, and able to handle the required problems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ACAE6-C358-7D72-F82F-D5F87E4FC8A6}"/>
              </a:ext>
            </a:extLst>
          </p:cNvPr>
          <p:cNvSpPr txBox="1"/>
          <p:nvPr/>
        </p:nvSpPr>
        <p:spPr>
          <a:xfrm>
            <a:off x="215145" y="4501373"/>
            <a:ext cx="17375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Takeaway:</a:t>
            </a:r>
          </a:p>
        </p:txBody>
      </p:sp>
    </p:spTree>
    <p:extLst>
      <p:ext uri="{BB962C8B-B14F-4D97-AF65-F5344CB8AC3E}">
        <p14:creationId xmlns:p14="http://schemas.microsoft.com/office/powerpoint/2010/main" val="264142164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04274B-2F63-5A86-AA71-FD679E182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71550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222184</TotalTime>
  <Words>656</Words>
  <Application>Microsoft Macintosh PowerPoint</Application>
  <PresentationFormat>Widescreen</PresentationFormat>
  <Paragraphs>161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IBM Plex Sans</vt:lpstr>
      <vt:lpstr>Office Theme</vt:lpstr>
      <vt:lpstr>PowerPoint Presentation</vt:lpstr>
      <vt:lpstr>Motivation</vt:lpstr>
      <vt:lpstr>Why LLM as Planner Falls Short</vt:lpstr>
      <vt:lpstr>Central Idea: LLM as Solver Generator</vt:lpstr>
      <vt:lpstr>PowerPoint Presentation</vt:lpstr>
      <vt:lpstr>The Three Paradigms</vt:lpstr>
      <vt:lpstr>Search Components Generation</vt:lpstr>
      <vt:lpstr>PDDL Generation</vt:lpstr>
      <vt:lpstr>Generalized Policy Generation</vt:lpstr>
      <vt:lpstr>Cross-Category Observations</vt:lpstr>
      <vt:lpstr>Conclusions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Michael Katz</dc:creator>
  <cp:keywords/>
  <dc:description/>
  <cp:lastModifiedBy>Michael Katz</cp:lastModifiedBy>
  <cp:revision>588</cp:revision>
  <dcterms:created xsi:type="dcterms:W3CDTF">2024-01-29T19:17:17Z</dcterms:created>
  <dcterms:modified xsi:type="dcterms:W3CDTF">2026-06-18T20:54:04Z</dcterms:modified>
  <cp:category/>
</cp:coreProperties>
</file>