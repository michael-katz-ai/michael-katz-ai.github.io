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1000" r:id="rId2"/>
    <p:sldId id="602" r:id="rId3"/>
    <p:sldId id="981" r:id="rId4"/>
    <p:sldId id="982" r:id="rId5"/>
    <p:sldId id="1031" r:id="rId6"/>
    <p:sldId id="1033" r:id="rId7"/>
    <p:sldId id="978" r:id="rId8"/>
    <p:sldId id="980" r:id="rId9"/>
    <p:sldId id="984" r:id="rId10"/>
    <p:sldId id="1052" r:id="rId11"/>
    <p:sldId id="1034" r:id="rId12"/>
    <p:sldId id="1036" r:id="rId13"/>
    <p:sldId id="1037" r:id="rId14"/>
    <p:sldId id="1051" r:id="rId15"/>
    <p:sldId id="1038" r:id="rId16"/>
    <p:sldId id="1050" r:id="rId17"/>
    <p:sldId id="1039" r:id="rId18"/>
    <p:sldId id="1040" r:id="rId19"/>
    <p:sldId id="1041" r:id="rId20"/>
    <p:sldId id="993" r:id="rId21"/>
    <p:sldId id="1042" r:id="rId22"/>
    <p:sldId id="1045" r:id="rId23"/>
    <p:sldId id="1047" r:id="rId24"/>
    <p:sldId id="1046" r:id="rId25"/>
    <p:sldId id="1044" r:id="rId26"/>
    <p:sldId id="1048" r:id="rId27"/>
    <p:sldId id="991" r:id="rId28"/>
    <p:sldId id="1053" r:id="rId29"/>
    <p:sldId id="1054" r:id="rId30"/>
    <p:sldId id="1058" r:id="rId31"/>
    <p:sldId id="1059" r:id="rId32"/>
    <p:sldId id="1055" r:id="rId33"/>
    <p:sldId id="1056" r:id="rId34"/>
    <p:sldId id="104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5E1"/>
    <a:srgbClr val="E7E6E6"/>
    <a:srgbClr val="C7D0DF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63"/>
    <p:restoredTop sz="83718"/>
  </p:normalViewPr>
  <p:slideViewPr>
    <p:cSldViewPr snapToGrid="0">
      <p:cViewPr>
        <p:scale>
          <a:sx n="130" d="100"/>
          <a:sy n="130" d="100"/>
        </p:scale>
        <p:origin x="-11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89028-9AA5-EB4F-B8BE-7C57B92012CB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FDEBB-CCCC-8B46-A2A2-C1D34AD7B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4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07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DB996-A0B1-EDFB-9453-A04417A04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19A78-89E7-A517-C5AE-B416EA335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BEE4D-6D05-C2BB-2C2A-B8F7B47AE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90080-A862-333A-4853-7E0353D7E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03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B9C41-1CB9-26ED-7ACA-E93B3CC6B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05803-65C8-394C-8354-2E3F3A94C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C7262-CB0E-7AFE-3833-5933B0398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D1A30-C8ED-F6E9-1B4E-DFD321B2F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CF2BD-61DD-BBE4-B5DA-ADD89B76DA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485182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E30C0-DE30-BA15-93C3-4EF3CF14F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4C9BB-7130-CFAE-DFB1-2CE731943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3404A-B5FA-D88F-B49E-ED83251A3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Let’s imitate search: LLMs as world models + external search, works in 24Game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9838F-3EDB-1429-F81F-AF0347DA5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611FF-E22F-705C-FF71-DBC5E97131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495886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E3347-CB1B-0572-F8E7-54CBBB563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06BE1-653B-4981-924B-ECC3A6996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F3C0ED-00F4-81E3-6B7D-A04B02721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methods differ mainly in which search components are delegated to the LLM.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the LLM as an online policy.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ReWOO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it as a plan/program generator.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it as a successor generator and heuristic evaluator inside classical tree search. RAP and LATS add MCTS, with the LLM acting as policy, value function, and sometimes world model.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generalizes the search structure from trees to graphs, using LLM calls as graph transformations.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Reflexion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adds meta-level plan repair by storing natural-language lessons from failed episodes.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BC98A-FB74-CC1F-10FA-6C09CFC68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E8F18-E67D-F6E5-DBD5-546D98E418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246662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2000" dirty="0"/>
              <a:t>Partial awakening</a:t>
            </a:r>
          </a:p>
          <a:p>
            <a:pPr lvl="2" algn="l"/>
            <a:r>
              <a:rPr lang="en-US" sz="2000" dirty="0"/>
              <a:t>LLMs can’t plan!</a:t>
            </a:r>
          </a:p>
          <a:p>
            <a:pPr lvl="2" algn="l"/>
            <a:r>
              <a:rPr lang="en-US" sz="2000" dirty="0"/>
              <a:t>Some of these ideas are </a:t>
            </a:r>
            <a:r>
              <a:rPr lang="en-US" sz="2000" b="1" dirty="0"/>
              <a:t>recklessly inefficient</a:t>
            </a:r>
            <a:r>
              <a:rPr lang="en-US" sz="2000" dirty="0"/>
              <a:t>!</a:t>
            </a:r>
          </a:p>
          <a:p>
            <a:pPr lvl="2" algn="l"/>
            <a:r>
              <a:rPr lang="en-US" sz="2000" dirty="0"/>
              <a:t>Why did it work in the first place?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19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9CFBD-BA1F-8827-ED6E-73AB56DB5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181E8-4C8D-D3D5-9261-59E96E073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8E4C4-1A02-3085-6042-E7E6CA48D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10105-071C-A843-A7FD-3AC79BC47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70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FAB00-D610-E8B2-C645-8A3907833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E12F8-9184-396B-3E41-9F4BB9855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36484-0086-E52C-6BBC-C31E146E6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F0752-8886-70C4-D167-AA52208A6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B6C7B-933D-4D74-A9B8-E4B619B4CF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907427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F4404-6A83-CF3D-B709-63AA73C3D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C0FBE-B494-3410-33DF-DB69E78CC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AFE38C-670C-5BAE-29D8-0A37ED9B0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C1BE1-C159-016C-C7A0-0C9D59FD7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6BAD4-4ADC-13AD-22E7-6E60B34A06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577281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20356-7427-FE6E-241D-C6C79C973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AE1DD-20E2-BDEC-8490-B48BE16E5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28CC0-1235-98BC-9C6A-939B80F3D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01648-99FE-3D9D-A5DB-6F9F0EF88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67036-A19A-A61C-4BD3-A5D3FB9A4C2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02355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C01D1-1E52-BC9A-E87F-35408B7A5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E684B-22B2-79B0-018F-82C09E467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91983-1DF0-6374-B5FA-D3EAC69D0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2D77A-52F2-F729-4597-5121E5744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5AD45-BD3A-E355-8BA9-348E2B3086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17428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72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2941-6824-7026-0DDA-984CBA442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3F45B-1E00-C954-90C1-D95776D6E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765CB-E6FF-15F3-D334-410817105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61FF7-3564-2487-C4CE-8973F4F4C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DB585-5F0D-798F-3326-6862053929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833325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9B161-1A56-C01F-1FDC-071744BCD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F473B-CA09-D268-EF75-1BFC55FB4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01863-6F31-5AF7-4CDF-7EA0C4519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2482A-CF66-6251-9936-72AD92162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EEB4-E824-F4C5-47B0-AD1FC2BF44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081960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02F82-58D9-0607-A1C6-90AD9609D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C1BE0-DC32-423E-B13F-B3EF36A51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A1CFE-5F01-1088-96DE-7EC200F8C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7ADE0-C686-A300-6B94-AEC339ADD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A4056-545E-52A8-1EB2-7F47112A48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302300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BAE3-1B31-F9B6-F46C-424DD859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551582-F85B-FCF0-16B5-84841C96A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E89B7-A0D4-D6A8-40F1-98B079996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38868-1AD5-F554-B720-6B4E846FF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778C5-38DC-9D91-C074-45C6FACBD99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509635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C82C-723F-0C69-E69B-C5E0C799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6F4A80-C228-4A2E-136B-C707411FE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72A08-C928-A7B6-AA38-4768AFA8F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6E29C-50F8-2A73-4F6F-E26191C099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4AF70-E551-4F34-3A6A-4CC276DB80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2529009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B0446-CD76-655E-587F-3043ED166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F2BA66-6F70-B0B4-C63E-B38786BA6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FD62-0366-73F3-2C0B-A06AB031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AC0A9-50B5-D2A9-CA26-74D8C372B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FBE9A-5254-62A2-BC88-F608FFF0B6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6114398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DD4C8-7381-3C10-867A-B218C206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60D45-E2EB-5B14-E3B1-754963447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B5D8A0-9C34-9EAE-C197-10CB8D0CC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49266-4458-24AD-F025-607E039EC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B650C-2763-7BC2-FB24-D933755050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8358607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742B7-B38E-353C-2550-0B35B2EF2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8EA76-C8BB-ACDE-DF23-4E94E8EAD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40A13-9D21-FBF1-8338-AE52B1118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1303C-092F-95C2-0A7C-0E9CCABBC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1D4AB-22CE-F074-D6CA-710FB9B0A3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1064303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52BC4-CDB5-FFBA-90EC-3AFE39711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E91A2-1137-C7D5-2EC7-80C3B1AAE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74FBC-DA23-BDCD-6DD8-F55A67D8A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6108A-72C3-F6A2-81F7-A464E5A09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8E92D-7393-7097-E9FB-DD3785651F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184435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0AF94-8544-51D2-F512-5700E1874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43726-72E8-3C91-1952-6B28B7F9A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B5CD1-2DEF-82A9-0241-D6BC9C855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097F3-13C2-6B50-C7AD-AC5C1EF36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E79CF-5423-5827-A7D5-63BDF25D8B1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884197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71CA5-2D87-3F63-F8CB-FCE8260D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D8B6C-F25E-95E3-584A-0C0BE2567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7ED42D-4B40-2634-1C5A-896ACE327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(from action models learning literature)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 (since we cannot compute the entire plan sets)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31B00-B99B-729C-DD05-98EB39AB37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91928-550C-D81D-F8D1-900487D123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5642320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BFBE1-2B62-3323-58DD-6B3F184D4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4F8EF-EFA6-653F-1729-8BAFA25A5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C3DA6-B2E6-DD23-A39D-EE73A6C14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13DAA-9E00-AC3A-8AA5-27F620747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582DE-B361-004F-7082-061A18B1440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1863038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46CD-9A31-173F-A471-8E70E74DE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C43A2-6FA5-8B5F-78ED-0329B5517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65A282-1A38-2EF9-DE79-6CD11EC3A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065B7-DB1D-BEAD-81BE-6669F3814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AA7E1-78BC-CDA2-C9DB-BD9EDF7D53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419364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3D093-B036-7072-2732-C7683E5B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3BEA9-9AAC-BF2C-B193-82544A05F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C96E4-354C-EAB1-F93F-52EB0DAC3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80803-2840-16FD-6207-7B02C1866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ADA2C-8414-F97B-CBB5-F2826CA8B4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194314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A2F35-654D-73AF-0389-607E8FC8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C077F8-947C-F70E-7A05-B22E12779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B27BD-B312-FCF8-3985-C9924B720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Generate policy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Learn reusable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Generalize components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12DD9-BF04-7C98-63EA-0C3AAF0B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5A450-0BAE-C89A-CE1F-D51E82AE8E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1576194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5783C-A22E-80A8-1056-CBDABD759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E028-6D8F-79B7-BF74-779FC6E11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60B04-C3E7-47D0-938B-525FE3E77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Generate policy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Learn reusable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Generalize components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747EB-0CC2-7D88-9E19-AF7CA99F9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65F7C-EF8D-81F2-755B-416CC7201D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369921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5B988-E550-25EE-C735-B6468FC10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D9DBC-F1DE-A5A7-1C77-613393099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18A92-7046-FD91-3FE9-149E7AF0D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Generate policy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Learn reusable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Generalize components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1AF13-BEEA-AE4E-3479-A68FFB7BE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3771F-7BAC-9707-285B-06FCE7F5A9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858056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DB9DF-41AC-A56D-5421-3E9FF4CC0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2DB4C-C143-B3C0-D983-494A483C1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D5E84-E0D9-A93F-DDAB-6D0F46830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Generate policy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Learn reusable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Generalize components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DF9CA-3D55-C5B6-B983-AC6A5C8E9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86E6C-C42C-1B9A-7688-BFAD5C5F85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1359375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101C7-31BF-BBBD-E8C3-AEF686AF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18F7E-CC1D-8B4A-4D6D-683F4F98C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A8532-E7B9-7AAD-C003-BA303A73C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Generate policy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Learn reusable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Generalize components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D3B76-3F92-C3F7-4526-21358FABB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FFB99-81FD-5C09-910B-263ADD1607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12735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1FCF-0CE9-6D3B-16EB-A5119E095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83427-FF72-1EBD-4A0A-CC34B0117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14471-D4C0-0E5D-DBA6-97A3C7648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2FF74-043B-05F9-EC58-4238B4C29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5C816-71A6-15B6-B3BA-D7625327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0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D7979-2C0B-87AB-1A9C-FE395D01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705FC-E951-C9E6-4FAD-80067A7A6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76035-4C6C-6228-45E6-36A0BC97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A859F-A026-A827-B01E-FC636C19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E8C3C-3662-309D-D21B-6BE2F016F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62A0-3F05-BEC5-A2A6-89FA01F0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050F4-193F-8A54-409D-15459CE60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B3CC7-5D28-A20C-CF0F-E2E69EE28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17C5C-2A8F-5B86-FC6A-930F6A230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854D9-29BA-621B-7756-F3261C6A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8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E9919-BA08-5C40-6857-2B7484FA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877B7-433E-AE53-E67C-2CDCC2598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3A7E7-CAD6-CAAB-82F1-8C13C5AF3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7764-9003-6D58-B97F-14B718D72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78F01-8DE6-76CF-17CB-AADC255FB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A2F18-9C5E-C800-FEAD-5CF69FBD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13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9A7CB-0349-5E21-B85F-E5F2C4A6B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D3DFB-4BBE-F6EF-3B21-A17611F97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09CBB-EA58-36BE-A447-E7B00D171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3C917-22C4-F7AD-780D-C718115BF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33C1B3-5F3B-000B-6EC1-FFC031C42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C392D9-072C-0FE1-3967-D3ACC056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A793EA-75DB-148F-2F62-140A3310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945BA-29E7-CAE0-6162-67C2063C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10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2CE8-28A3-8D99-1DF3-864BF872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25EBE-2EC2-0202-B026-B7EB58D6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9A54C-DB6E-F68B-D24D-E2262EB9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CE15E-EB98-1910-68D0-27D183D6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96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938809-CBDD-5D94-47DB-A4A9EBB0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150C0-5D71-2213-F4F6-BB698FB0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A7695-4215-99E5-56EE-DF98029A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5C52-18FB-9FC0-5D47-81B90B0F9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13FC7-641A-B751-C6DF-21CE1570A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8BA57-5AB1-37A9-AE57-FAECF47D3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4CEE9-5602-B278-776E-1DCFC6F3E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712C6-4180-0BE1-396C-A5F64A33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D20D6-4F86-0BAD-B1FC-CCD3E08E9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4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A6D5-DABF-3943-17F6-43DD95E1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08A7E7-D050-DA63-8E49-D18EFE762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F5AFB-A5B4-3DB3-56F1-0E60630F1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C99D2-2131-1407-FDCD-99AA5A29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05233-375B-5080-E42E-938A7BF4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7AF54-D19E-31E5-E1D7-BC8BD053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9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45E70-2E59-7152-AAA7-123A13D3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4B018-BA8F-0207-B623-16C2A2E6E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07BDD-9C87-4D36-AC94-8C8F0FFB9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B2B19-8BC8-01D1-F6A5-CC03C46B1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E0624-53C0-7C7C-BF1F-039A0D86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6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24E9AF-07E4-B53E-289B-714B3F8CB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45DBB-BDF7-BB37-695A-B0F46D513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4FF1F-EF7D-19DD-84E8-C5C7E2BA7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A1352-43B3-367F-05DC-41BD6F7C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02C3D-5DC9-8690-62AE-F32289EE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76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6127" y="1985921"/>
            <a:ext cx="9455003" cy="3054431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680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75F80-7516-72B5-7496-23B3E142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9724-21E5-03B7-BE29-8713E569F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47784-EA72-E42A-D7A5-3B361F343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10E33-DD58-4472-A9AD-89E2B8174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C21A2-CF4E-A518-78AC-20DB4E7EF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5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5.emf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24.sv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12" Type="http://schemas.openxmlformats.org/officeDocument/2006/relationships/image" Target="../media/image23.png"/><Relationship Id="rId17" Type="http://schemas.microsoft.com/office/2007/relationships/hdphoto" Target="../media/hdphoto1.wdp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11" Type="http://schemas.openxmlformats.org/officeDocument/2006/relationships/image" Target="../media/image11.png"/><Relationship Id="rId5" Type="http://schemas.openxmlformats.org/officeDocument/2006/relationships/image" Target="../media/image9.png"/><Relationship Id="rId15" Type="http://schemas.openxmlformats.org/officeDocument/2006/relationships/image" Target="../media/image26.svg"/><Relationship Id="rId10" Type="http://schemas.openxmlformats.org/officeDocument/2006/relationships/image" Target="../media/image8.svg"/><Relationship Id="rId4" Type="http://schemas.openxmlformats.org/officeDocument/2006/relationships/image" Target="../media/image22.png"/><Relationship Id="rId9" Type="http://schemas.openxmlformats.org/officeDocument/2006/relationships/image" Target="../media/image7.png"/><Relationship Id="rId1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11" Type="http://schemas.openxmlformats.org/officeDocument/2006/relationships/image" Target="../media/image11.png"/><Relationship Id="rId5" Type="http://schemas.openxmlformats.org/officeDocument/2006/relationships/image" Target="../media/image9.png"/><Relationship Id="rId10" Type="http://schemas.openxmlformats.org/officeDocument/2006/relationships/image" Target="../media/image8.svg"/><Relationship Id="rId4" Type="http://schemas.openxmlformats.org/officeDocument/2006/relationships/image" Target="../media/image22.png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1.wdp"/><Relationship Id="rId3" Type="http://schemas.openxmlformats.org/officeDocument/2006/relationships/image" Target="../media/image4.png"/><Relationship Id="rId7" Type="http://schemas.openxmlformats.org/officeDocument/2006/relationships/image" Target="../media/image6.sv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26.svg"/><Relationship Id="rId5" Type="http://schemas.openxmlformats.org/officeDocument/2006/relationships/image" Target="../media/image24.svg"/><Relationship Id="rId10" Type="http://schemas.openxmlformats.org/officeDocument/2006/relationships/image" Target="../media/image25.png"/><Relationship Id="rId4" Type="http://schemas.openxmlformats.org/officeDocument/2006/relationships/image" Target="../media/image23.png"/><Relationship Id="rId9" Type="http://schemas.openxmlformats.org/officeDocument/2006/relationships/image" Target="../media/image8.svg"/><Relationship Id="rId1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27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11" Type="http://schemas.openxmlformats.org/officeDocument/2006/relationships/image" Target="../media/image25.png"/><Relationship Id="rId5" Type="http://schemas.openxmlformats.org/officeDocument/2006/relationships/image" Target="../media/image23.png"/><Relationship Id="rId10" Type="http://schemas.openxmlformats.org/officeDocument/2006/relationships/image" Target="../media/image8.sv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1.png"/><Relationship Id="rId3" Type="http://schemas.openxmlformats.org/officeDocument/2006/relationships/image" Target="../media/image23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27.png"/><Relationship Id="rId5" Type="http://schemas.openxmlformats.org/officeDocument/2006/relationships/image" Target="../media/image5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1.png"/><Relationship Id="rId3" Type="http://schemas.openxmlformats.org/officeDocument/2006/relationships/image" Target="../media/image23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27.png"/><Relationship Id="rId5" Type="http://schemas.openxmlformats.org/officeDocument/2006/relationships/image" Target="../media/image5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1.png"/><Relationship Id="rId3" Type="http://schemas.openxmlformats.org/officeDocument/2006/relationships/image" Target="../media/image23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27.png"/><Relationship Id="rId5" Type="http://schemas.openxmlformats.org/officeDocument/2006/relationships/image" Target="../media/image5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1.png"/><Relationship Id="rId3" Type="http://schemas.openxmlformats.org/officeDocument/2006/relationships/image" Target="../media/image23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27.png"/><Relationship Id="rId5" Type="http://schemas.openxmlformats.org/officeDocument/2006/relationships/image" Target="../media/image5.png"/><Relationship Id="rId15" Type="http://schemas.openxmlformats.org/officeDocument/2006/relationships/image" Target="../media/image50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1.png"/><Relationship Id="rId3" Type="http://schemas.openxmlformats.org/officeDocument/2006/relationships/image" Target="../media/image23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27.png"/><Relationship Id="rId5" Type="http://schemas.openxmlformats.org/officeDocument/2006/relationships/image" Target="../media/image5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51.png"/><Relationship Id="rId4" Type="http://schemas.openxmlformats.org/officeDocument/2006/relationships/image" Target="../media/image22.png"/><Relationship Id="rId9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appworld.dev/" TargetMode="External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5" Type="http://schemas.openxmlformats.org/officeDocument/2006/relationships/image" Target="../media/image61.emf"/><Relationship Id="rId4" Type="http://schemas.openxmlformats.org/officeDocument/2006/relationships/image" Target="../media/image60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41000" r="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49CCF2-5AD5-F193-336E-D1E01025238A}"/>
              </a:ext>
            </a:extLst>
          </p:cNvPr>
          <p:cNvSpPr/>
          <p:nvPr/>
        </p:nvSpPr>
        <p:spPr>
          <a:xfrm>
            <a:off x="352375" y="328558"/>
            <a:ext cx="114872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Planning in the Era of Language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96621-9DD6-36BC-8DB2-21C46D1E3AAD}"/>
              </a:ext>
            </a:extLst>
          </p:cNvPr>
          <p:cNvSpPr txBox="1"/>
          <p:nvPr/>
        </p:nvSpPr>
        <p:spPr>
          <a:xfrm>
            <a:off x="4429757" y="2414031"/>
            <a:ext cx="333248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Michael Katz, IBM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88660-97F7-C365-71DD-B37FFA477EFC}"/>
              </a:ext>
            </a:extLst>
          </p:cNvPr>
          <p:cNvSpPr txBox="1"/>
          <p:nvPr/>
        </p:nvSpPr>
        <p:spPr>
          <a:xfrm>
            <a:off x="3962239" y="1571349"/>
            <a:ext cx="4267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ICAPS 2026 Summer School</a:t>
            </a:r>
          </a:p>
        </p:txBody>
      </p:sp>
    </p:spTree>
    <p:extLst>
      <p:ext uri="{BB962C8B-B14F-4D97-AF65-F5344CB8AC3E}">
        <p14:creationId xmlns:p14="http://schemas.microsoft.com/office/powerpoint/2010/main" val="183456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885BD-FDEC-279F-2434-F2D14C7CA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7D004-13A9-8B2D-B823-F7B70FA3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87" y="76104"/>
            <a:ext cx="10515600" cy="1325563"/>
          </a:xfrm>
        </p:spPr>
        <p:txBody>
          <a:bodyPr/>
          <a:lstStyle/>
          <a:p>
            <a:r>
              <a:rPr lang="en-US" dirty="0"/>
              <a:t>Planning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9906B6-D159-790C-E0DB-6E0D66D3F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7" y="2907752"/>
            <a:ext cx="7010796" cy="374505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E56124A6-4B73-AA77-8ABC-CCC8D668F426}"/>
              </a:ext>
            </a:extLst>
          </p:cNvPr>
          <p:cNvGrpSpPr/>
          <p:nvPr/>
        </p:nvGrpSpPr>
        <p:grpSpPr>
          <a:xfrm>
            <a:off x="8122442" y="2612882"/>
            <a:ext cx="3457815" cy="2073897"/>
            <a:chOff x="469607" y="4554776"/>
            <a:chExt cx="3457815" cy="207389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1A6EA1-A73B-E0B4-DB98-A8CDEFB5CC7B}"/>
                </a:ext>
              </a:extLst>
            </p:cNvPr>
            <p:cNvSpPr/>
            <p:nvPr/>
          </p:nvSpPr>
          <p:spPr>
            <a:xfrm>
              <a:off x="469607" y="4554776"/>
              <a:ext cx="3457815" cy="20738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Planning Language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18B6350-54B2-748F-1C49-26918A85CF63}"/>
                </a:ext>
              </a:extLst>
            </p:cNvPr>
            <p:cNvSpPr txBox="1"/>
            <p:nvPr/>
          </p:nvSpPr>
          <p:spPr>
            <a:xfrm>
              <a:off x="680797" y="5248522"/>
              <a:ext cx="11577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predicates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96DABF2-BEE5-707E-7FA4-7E8E241FD606}"/>
                </a:ext>
              </a:extLst>
            </p:cNvPr>
            <p:cNvSpPr txBox="1"/>
            <p:nvPr/>
          </p:nvSpPr>
          <p:spPr>
            <a:xfrm>
              <a:off x="2815911" y="4943944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objects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9BB7C3-56ED-0E71-7E7C-ADFFD7CF8E7E}"/>
                </a:ext>
              </a:extLst>
            </p:cNvPr>
            <p:cNvSpPr txBox="1"/>
            <p:nvPr/>
          </p:nvSpPr>
          <p:spPr>
            <a:xfrm>
              <a:off x="507568" y="4944091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types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2195B83-8B1E-4185-F47D-E3F5013443FC}"/>
                </a:ext>
              </a:extLst>
            </p:cNvPr>
            <p:cNvSpPr txBox="1"/>
            <p:nvPr/>
          </p:nvSpPr>
          <p:spPr>
            <a:xfrm>
              <a:off x="731426" y="5627278"/>
              <a:ext cx="856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actions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F805EA3-78C5-66FC-D580-3B1B3F3E921A}"/>
                </a:ext>
              </a:extLst>
            </p:cNvPr>
            <p:cNvSpPr txBox="1"/>
            <p:nvPr/>
          </p:nvSpPr>
          <p:spPr>
            <a:xfrm>
              <a:off x="1139100" y="5893420"/>
              <a:ext cx="1476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preconditions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AC08D6C-E42A-CDA3-E661-5272A61C2F6F}"/>
                </a:ext>
              </a:extLst>
            </p:cNvPr>
            <p:cNvSpPr txBox="1"/>
            <p:nvPr/>
          </p:nvSpPr>
          <p:spPr>
            <a:xfrm>
              <a:off x="1139100" y="6168986"/>
              <a:ext cx="810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effects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65E8180-5A19-7745-5A02-28164493B974}"/>
                </a:ext>
              </a:extLst>
            </p:cNvPr>
            <p:cNvSpPr txBox="1"/>
            <p:nvPr/>
          </p:nvSpPr>
          <p:spPr>
            <a:xfrm>
              <a:off x="2638661" y="5357036"/>
              <a:ext cx="1223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 state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DDF5219-876D-CDAC-FE10-0944EB16EF96}"/>
                </a:ext>
              </a:extLst>
            </p:cNvPr>
            <p:cNvSpPr txBox="1"/>
            <p:nvPr/>
          </p:nvSpPr>
          <p:spPr>
            <a:xfrm>
              <a:off x="2942617" y="5726368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goal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B2EDFF7-55D9-6082-1846-1EE3729DDF0E}"/>
              </a:ext>
            </a:extLst>
          </p:cNvPr>
          <p:cNvGrpSpPr/>
          <p:nvPr/>
        </p:nvGrpSpPr>
        <p:grpSpPr>
          <a:xfrm>
            <a:off x="8881110" y="5263037"/>
            <a:ext cx="1940480" cy="1529394"/>
            <a:chOff x="4315446" y="4747171"/>
            <a:chExt cx="2007306" cy="152939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7C6326F-5A9E-8CF4-5EF7-A375D15A6754}"/>
                </a:ext>
              </a:extLst>
            </p:cNvPr>
            <p:cNvSpPr/>
            <p:nvPr/>
          </p:nvSpPr>
          <p:spPr>
            <a:xfrm>
              <a:off x="4315446" y="4747171"/>
              <a:ext cx="2007306" cy="15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Black Box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D332E15-59C3-3039-88A6-ED629E76BAF8}"/>
                </a:ext>
              </a:extLst>
            </p:cNvPr>
            <p:cNvSpPr/>
            <p:nvPr/>
          </p:nvSpPr>
          <p:spPr>
            <a:xfrm>
              <a:off x="4456437" y="5717477"/>
              <a:ext cx="1593130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succ</a:t>
              </a:r>
              <a:r>
                <a:rPr lang="en-US" dirty="0"/>
                <a:t>: S -&gt;2</a:t>
              </a:r>
              <a:r>
                <a:rPr lang="en-US" baseline="30000" dirty="0"/>
                <a:t>SxA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A07EA76D-87F8-4A23-F08C-13E9A0082C54}"/>
                </a:ext>
              </a:extLst>
            </p:cNvPr>
            <p:cNvSpPr/>
            <p:nvPr/>
          </p:nvSpPr>
          <p:spPr>
            <a:xfrm>
              <a:off x="4471749" y="5160309"/>
              <a:ext cx="1593129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goal: S -&gt; {T,F}</a:t>
              </a:r>
              <a:endParaRPr lang="en-US" baseline="30000" dirty="0"/>
            </a:p>
          </p:txBody>
        </p:sp>
      </p:grpSp>
      <p:sp>
        <p:nvSpPr>
          <p:cNvPr id="41" name="Right Arrow 40">
            <a:extLst>
              <a:ext uri="{FF2B5EF4-FFF2-40B4-BE49-F238E27FC236}">
                <a16:creationId xmlns:a16="http://schemas.microsoft.com/office/drawing/2014/main" id="{DC678112-87DD-D90E-6D10-D473296B1AC3}"/>
              </a:ext>
            </a:extLst>
          </p:cNvPr>
          <p:cNvSpPr/>
          <p:nvPr/>
        </p:nvSpPr>
        <p:spPr>
          <a:xfrm rot="5400000">
            <a:off x="9614515" y="4828418"/>
            <a:ext cx="445651" cy="303220"/>
          </a:xfrm>
          <a:prstGeom prst="rightArrow">
            <a:avLst/>
          </a:prstGeom>
          <a:ln cap="rnd" cmpd="dbl">
            <a:solidFill>
              <a:schemeClr val="accent1">
                <a:shade val="1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D2A97D7-650A-7C6F-EF7D-FE152D24B675}"/>
              </a:ext>
            </a:extLst>
          </p:cNvPr>
          <p:cNvGrpSpPr/>
          <p:nvPr/>
        </p:nvGrpSpPr>
        <p:grpSpPr>
          <a:xfrm>
            <a:off x="5289629" y="287335"/>
            <a:ext cx="6748041" cy="2093302"/>
            <a:chOff x="5347502" y="141185"/>
            <a:chExt cx="6748041" cy="2093302"/>
          </a:xfrm>
        </p:grpSpPr>
        <p:sp>
          <p:nvSpPr>
            <p:cNvPr id="6" name="Cloud 5">
              <a:extLst>
                <a:ext uri="{FF2B5EF4-FFF2-40B4-BE49-F238E27FC236}">
                  <a16:creationId xmlns:a16="http://schemas.microsoft.com/office/drawing/2014/main" id="{1D89D30B-B9F4-E2A3-E600-323E82DAB015}"/>
                </a:ext>
              </a:extLst>
            </p:cNvPr>
            <p:cNvSpPr/>
            <p:nvPr/>
          </p:nvSpPr>
          <p:spPr>
            <a:xfrm>
              <a:off x="5347502" y="141185"/>
              <a:ext cx="6748041" cy="2093302"/>
            </a:xfrm>
            <a:prstGeom prst="clou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C1643C-4E7A-1826-4122-A4167A61B323}"/>
                </a:ext>
              </a:extLst>
            </p:cNvPr>
            <p:cNvSpPr txBox="1"/>
            <p:nvPr/>
          </p:nvSpPr>
          <p:spPr>
            <a:xfrm>
              <a:off x="5878924" y="562223"/>
              <a:ext cx="553284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The 24 Game is a mathematical card game in which the objective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 is to find a way to manipulate four integers so that the end result is 24. 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The game  is played with a list of four numbers, and the player must use all four numbers exactly once, using any combination of addition, subtraction, multiplication, or division, to arrive at the number 24. </a:t>
              </a:r>
            </a:p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68D12859-BC9D-24CD-13D9-A60E24CC4780}"/>
              </a:ext>
            </a:extLst>
          </p:cNvPr>
          <p:cNvCxnSpPr>
            <a:cxnSpLocks/>
          </p:cNvCxnSpPr>
          <p:nvPr/>
        </p:nvCxnSpPr>
        <p:spPr>
          <a:xfrm>
            <a:off x="3885235" y="3855709"/>
            <a:ext cx="5151463" cy="1977156"/>
          </a:xfrm>
          <a:prstGeom prst="curvedConnector3">
            <a:avLst>
              <a:gd name="adj1" fmla="val 70671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630D3E9B-91AA-A23B-C43D-18D47003EFDC}"/>
              </a:ext>
            </a:extLst>
          </p:cNvPr>
          <p:cNvSpPr/>
          <p:nvPr/>
        </p:nvSpPr>
        <p:spPr>
          <a:xfrm>
            <a:off x="5489615" y="4138593"/>
            <a:ext cx="358815" cy="1347807"/>
          </a:xfrm>
          <a:prstGeom prst="rightBrace">
            <a:avLst>
              <a:gd name="adj1" fmla="val 37365"/>
              <a:gd name="adj2" fmla="val 49750"/>
            </a:avLst>
          </a:prstGeom>
          <a:ln w="44450" cap="rnd" cmpd="sng">
            <a:round/>
            <a:headEnd type="none"/>
            <a:tailEnd type="non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AC6E28F8-C20A-4B16-3E8B-87FCBA1C074D}"/>
              </a:ext>
            </a:extLst>
          </p:cNvPr>
          <p:cNvCxnSpPr>
            <a:cxnSpLocks/>
          </p:cNvCxnSpPr>
          <p:nvPr/>
        </p:nvCxnSpPr>
        <p:spPr>
          <a:xfrm>
            <a:off x="5878924" y="4805038"/>
            <a:ext cx="3138483" cy="1695881"/>
          </a:xfrm>
          <a:prstGeom prst="curvedConnector3">
            <a:avLst>
              <a:gd name="adj1" fmla="val 50000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ight Arrow 64">
            <a:extLst>
              <a:ext uri="{FF2B5EF4-FFF2-40B4-BE49-F238E27FC236}">
                <a16:creationId xmlns:a16="http://schemas.microsoft.com/office/drawing/2014/main" id="{A0FF4405-15E7-8BB3-4A7F-D64BAE43B199}"/>
              </a:ext>
            </a:extLst>
          </p:cNvPr>
          <p:cNvSpPr/>
          <p:nvPr/>
        </p:nvSpPr>
        <p:spPr>
          <a:xfrm rot="5400000">
            <a:off x="9747840" y="2229027"/>
            <a:ext cx="445651" cy="303220"/>
          </a:xfrm>
          <a:prstGeom prst="rightArrow">
            <a:avLst/>
          </a:prstGeom>
          <a:ln cap="rnd" cmpd="dbl">
            <a:solidFill>
              <a:schemeClr val="accent1">
                <a:shade val="1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Curved Connector 67">
            <a:extLst>
              <a:ext uri="{FF2B5EF4-FFF2-40B4-BE49-F238E27FC236}">
                <a16:creationId xmlns:a16="http://schemas.microsoft.com/office/drawing/2014/main" id="{5FCA291C-90F9-4569-151D-EE93221C0AF7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12332" y="2676747"/>
            <a:ext cx="3229301" cy="2108727"/>
          </a:xfrm>
          <a:prstGeom prst="curvedConnector2">
            <a:avLst/>
          </a:prstGeom>
          <a:ln w="168275"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9E0053E-FF51-6A30-B3FE-7CF9EBC3B017}"/>
              </a:ext>
            </a:extLst>
          </p:cNvPr>
          <p:cNvSpPr txBox="1"/>
          <p:nvPr/>
        </p:nvSpPr>
        <p:spPr>
          <a:xfrm>
            <a:off x="451087" y="2418797"/>
            <a:ext cx="221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Mathematical Model:</a:t>
            </a:r>
          </a:p>
        </p:txBody>
      </p:sp>
    </p:spTree>
    <p:extLst>
      <p:ext uri="{BB962C8B-B14F-4D97-AF65-F5344CB8AC3E}">
        <p14:creationId xmlns:p14="http://schemas.microsoft.com/office/powerpoint/2010/main" val="30595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20" grpId="0" animBg="1"/>
      <p:bldP spid="65" grpId="0" animBg="1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ECCCE0FD-39DA-B564-DE77-BBD8037D7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4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28903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52530-4510-D1C1-BB29-9A87C999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C3F2F87A-C3BD-A1A8-0999-31C18F2A1497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7587EE9C-1AD7-8688-FA4F-E4FE616A088B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CCB76969-F33F-8B33-AA26-DEB7DC99CC1C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AC32835-8A10-EF3F-F723-6EBE628E71C3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90DA462-F709-6549-591C-884FE7FB80C6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AFAB71C1-9A10-B3B5-35C4-10D7D10277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E0AB2DE9-1D83-1A37-1B76-834AC66D97B9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167D2520-8715-5CDE-A186-D970A916761F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5D032C45-0B76-A6A1-EC7C-D3220ECC468A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8CEEFFCC-D436-B453-5941-D5CB49CAB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Solving NL/PDDL planning problems</a:t>
            </a:r>
          </a:p>
        </p:txBody>
      </p:sp>
      <p:cxnSp>
        <p:nvCxnSpPr>
          <p:cNvPr id="1288" name="Straight Connector 1287">
            <a:extLst>
              <a:ext uri="{FF2B5EF4-FFF2-40B4-BE49-F238E27FC236}">
                <a16:creationId xmlns:a16="http://schemas.microsoft.com/office/drawing/2014/main" id="{885FA1B9-50F7-49FA-F92F-F694410170AB}"/>
              </a:ext>
            </a:extLst>
          </p:cNvPr>
          <p:cNvCxnSpPr>
            <a:cxnSpLocks/>
          </p:cNvCxnSpPr>
          <p:nvPr/>
        </p:nvCxnSpPr>
        <p:spPr>
          <a:xfrm>
            <a:off x="246885" y="3829694"/>
            <a:ext cx="9591754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3" name="TextBox 1292">
            <a:extLst>
              <a:ext uri="{FF2B5EF4-FFF2-40B4-BE49-F238E27FC236}">
                <a16:creationId xmlns:a16="http://schemas.microsoft.com/office/drawing/2014/main" id="{BD5C097B-F541-973A-FC45-C44DCD1EBF6A}"/>
              </a:ext>
            </a:extLst>
          </p:cNvPr>
          <p:cNvSpPr txBox="1"/>
          <p:nvPr/>
        </p:nvSpPr>
        <p:spPr>
          <a:xfrm>
            <a:off x="4702006" y="1021094"/>
            <a:ext cx="2969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of the focus since 2022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0CD9B7A-1BE3-2453-CCAD-EC010F94F82C}"/>
              </a:ext>
            </a:extLst>
          </p:cNvPr>
          <p:cNvGrpSpPr/>
          <p:nvPr/>
        </p:nvGrpSpPr>
        <p:grpSpPr>
          <a:xfrm>
            <a:off x="8470238" y="4638689"/>
            <a:ext cx="1312854" cy="1142543"/>
            <a:chOff x="8470238" y="4638689"/>
            <a:chExt cx="1312854" cy="1142543"/>
          </a:xfrm>
        </p:grpSpPr>
        <p:cxnSp>
          <p:nvCxnSpPr>
            <p:cNvPr id="1113" name="Straight Connector 1112">
              <a:extLst>
                <a:ext uri="{FF2B5EF4-FFF2-40B4-BE49-F238E27FC236}">
                  <a16:creationId xmlns:a16="http://schemas.microsoft.com/office/drawing/2014/main" id="{C3212F73-9471-039A-4B6C-5C87DFAD0C9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536959" y="5777245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1A6E6E5F-C395-CB2D-7B6D-7AFF4AA7E15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470238" y="4954882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5" name="TextBox 1114">
              <a:extLst>
                <a:ext uri="{FF2B5EF4-FFF2-40B4-BE49-F238E27FC236}">
                  <a16:creationId xmlns:a16="http://schemas.microsoft.com/office/drawing/2014/main" id="{66E00BA5-7AFE-1CA5-C95F-9537140EB7F6}"/>
                </a:ext>
              </a:extLst>
            </p:cNvPr>
            <p:cNvSpPr txBox="1"/>
            <p:nvPr/>
          </p:nvSpPr>
          <p:spPr>
            <a:xfrm>
              <a:off x="8549341" y="5416492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117" name="TextBox 1116">
              <a:extLst>
                <a:ext uri="{FF2B5EF4-FFF2-40B4-BE49-F238E27FC236}">
                  <a16:creationId xmlns:a16="http://schemas.microsoft.com/office/drawing/2014/main" id="{BF393A61-D2CD-4A37-82B0-7767E356CE52}"/>
                </a:ext>
              </a:extLst>
            </p:cNvPr>
            <p:cNvSpPr txBox="1"/>
            <p:nvPr/>
          </p:nvSpPr>
          <p:spPr>
            <a:xfrm>
              <a:off x="8528118" y="4638689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1" name="Group 1160">
            <a:extLst>
              <a:ext uri="{FF2B5EF4-FFF2-40B4-BE49-F238E27FC236}">
                <a16:creationId xmlns:a16="http://schemas.microsoft.com/office/drawing/2014/main" id="{D912ADB3-FDDC-2B5F-B487-92B6B94325CA}"/>
              </a:ext>
            </a:extLst>
          </p:cNvPr>
          <p:cNvGrpSpPr/>
          <p:nvPr/>
        </p:nvGrpSpPr>
        <p:grpSpPr>
          <a:xfrm>
            <a:off x="2442299" y="4144587"/>
            <a:ext cx="6017276" cy="2215587"/>
            <a:chOff x="5097517" y="2113263"/>
            <a:chExt cx="3384020" cy="1187560"/>
          </a:xfrm>
        </p:grpSpPr>
        <p:grpSp>
          <p:nvGrpSpPr>
            <p:cNvPr id="1160" name="Group 1159">
              <a:extLst>
                <a:ext uri="{FF2B5EF4-FFF2-40B4-BE49-F238E27FC236}">
                  <a16:creationId xmlns:a16="http://schemas.microsoft.com/office/drawing/2014/main" id="{10CB3CC8-9D85-66CF-ACF7-A28800CEB5A5}"/>
                </a:ext>
              </a:extLst>
            </p:cNvPr>
            <p:cNvGrpSpPr/>
            <p:nvPr/>
          </p:nvGrpSpPr>
          <p:grpSpPr>
            <a:xfrm>
              <a:off x="5097517" y="2113263"/>
              <a:ext cx="3384020" cy="1125790"/>
              <a:chOff x="5097517" y="2113263"/>
              <a:chExt cx="3384020" cy="1125790"/>
            </a:xfrm>
          </p:grpSpPr>
          <p:sp>
            <p:nvSpPr>
              <p:cNvPr id="1076" name="Rounded Rectangle 1075">
                <a:extLst>
                  <a:ext uri="{FF2B5EF4-FFF2-40B4-BE49-F238E27FC236}">
                    <a16:creationId xmlns:a16="http://schemas.microsoft.com/office/drawing/2014/main" id="{BFA2E560-3940-28CA-5BD0-904C778DF22E}"/>
                  </a:ext>
                </a:extLst>
              </p:cNvPr>
              <p:cNvSpPr/>
              <p:nvPr/>
            </p:nvSpPr>
            <p:spPr>
              <a:xfrm>
                <a:off x="5097517" y="2113263"/>
                <a:ext cx="3384020" cy="1125790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078" name="Straight Connector 1077">
                <a:extLst>
                  <a:ext uri="{FF2B5EF4-FFF2-40B4-BE49-F238E27FC236}">
                    <a16:creationId xmlns:a16="http://schemas.microsoft.com/office/drawing/2014/main" id="{6622D288-DD77-FDCF-F1C8-C89A02E8537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7325710" y="2547416"/>
                <a:ext cx="1136973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79" name="TextBox 1078">
                <a:extLst>
                  <a:ext uri="{FF2B5EF4-FFF2-40B4-BE49-F238E27FC236}">
                    <a16:creationId xmlns:a16="http://schemas.microsoft.com/office/drawing/2014/main" id="{B3A1A6BB-BE06-E5E5-AC3A-7B64D86DFA38}"/>
                  </a:ext>
                </a:extLst>
              </p:cNvPr>
              <p:cNvSpPr txBox="1"/>
              <p:nvPr/>
            </p:nvSpPr>
            <p:spPr>
              <a:xfrm>
                <a:off x="5261722" y="2124761"/>
                <a:ext cx="2933981" cy="27822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2000" b="1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LLM as search components (World Models)</a:t>
                </a:r>
              </a:p>
            </p:txBody>
          </p: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7C3C99A8-1162-341E-E935-F2E882C9F76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306320" y="2996526"/>
                <a:ext cx="314417" cy="9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598EA741-EDAB-056A-692A-A99A47AFF916}"/>
                  </a:ext>
                </a:extLst>
              </p:cNvPr>
              <p:cNvGrpSpPr/>
              <p:nvPr/>
            </p:nvGrpSpPr>
            <p:grpSpPr>
              <a:xfrm>
                <a:off x="7658078" y="2825526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1054" name="Group 1053">
                  <a:extLst>
                    <a:ext uri="{FF2B5EF4-FFF2-40B4-BE49-F238E27FC236}">
                      <a16:creationId xmlns:a16="http://schemas.microsoft.com/office/drawing/2014/main" id="{867057D0-A95A-83C5-A271-18A6A20D1B9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66" name="Oval 1065">
                    <a:extLst>
                      <a:ext uri="{FF2B5EF4-FFF2-40B4-BE49-F238E27FC236}">
                        <a16:creationId xmlns:a16="http://schemas.microsoft.com/office/drawing/2014/main" id="{72E68F19-2B77-89AF-8C94-DDB1CA94C4E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67" name="Graphic 1066" descr="Transfer with solid fill">
                    <a:extLst>
                      <a:ext uri="{FF2B5EF4-FFF2-40B4-BE49-F238E27FC236}">
                        <a16:creationId xmlns:a16="http://schemas.microsoft.com/office/drawing/2014/main" id="{BF8F6B3E-A1D3-51F5-D95D-3CE6243F625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55" name="Group 1054">
                  <a:extLst>
                    <a:ext uri="{FF2B5EF4-FFF2-40B4-BE49-F238E27FC236}">
                      <a16:creationId xmlns:a16="http://schemas.microsoft.com/office/drawing/2014/main" id="{6A4F83F0-2C0A-197F-B147-349F41D63E9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1056" name="Oval 1055">
                    <a:extLst>
                      <a:ext uri="{FF2B5EF4-FFF2-40B4-BE49-F238E27FC236}">
                        <a16:creationId xmlns:a16="http://schemas.microsoft.com/office/drawing/2014/main" id="{269090EB-7663-5703-372B-68F7A0FDD92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57" name="Graphic 1056" descr="Route (Two Pins With A Path) with solid fill">
                    <a:extLst>
                      <a:ext uri="{FF2B5EF4-FFF2-40B4-BE49-F238E27FC236}">
                        <a16:creationId xmlns:a16="http://schemas.microsoft.com/office/drawing/2014/main" id="{BF7C83D1-9FA4-04C1-7221-789B644A7E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158" name="Group 1157">
              <a:extLst>
                <a:ext uri="{FF2B5EF4-FFF2-40B4-BE49-F238E27FC236}">
                  <a16:creationId xmlns:a16="http://schemas.microsoft.com/office/drawing/2014/main" id="{F29700B4-F47E-A72F-2EAC-121FDD9C47C2}"/>
                </a:ext>
              </a:extLst>
            </p:cNvPr>
            <p:cNvGrpSpPr/>
            <p:nvPr/>
          </p:nvGrpSpPr>
          <p:grpSpPr>
            <a:xfrm>
              <a:off x="5261722" y="2357028"/>
              <a:ext cx="2185673" cy="943795"/>
              <a:chOff x="5051516" y="2357028"/>
              <a:chExt cx="2185673" cy="943795"/>
            </a:xfrm>
          </p:grpSpPr>
          <p:grpSp>
            <p:nvGrpSpPr>
              <p:cNvPr id="1099" name="Group 1098">
                <a:extLst>
                  <a:ext uri="{FF2B5EF4-FFF2-40B4-BE49-F238E27FC236}">
                    <a16:creationId xmlns:a16="http://schemas.microsoft.com/office/drawing/2014/main" id="{9A17859C-CAF1-E5D2-7963-4EB48D777B34}"/>
                  </a:ext>
                </a:extLst>
              </p:cNvPr>
              <p:cNvGrpSpPr/>
              <p:nvPr/>
            </p:nvGrpSpPr>
            <p:grpSpPr>
              <a:xfrm>
                <a:off x="5051516" y="2357028"/>
                <a:ext cx="2185673" cy="943795"/>
                <a:chOff x="5828462" y="4160597"/>
                <a:chExt cx="909706" cy="943795"/>
              </a:xfrm>
            </p:grpSpPr>
            <p:grpSp>
              <p:nvGrpSpPr>
                <p:cNvPr id="1100" name="Group 1099">
                  <a:extLst>
                    <a:ext uri="{FF2B5EF4-FFF2-40B4-BE49-F238E27FC236}">
                      <a16:creationId xmlns:a16="http://schemas.microsoft.com/office/drawing/2014/main" id="{E31B043D-6B53-3E79-E3F6-23A80BC75694}"/>
                    </a:ext>
                  </a:extLst>
                </p:cNvPr>
                <p:cNvGrpSpPr/>
                <p:nvPr/>
              </p:nvGrpSpPr>
              <p:grpSpPr>
                <a:xfrm>
                  <a:off x="5828462" y="4160597"/>
                  <a:ext cx="849836" cy="844571"/>
                  <a:chOff x="9965557" y="888108"/>
                  <a:chExt cx="849836" cy="844571"/>
                </a:xfrm>
              </p:grpSpPr>
              <p:sp>
                <p:nvSpPr>
                  <p:cNvPr id="1102" name="Rectangle 1101">
                    <a:extLst>
                      <a:ext uri="{FF2B5EF4-FFF2-40B4-BE49-F238E27FC236}">
                        <a16:creationId xmlns:a16="http://schemas.microsoft.com/office/drawing/2014/main" id="{FC850B8F-6EFF-F225-4C24-D827356E8E6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965557" y="888108"/>
                    <a:ext cx="849836" cy="844571"/>
                  </a:xfrm>
                  <a:prstGeom prst="rect">
                    <a:avLst/>
                  </a:prstGeom>
                  <a:solidFill>
                    <a:srgbClr val="FFF1F1"/>
                  </a:solidFill>
                  <a:ln w="19050">
                    <a:solidFill>
                      <a:srgbClr val="FA4D5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104" name="Graphic 1103" descr="Search Inventory with solid fill">
                    <a:extLst>
                      <a:ext uri="{FF2B5EF4-FFF2-40B4-BE49-F238E27FC236}">
                        <a16:creationId xmlns:a16="http://schemas.microsoft.com/office/drawing/2014/main" id="{7CCAD661-9426-BCD1-2A06-2D38E43E3E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402199" y="912563"/>
                    <a:ext cx="380734" cy="636289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01" name="TextBox 1100">
                  <a:extLst>
                    <a:ext uri="{FF2B5EF4-FFF2-40B4-BE49-F238E27FC236}">
                      <a16:creationId xmlns:a16="http://schemas.microsoft.com/office/drawing/2014/main" id="{283D9972-D580-823D-43E5-E1FDC41A2A53}"/>
                    </a:ext>
                  </a:extLst>
                </p:cNvPr>
                <p:cNvSpPr txBox="1"/>
                <p:nvPr/>
              </p:nvSpPr>
              <p:spPr>
                <a:xfrm>
                  <a:off x="6135913" y="4791193"/>
                  <a:ext cx="602255" cy="31319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6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Search algorithm</a:t>
                  </a:r>
                </a:p>
              </p:txBody>
            </p:sp>
          </p:grpSp>
          <p:cxnSp>
            <p:nvCxnSpPr>
              <p:cNvPr id="1123" name="Straight Connector 1122">
                <a:extLst>
                  <a:ext uri="{FF2B5EF4-FFF2-40B4-BE49-F238E27FC236}">
                    <a16:creationId xmlns:a16="http://schemas.microsoft.com/office/drawing/2014/main" id="{6C1B9DCD-47A4-AFC8-36B6-B7393835D1A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679300" y="2542165"/>
                <a:ext cx="578133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4" name="Straight Connector 1123">
                <a:extLst>
                  <a:ext uri="{FF2B5EF4-FFF2-40B4-BE49-F238E27FC236}">
                    <a16:creationId xmlns:a16="http://schemas.microsoft.com/office/drawing/2014/main" id="{4CE114B3-9533-2BF4-8889-B9B9DA0B29E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749267" y="2873675"/>
                <a:ext cx="3830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122" name="Group 1121">
                <a:extLst>
                  <a:ext uri="{FF2B5EF4-FFF2-40B4-BE49-F238E27FC236}">
                    <a16:creationId xmlns:a16="http://schemas.microsoft.com/office/drawing/2014/main" id="{9CEB04F3-5A44-2356-C566-B642532172E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132601" y="2494260"/>
                <a:ext cx="561901" cy="563643"/>
                <a:chOff x="2706216" y="2534577"/>
                <a:chExt cx="939638" cy="1039482"/>
              </a:xfrm>
            </p:grpSpPr>
            <p:sp>
              <p:nvSpPr>
                <p:cNvPr id="1125" name="Oval 1124">
                  <a:extLst>
                    <a:ext uri="{FF2B5EF4-FFF2-40B4-BE49-F238E27FC236}">
                      <a16:creationId xmlns:a16="http://schemas.microsoft.com/office/drawing/2014/main" id="{B62E7ADB-B7C9-956B-4A6C-05D6E144009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126" name="Picture 1125">
                  <a:extLst>
                    <a:ext uri="{FF2B5EF4-FFF2-40B4-BE49-F238E27FC236}">
                      <a16:creationId xmlns:a16="http://schemas.microsoft.com/office/drawing/2014/main" id="{D4E632BB-655F-B247-FA86-BA500C7B87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AE7ECF4-9319-4A56-DEB8-A699A5D5DB8C}"/>
              </a:ext>
            </a:extLst>
          </p:cNvPr>
          <p:cNvGrpSpPr/>
          <p:nvPr/>
        </p:nvGrpSpPr>
        <p:grpSpPr>
          <a:xfrm>
            <a:off x="8459575" y="1779950"/>
            <a:ext cx="1312854" cy="1142543"/>
            <a:chOff x="8470238" y="4638689"/>
            <a:chExt cx="1312854" cy="1142543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11E0696-5920-456A-0D69-32B590FE8B7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536959" y="5777245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9076DF-7D7E-336A-84C9-F557FA15297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470238" y="4954882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5CECA25-83C1-F4D1-D88F-E310492CE6EF}"/>
                </a:ext>
              </a:extLst>
            </p:cNvPr>
            <p:cNvSpPr txBox="1"/>
            <p:nvPr/>
          </p:nvSpPr>
          <p:spPr>
            <a:xfrm>
              <a:off x="8549341" y="5416492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509DCEC-9B09-D909-3532-96BF108B1CF9}"/>
                </a:ext>
              </a:extLst>
            </p:cNvPr>
            <p:cNvSpPr txBox="1"/>
            <p:nvPr/>
          </p:nvSpPr>
          <p:spPr>
            <a:xfrm>
              <a:off x="8528118" y="4638689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A93CF8-7E87-E768-9B6F-867F14558313}"/>
              </a:ext>
            </a:extLst>
          </p:cNvPr>
          <p:cNvGrpSpPr/>
          <p:nvPr/>
        </p:nvGrpSpPr>
        <p:grpSpPr>
          <a:xfrm>
            <a:off x="5096166" y="1451475"/>
            <a:ext cx="3354003" cy="2032511"/>
            <a:chOff x="5106326" y="1451475"/>
            <a:chExt cx="3354003" cy="2032511"/>
          </a:xfrm>
        </p:grpSpPr>
        <p:grpSp>
          <p:nvGrpSpPr>
            <p:cNvPr id="1167" name="Group 1166">
              <a:extLst>
                <a:ext uri="{FF2B5EF4-FFF2-40B4-BE49-F238E27FC236}">
                  <a16:creationId xmlns:a16="http://schemas.microsoft.com/office/drawing/2014/main" id="{03B7904D-AE4C-8F52-98F8-8DA5EF1A97AB}"/>
                </a:ext>
              </a:extLst>
            </p:cNvPr>
            <p:cNvGrpSpPr/>
            <p:nvPr/>
          </p:nvGrpSpPr>
          <p:grpSpPr>
            <a:xfrm>
              <a:off x="5219299" y="1451475"/>
              <a:ext cx="3241030" cy="2032511"/>
              <a:chOff x="6657992" y="856293"/>
              <a:chExt cx="1837807" cy="1127312"/>
            </a:xfrm>
          </p:grpSpPr>
          <p:sp>
            <p:nvSpPr>
              <p:cNvPr id="1103" name="Rounded Rectangle 1102">
                <a:extLst>
                  <a:ext uri="{FF2B5EF4-FFF2-40B4-BE49-F238E27FC236}">
                    <a16:creationId xmlns:a16="http://schemas.microsoft.com/office/drawing/2014/main" id="{E82F1DA7-6C88-140A-2044-94EFE6B0F112}"/>
                  </a:ext>
                </a:extLst>
              </p:cNvPr>
              <p:cNvSpPr/>
              <p:nvPr/>
            </p:nvSpPr>
            <p:spPr>
              <a:xfrm>
                <a:off x="6657992" y="856293"/>
                <a:ext cx="1837807" cy="1127312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313ABA29-3DAF-743F-C363-9CBD1E4656E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19088" y="893054"/>
                <a:ext cx="561901" cy="563643"/>
                <a:chOff x="2706216" y="2534577"/>
                <a:chExt cx="939638" cy="1039482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EE933B71-2F1F-8A2D-10E0-424A0286D2B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62" name="Picture 1061">
                  <a:extLst>
                    <a:ext uri="{FF2B5EF4-FFF2-40B4-BE49-F238E27FC236}">
                      <a16:creationId xmlns:a16="http://schemas.microsoft.com/office/drawing/2014/main" id="{CD430864-EBC5-5689-564F-248D45784C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  <p:cxnSp>
            <p:nvCxnSpPr>
              <p:cNvPr id="1274" name="Curved Connector 1273">
                <a:extLst>
                  <a:ext uri="{FF2B5EF4-FFF2-40B4-BE49-F238E27FC236}">
                    <a16:creationId xmlns:a16="http://schemas.microsoft.com/office/drawing/2014/main" id="{20B803B7-6480-2B07-3BF3-5EB3F7CCB8E6}"/>
                  </a:ext>
                </a:extLst>
              </p:cNvPr>
              <p:cNvCxnSpPr>
                <a:cxnSpLocks/>
                <a:stCxn id="8" idx="2"/>
                <a:endCxn id="1077" idx="2"/>
              </p:cNvCxnSpPr>
              <p:nvPr/>
            </p:nvCxnSpPr>
            <p:spPr>
              <a:xfrm rot="10800000" flipV="1">
                <a:off x="7699876" y="1174876"/>
                <a:ext cx="119212" cy="600818"/>
              </a:xfrm>
              <a:prstGeom prst="curvedConnector3">
                <a:avLst>
                  <a:gd name="adj1" fmla="val 582704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68" name="Group 1067">
                <a:extLst>
                  <a:ext uri="{FF2B5EF4-FFF2-40B4-BE49-F238E27FC236}">
                    <a16:creationId xmlns:a16="http://schemas.microsoft.com/office/drawing/2014/main" id="{3F4C6C5A-B0A2-9343-38BA-8B38511061ED}"/>
                  </a:ext>
                </a:extLst>
              </p:cNvPr>
              <p:cNvGrpSpPr/>
              <p:nvPr/>
            </p:nvGrpSpPr>
            <p:grpSpPr>
              <a:xfrm>
                <a:off x="7699876" y="1582585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1070" name="Group 1069">
                  <a:extLst>
                    <a:ext uri="{FF2B5EF4-FFF2-40B4-BE49-F238E27FC236}">
                      <a16:creationId xmlns:a16="http://schemas.microsoft.com/office/drawing/2014/main" id="{7E0A7CFB-F9BC-3B5E-8A2B-1324DC0DB8B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83" name="Oval 1082">
                    <a:extLst>
                      <a:ext uri="{FF2B5EF4-FFF2-40B4-BE49-F238E27FC236}">
                        <a16:creationId xmlns:a16="http://schemas.microsoft.com/office/drawing/2014/main" id="{937D32C9-1259-80B1-AFF9-DE5A5877DBD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85" name="Graphic 1084" descr="Transfer with solid fill">
                    <a:extLst>
                      <a:ext uri="{FF2B5EF4-FFF2-40B4-BE49-F238E27FC236}">
                        <a16:creationId xmlns:a16="http://schemas.microsoft.com/office/drawing/2014/main" id="{A6A96AE1-0080-566C-05EA-47F93315321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75" name="Group 1074">
                  <a:extLst>
                    <a:ext uri="{FF2B5EF4-FFF2-40B4-BE49-F238E27FC236}">
                      <a16:creationId xmlns:a16="http://schemas.microsoft.com/office/drawing/2014/main" id="{1F73A5D5-96A2-2A14-347A-156193976A5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1077" name="Oval 1076">
                    <a:extLst>
                      <a:ext uri="{FF2B5EF4-FFF2-40B4-BE49-F238E27FC236}">
                        <a16:creationId xmlns:a16="http://schemas.microsoft.com/office/drawing/2014/main" id="{D90C84C3-8AE7-4D8F-1DE4-B8B42611F0F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82" name="Graphic 1081" descr="Route (Two Pins With A Path) with solid fill">
                    <a:extLst>
                      <a:ext uri="{FF2B5EF4-FFF2-40B4-BE49-F238E27FC236}">
                        <a16:creationId xmlns:a16="http://schemas.microsoft.com/office/drawing/2014/main" id="{91554B96-0D1E-FE26-55AA-26FD2D891E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9DC7348-0C80-A86D-8C47-BB00E01F24D0}"/>
                </a:ext>
              </a:extLst>
            </p:cNvPr>
            <p:cNvSpPr txBox="1"/>
            <p:nvPr/>
          </p:nvSpPr>
          <p:spPr>
            <a:xfrm>
              <a:off x="5106326" y="1586087"/>
              <a:ext cx="2286695" cy="5016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20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Planner</a:t>
              </a:r>
            </a:p>
          </p:txBody>
        </p: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2878EEAB-85DC-B04A-9B6D-42521C90E6C2}"/>
              </a:ext>
            </a:extLst>
          </p:cNvPr>
          <p:cNvGrpSpPr/>
          <p:nvPr/>
        </p:nvGrpSpPr>
        <p:grpSpPr>
          <a:xfrm>
            <a:off x="184502" y="4044150"/>
            <a:ext cx="3261971" cy="2357812"/>
            <a:chOff x="184502" y="4044150"/>
            <a:chExt cx="3261971" cy="2357812"/>
          </a:xfrm>
        </p:grpSpPr>
        <p:sp>
          <p:nvSpPr>
            <p:cNvPr id="1141" name="TextBox 1140">
              <a:extLst>
                <a:ext uri="{FF2B5EF4-FFF2-40B4-BE49-F238E27FC236}">
                  <a16:creationId xmlns:a16="http://schemas.microsoft.com/office/drawing/2014/main" id="{2211911B-CCCE-33D0-B875-C74788714EDD}"/>
                </a:ext>
              </a:extLst>
            </p:cNvPr>
            <p:cNvSpPr txBox="1"/>
            <p:nvPr/>
          </p:nvSpPr>
          <p:spPr>
            <a:xfrm>
              <a:off x="184502" y="4933480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Yao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NeurIPS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2023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05543334-B082-B607-BF49-055BA9B95C77}"/>
                </a:ext>
              </a:extLst>
            </p:cNvPr>
            <p:cNvSpPr txBox="1"/>
            <p:nvPr/>
          </p:nvSpPr>
          <p:spPr>
            <a:xfrm>
              <a:off x="204071" y="5534285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Zhou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ICML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2024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A3D4D440-28D2-9C64-F228-448E1DC3B11C}"/>
                </a:ext>
              </a:extLst>
            </p:cNvPr>
            <p:cNvSpPr txBox="1"/>
            <p:nvPr/>
          </p:nvSpPr>
          <p:spPr>
            <a:xfrm>
              <a:off x="201901" y="5808097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Sel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ICML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2024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44" name="TextBox 1143">
              <a:extLst>
                <a:ext uri="{FF2B5EF4-FFF2-40B4-BE49-F238E27FC236}">
                  <a16:creationId xmlns:a16="http://schemas.microsoft.com/office/drawing/2014/main" id="{3FA2A78C-3155-CE7B-C25C-532F1A7E383A}"/>
                </a:ext>
              </a:extLst>
            </p:cNvPr>
            <p:cNvSpPr txBox="1"/>
            <p:nvPr/>
          </p:nvSpPr>
          <p:spPr>
            <a:xfrm>
              <a:off x="194092" y="6063408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Besta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AAAI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2024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D71666F2-111F-47D5-0A65-312695BD4BCB}"/>
                </a:ext>
              </a:extLst>
            </p:cNvPr>
            <p:cNvSpPr txBox="1"/>
            <p:nvPr/>
          </p:nvSpPr>
          <p:spPr>
            <a:xfrm>
              <a:off x="194092" y="4044150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Yao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ICLR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2023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B14DA63D-17DD-ECCE-6EEC-1FB68A539F31}"/>
                </a:ext>
              </a:extLst>
            </p:cNvPr>
            <p:cNvSpPr txBox="1"/>
            <p:nvPr/>
          </p:nvSpPr>
          <p:spPr>
            <a:xfrm>
              <a:off x="201901" y="4331750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Xu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Arxiv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2023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1E8F8F09-2999-71BF-1125-BC8EF4D5D9DF}"/>
                </a:ext>
              </a:extLst>
            </p:cNvPr>
            <p:cNvSpPr txBox="1"/>
            <p:nvPr/>
          </p:nvSpPr>
          <p:spPr>
            <a:xfrm>
              <a:off x="189407" y="4628712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Hao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EMNLP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2023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64516B04-DCD6-76F5-0FEC-C27F8128DDAA}"/>
                </a:ext>
              </a:extLst>
            </p:cNvPr>
            <p:cNvSpPr txBox="1"/>
            <p:nvPr/>
          </p:nvSpPr>
          <p:spPr>
            <a:xfrm>
              <a:off x="199146" y="5225549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Shinn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NeurIPS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2023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027713-CCF2-F4C4-12EC-3551B7B64378}"/>
              </a:ext>
            </a:extLst>
          </p:cNvPr>
          <p:cNvSpPr txBox="1"/>
          <p:nvPr/>
        </p:nvSpPr>
        <p:spPr>
          <a:xfrm>
            <a:off x="1248760" y="2020075"/>
            <a:ext cx="377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Previous lecture by Augusto Corrêa</a:t>
            </a:r>
          </a:p>
        </p:txBody>
      </p:sp>
    </p:spTree>
    <p:extLst>
      <p:ext uri="{BB962C8B-B14F-4D97-AF65-F5344CB8AC3E}">
        <p14:creationId xmlns:p14="http://schemas.microsoft.com/office/powerpoint/2010/main" val="41240977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3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1E005-051A-6D74-AE70-BEF7A312A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D866055F-9B11-D704-5EE5-A76E7F3A0AB9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CC664292-32BB-0437-31A3-124007755D77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92C256E6-86D8-EBEA-C23B-A61094BEEF9B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77424A7-52E0-4441-9DA6-14102FDB7E6F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C7606B9-84AD-9B21-986F-A3FEEC22BA08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11BDB525-B8BB-F40B-AEC4-721E09B498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9FE5D4DD-5018-A7B8-61DD-98DEE9C90181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2C6AFD3C-7116-8F2A-9612-73FC08B5016E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EE89225B-3212-D2EB-2731-D23F5C1DBB20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020DA36F-2D09-7783-44B1-A33C71018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LLM as a World Model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0A33CF-E973-71E4-3DCC-B04778B49590}"/>
              </a:ext>
            </a:extLst>
          </p:cNvPr>
          <p:cNvGrpSpPr/>
          <p:nvPr/>
        </p:nvGrpSpPr>
        <p:grpSpPr>
          <a:xfrm>
            <a:off x="184502" y="817487"/>
            <a:ext cx="9598590" cy="2357812"/>
            <a:chOff x="184502" y="4044150"/>
            <a:chExt cx="9598590" cy="23578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1B579D6-63FD-4FDB-0B45-A7B2C306F5F3}"/>
                </a:ext>
              </a:extLst>
            </p:cNvPr>
            <p:cNvGrpSpPr/>
            <p:nvPr/>
          </p:nvGrpSpPr>
          <p:grpSpPr>
            <a:xfrm>
              <a:off x="8470238" y="4638689"/>
              <a:ext cx="1312854" cy="1142543"/>
              <a:chOff x="8470238" y="4638689"/>
              <a:chExt cx="1312854" cy="1142543"/>
            </a:xfrm>
          </p:grpSpPr>
          <p:cxnSp>
            <p:nvCxnSpPr>
              <p:cNvPr id="1113" name="Straight Connector 1112">
                <a:extLst>
                  <a:ext uri="{FF2B5EF4-FFF2-40B4-BE49-F238E27FC236}">
                    <a16:creationId xmlns:a16="http://schemas.microsoft.com/office/drawing/2014/main" id="{FE1FEFE6-3933-3B45-8E0A-1B9427ECAFE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8536959" y="5777245"/>
                <a:ext cx="1246133" cy="398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4" name="Straight Connector 1113">
                <a:extLst>
                  <a:ext uri="{FF2B5EF4-FFF2-40B4-BE49-F238E27FC236}">
                    <a16:creationId xmlns:a16="http://schemas.microsoft.com/office/drawing/2014/main" id="{05DC07E7-7630-27E5-0A2B-8F03BB0F131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470238" y="4954882"/>
                <a:ext cx="1272113" cy="16053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7062A952-C5C7-40CA-D98A-E60282E1BB6F}"/>
                  </a:ext>
                </a:extLst>
              </p:cNvPr>
              <p:cNvSpPr txBox="1"/>
              <p:nvPr/>
            </p:nvSpPr>
            <p:spPr>
              <a:xfrm>
                <a:off x="8549341" y="5416492"/>
                <a:ext cx="11592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Action/plan</a:t>
                </a:r>
              </a:p>
            </p:txBody>
          </p:sp>
          <p:sp>
            <p:nvSpPr>
              <p:cNvPr id="1117" name="TextBox 1116">
                <a:extLst>
                  <a:ext uri="{FF2B5EF4-FFF2-40B4-BE49-F238E27FC236}">
                    <a16:creationId xmlns:a16="http://schemas.microsoft.com/office/drawing/2014/main" id="{2F1E2709-C09B-2128-ABAB-D8F7404B599B}"/>
                  </a:ext>
                </a:extLst>
              </p:cNvPr>
              <p:cNvSpPr txBox="1"/>
              <p:nvPr/>
            </p:nvSpPr>
            <p:spPr>
              <a:xfrm>
                <a:off x="8528118" y="4638689"/>
                <a:ext cx="12017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Observation</a:t>
                </a:r>
              </a:p>
            </p:txBody>
          </p:sp>
        </p:grpSp>
        <p:grpSp>
          <p:nvGrpSpPr>
            <p:cNvPr id="1161" name="Group 1160">
              <a:extLst>
                <a:ext uri="{FF2B5EF4-FFF2-40B4-BE49-F238E27FC236}">
                  <a16:creationId xmlns:a16="http://schemas.microsoft.com/office/drawing/2014/main" id="{6D79B303-C413-A718-BE64-BC06DB14D025}"/>
                </a:ext>
              </a:extLst>
            </p:cNvPr>
            <p:cNvGrpSpPr/>
            <p:nvPr/>
          </p:nvGrpSpPr>
          <p:grpSpPr>
            <a:xfrm>
              <a:off x="2442299" y="4144587"/>
              <a:ext cx="6017276" cy="2215587"/>
              <a:chOff x="5097517" y="2113263"/>
              <a:chExt cx="3384020" cy="1187560"/>
            </a:xfrm>
          </p:grpSpPr>
          <p:grpSp>
            <p:nvGrpSpPr>
              <p:cNvPr id="1160" name="Group 1159">
                <a:extLst>
                  <a:ext uri="{FF2B5EF4-FFF2-40B4-BE49-F238E27FC236}">
                    <a16:creationId xmlns:a16="http://schemas.microsoft.com/office/drawing/2014/main" id="{3B37CE7B-5E11-1BE2-DC89-D7AA6A187985}"/>
                  </a:ext>
                </a:extLst>
              </p:cNvPr>
              <p:cNvGrpSpPr/>
              <p:nvPr/>
            </p:nvGrpSpPr>
            <p:grpSpPr>
              <a:xfrm>
                <a:off x="5097517" y="2113263"/>
                <a:ext cx="3384020" cy="1125790"/>
                <a:chOff x="5097517" y="2113263"/>
                <a:chExt cx="3384020" cy="1125790"/>
              </a:xfrm>
            </p:grpSpPr>
            <p:sp>
              <p:nvSpPr>
                <p:cNvPr id="1076" name="Rounded Rectangle 1075">
                  <a:extLst>
                    <a:ext uri="{FF2B5EF4-FFF2-40B4-BE49-F238E27FC236}">
                      <a16:creationId xmlns:a16="http://schemas.microsoft.com/office/drawing/2014/main" id="{DA9C9D08-9EE0-BDAB-A83C-7623FDB87292}"/>
                    </a:ext>
                  </a:extLst>
                </p:cNvPr>
                <p:cNvSpPr/>
                <p:nvPr/>
              </p:nvSpPr>
              <p:spPr>
                <a:xfrm>
                  <a:off x="5097517" y="2113263"/>
                  <a:ext cx="3384020" cy="1125790"/>
                </a:xfrm>
                <a:prstGeom prst="roundRect">
                  <a:avLst/>
                </a:prstGeom>
                <a:solidFill>
                  <a:schemeClr val="accent1">
                    <a:alpha val="43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78" name="Straight Connector 1077">
                  <a:extLst>
                    <a:ext uri="{FF2B5EF4-FFF2-40B4-BE49-F238E27FC236}">
                      <a16:creationId xmlns:a16="http://schemas.microsoft.com/office/drawing/2014/main" id="{E44FC44E-2FC4-61FB-C219-F4F3B742BF63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7325710" y="2547416"/>
                  <a:ext cx="113697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91244AD2-BED0-A3BC-ABD8-E64D36B1C104}"/>
                    </a:ext>
                  </a:extLst>
                </p:cNvPr>
                <p:cNvSpPr txBox="1"/>
                <p:nvPr/>
              </p:nvSpPr>
              <p:spPr>
                <a:xfrm>
                  <a:off x="5261722" y="2124761"/>
                  <a:ext cx="2933981" cy="27822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2000" b="1" kern="0" dirty="0">
                      <a:solidFill>
                        <a:srgbClr val="000000"/>
                      </a:solidFill>
                      <a:sym typeface="IBM Plex Sans Light"/>
                    </a:rPr>
                    <a:t>LLM as search components (World Models)</a:t>
                  </a:r>
                </a:p>
              </p:txBody>
            </p:sp>
            <p:cxnSp>
              <p:nvCxnSpPr>
                <p:cNvPr id="1081" name="Straight Connector 1080">
                  <a:extLst>
                    <a:ext uri="{FF2B5EF4-FFF2-40B4-BE49-F238E27FC236}">
                      <a16:creationId xmlns:a16="http://schemas.microsoft.com/office/drawing/2014/main" id="{ED99D3B2-D32C-CA43-6FB1-A6E73F37897B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306320" y="2996526"/>
                  <a:ext cx="314417" cy="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049" name="Group 1048">
                  <a:extLst>
                    <a:ext uri="{FF2B5EF4-FFF2-40B4-BE49-F238E27FC236}">
                      <a16:creationId xmlns:a16="http://schemas.microsoft.com/office/drawing/2014/main" id="{E93547D6-99B8-D97D-AD88-159FD2187BCD}"/>
                    </a:ext>
                  </a:extLst>
                </p:cNvPr>
                <p:cNvGrpSpPr/>
                <p:nvPr/>
              </p:nvGrpSpPr>
              <p:grpSpPr>
                <a:xfrm>
                  <a:off x="7658078" y="2825526"/>
                  <a:ext cx="773317" cy="381910"/>
                  <a:chOff x="7498472" y="1277142"/>
                  <a:chExt cx="773317" cy="381910"/>
                </a:xfrm>
              </p:grpSpPr>
              <p:grpSp>
                <p:nvGrpSpPr>
                  <p:cNvPr id="1054" name="Group 1053">
                    <a:extLst>
                      <a:ext uri="{FF2B5EF4-FFF2-40B4-BE49-F238E27FC236}">
                        <a16:creationId xmlns:a16="http://schemas.microsoft.com/office/drawing/2014/main" id="{DE52B3F0-1968-CDD2-4BAB-3183AF882DF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890839" y="1277142"/>
                    <a:ext cx="380950" cy="380433"/>
                    <a:chOff x="3293553" y="4938168"/>
                    <a:chExt cx="845421" cy="845419"/>
                  </a:xfrm>
                </p:grpSpPr>
                <p:sp>
                  <p:nvSpPr>
                    <p:cNvPr id="1066" name="Oval 1065">
                      <a:extLst>
                        <a:ext uri="{FF2B5EF4-FFF2-40B4-BE49-F238E27FC236}">
                          <a16:creationId xmlns:a16="http://schemas.microsoft.com/office/drawing/2014/main" id="{02E3BE26-3E5A-8DC7-8174-07709D9AC56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3293553" y="4938168"/>
                      <a:ext cx="845421" cy="8454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67" name="Graphic 1066" descr="Transfer with solid fill">
                      <a:extLst>
                        <a:ext uri="{FF2B5EF4-FFF2-40B4-BE49-F238E27FC236}">
                          <a16:creationId xmlns:a16="http://schemas.microsoft.com/office/drawing/2014/main" id="{B4664B8B-0F89-4A85-1ABD-6711978B1C6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515976" y="5157680"/>
                      <a:ext cx="457140" cy="45714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55" name="Group 1054">
                    <a:extLst>
                      <a:ext uri="{FF2B5EF4-FFF2-40B4-BE49-F238E27FC236}">
                        <a16:creationId xmlns:a16="http://schemas.microsoft.com/office/drawing/2014/main" id="{412CB019-4F17-20FF-88F9-B144829CD79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498472" y="1281450"/>
                    <a:ext cx="380292" cy="377602"/>
                    <a:chOff x="1429103" y="4084579"/>
                    <a:chExt cx="842519" cy="842520"/>
                  </a:xfrm>
                </p:grpSpPr>
                <p:sp>
                  <p:nvSpPr>
                    <p:cNvPr id="1056" name="Oval 1055">
                      <a:extLst>
                        <a:ext uri="{FF2B5EF4-FFF2-40B4-BE49-F238E27FC236}">
                          <a16:creationId xmlns:a16="http://schemas.microsoft.com/office/drawing/2014/main" id="{4090D5B4-6C5C-04A8-C314-624543AE4C3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29103" y="4084579"/>
                      <a:ext cx="842519" cy="84252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57" name="Graphic 1056" descr="Route (Two Pins With A Path) with solid fill">
                      <a:extLst>
                        <a:ext uri="{FF2B5EF4-FFF2-40B4-BE49-F238E27FC236}">
                          <a16:creationId xmlns:a16="http://schemas.microsoft.com/office/drawing/2014/main" id="{0EFE0C32-D544-2CD2-955E-46A220A1B26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606970" y="4288688"/>
                      <a:ext cx="457141" cy="457141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1158" name="Group 1157">
                <a:extLst>
                  <a:ext uri="{FF2B5EF4-FFF2-40B4-BE49-F238E27FC236}">
                    <a16:creationId xmlns:a16="http://schemas.microsoft.com/office/drawing/2014/main" id="{3215E453-DD34-D3ED-3577-1F386BD1A0A6}"/>
                  </a:ext>
                </a:extLst>
              </p:cNvPr>
              <p:cNvGrpSpPr/>
              <p:nvPr/>
            </p:nvGrpSpPr>
            <p:grpSpPr>
              <a:xfrm>
                <a:off x="5261722" y="2357028"/>
                <a:ext cx="2185673" cy="943795"/>
                <a:chOff x="5051516" y="2357028"/>
                <a:chExt cx="2185673" cy="943795"/>
              </a:xfrm>
            </p:grpSpPr>
            <p:grpSp>
              <p:nvGrpSpPr>
                <p:cNvPr id="1099" name="Group 1098">
                  <a:extLst>
                    <a:ext uri="{FF2B5EF4-FFF2-40B4-BE49-F238E27FC236}">
                      <a16:creationId xmlns:a16="http://schemas.microsoft.com/office/drawing/2014/main" id="{7B95EB0D-5DBB-2890-7862-4883FD47F61B}"/>
                    </a:ext>
                  </a:extLst>
                </p:cNvPr>
                <p:cNvGrpSpPr/>
                <p:nvPr/>
              </p:nvGrpSpPr>
              <p:grpSpPr>
                <a:xfrm>
                  <a:off x="5051516" y="2357028"/>
                  <a:ext cx="2185673" cy="943795"/>
                  <a:chOff x="5828462" y="4160597"/>
                  <a:chExt cx="909706" cy="943795"/>
                </a:xfrm>
              </p:grpSpPr>
              <p:grpSp>
                <p:nvGrpSpPr>
                  <p:cNvPr id="1100" name="Group 1099">
                    <a:extLst>
                      <a:ext uri="{FF2B5EF4-FFF2-40B4-BE49-F238E27FC236}">
                        <a16:creationId xmlns:a16="http://schemas.microsoft.com/office/drawing/2014/main" id="{3EC1F1A8-872F-9ECE-64C4-7284EEA85120}"/>
                      </a:ext>
                    </a:extLst>
                  </p:cNvPr>
                  <p:cNvGrpSpPr/>
                  <p:nvPr/>
                </p:nvGrpSpPr>
                <p:grpSpPr>
                  <a:xfrm>
                    <a:off x="5828462" y="4160597"/>
                    <a:ext cx="849836" cy="844571"/>
                    <a:chOff x="9965557" y="888108"/>
                    <a:chExt cx="849836" cy="844571"/>
                  </a:xfrm>
                </p:grpSpPr>
                <p:sp>
                  <p:nvSpPr>
                    <p:cNvPr id="1102" name="Rectangle 1101">
                      <a:extLst>
                        <a:ext uri="{FF2B5EF4-FFF2-40B4-BE49-F238E27FC236}">
                          <a16:creationId xmlns:a16="http://schemas.microsoft.com/office/drawing/2014/main" id="{B7B14B29-90C5-8BB5-86BA-BED12D71377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65557" y="888108"/>
                      <a:ext cx="849836" cy="844571"/>
                    </a:xfrm>
                    <a:prstGeom prst="rect">
                      <a:avLst/>
                    </a:prstGeom>
                    <a:solidFill>
                      <a:srgbClr val="FFF1F1"/>
                    </a:solidFill>
                    <a:ln w="19050">
                      <a:solidFill>
                        <a:srgbClr val="FA4D56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104" name="Graphic 1103" descr="Search Inventory with solid fill">
                      <a:extLst>
                        <a:ext uri="{FF2B5EF4-FFF2-40B4-BE49-F238E27FC236}">
                          <a16:creationId xmlns:a16="http://schemas.microsoft.com/office/drawing/2014/main" id="{7FC63762-9F28-E207-FB9A-C1B7912C7CC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402199" y="912563"/>
                      <a:ext cx="380734" cy="636289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101" name="TextBox 1100">
                    <a:extLst>
                      <a:ext uri="{FF2B5EF4-FFF2-40B4-BE49-F238E27FC236}">
                        <a16:creationId xmlns:a16="http://schemas.microsoft.com/office/drawing/2014/main" id="{0126F02C-3642-31AA-53D4-4DCAA9ECEF7E}"/>
                      </a:ext>
                    </a:extLst>
                  </p:cNvPr>
                  <p:cNvSpPr txBox="1"/>
                  <p:nvPr/>
                </p:nvSpPr>
                <p:spPr>
                  <a:xfrm>
                    <a:off x="6135913" y="4791193"/>
                    <a:ext cx="602255" cy="313199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ctr" defTabSz="1218956">
                      <a:lnSpc>
                        <a:spcPct val="110000"/>
                      </a:lnSpc>
                      <a:buSzPct val="100000"/>
                    </a:pPr>
                    <a:r>
                      <a:rPr lang="en-US" sz="1600" kern="0" dirty="0">
                        <a:solidFill>
                          <a:srgbClr val="000000"/>
                        </a:solidFill>
                        <a:ea typeface="+mj-ea"/>
                        <a:cs typeface="+mj-cs"/>
                        <a:sym typeface="IBM Plex Sans Light"/>
                      </a:rPr>
                      <a:t>Search algorithm</a:t>
                    </a:r>
                  </a:p>
                </p:txBody>
              </p:sp>
            </p:grpSp>
            <p:cxnSp>
              <p:nvCxnSpPr>
                <p:cNvPr id="1123" name="Straight Connector 1122">
                  <a:extLst>
                    <a:ext uri="{FF2B5EF4-FFF2-40B4-BE49-F238E27FC236}">
                      <a16:creationId xmlns:a16="http://schemas.microsoft.com/office/drawing/2014/main" id="{653FBE84-FCCD-438F-FC4C-2693C448ED0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5679300" y="2542165"/>
                  <a:ext cx="57813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4" name="Straight Connector 1123">
                  <a:extLst>
                    <a:ext uri="{FF2B5EF4-FFF2-40B4-BE49-F238E27FC236}">
                      <a16:creationId xmlns:a16="http://schemas.microsoft.com/office/drawing/2014/main" id="{CE35D99B-05CF-842A-0DCC-A15500307C4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749267" y="2873675"/>
                  <a:ext cx="38307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22" name="Group 1121">
                  <a:extLst>
                    <a:ext uri="{FF2B5EF4-FFF2-40B4-BE49-F238E27FC236}">
                      <a16:creationId xmlns:a16="http://schemas.microsoft.com/office/drawing/2014/main" id="{5D08D2E7-506F-E6BC-EA4E-DA678AE3665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132601" y="2494260"/>
                  <a:ext cx="561901" cy="563643"/>
                  <a:chOff x="2706216" y="2534577"/>
                  <a:chExt cx="939638" cy="1039482"/>
                </a:xfrm>
              </p:grpSpPr>
              <p:sp>
                <p:nvSpPr>
                  <p:cNvPr id="1125" name="Oval 1124">
                    <a:extLst>
                      <a:ext uri="{FF2B5EF4-FFF2-40B4-BE49-F238E27FC236}">
                        <a16:creationId xmlns:a16="http://schemas.microsoft.com/office/drawing/2014/main" id="{A083D067-6364-898D-0071-ED79E41F182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2706216" y="2534577"/>
                    <a:ext cx="939638" cy="1039482"/>
                  </a:xfrm>
                  <a:prstGeom prst="ellipse">
                    <a:avLst/>
                  </a:prstGeom>
                  <a:solidFill>
                    <a:srgbClr val="FFD6E8"/>
                  </a:solidFill>
                  <a:ln w="19050">
                    <a:solidFill>
                      <a:srgbClr val="EE539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126" name="Picture 1125">
                    <a:extLst>
                      <a:ext uri="{FF2B5EF4-FFF2-40B4-BE49-F238E27FC236}">
                        <a16:creationId xmlns:a16="http://schemas.microsoft.com/office/drawing/2014/main" id="{56AC0DF9-BF21-9CB0-6155-3BAB24C0312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903410" y="2809340"/>
                    <a:ext cx="620646" cy="620646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B8B01799-A2BE-0021-E9D9-844F33672CE1}"/>
                </a:ext>
              </a:extLst>
            </p:cNvPr>
            <p:cNvGrpSpPr/>
            <p:nvPr/>
          </p:nvGrpSpPr>
          <p:grpSpPr>
            <a:xfrm>
              <a:off x="184502" y="4044150"/>
              <a:ext cx="3261971" cy="2357812"/>
              <a:chOff x="184502" y="4044150"/>
              <a:chExt cx="3261971" cy="2357812"/>
            </a:xfrm>
          </p:grpSpPr>
          <p:sp>
            <p:nvSpPr>
              <p:cNvPr id="1141" name="TextBox 1140">
                <a:extLst>
                  <a:ext uri="{FF2B5EF4-FFF2-40B4-BE49-F238E27FC236}">
                    <a16:creationId xmlns:a16="http://schemas.microsoft.com/office/drawing/2014/main" id="{629BEF03-140D-38A4-91DC-766FB7C8F9D9}"/>
                  </a:ext>
                </a:extLst>
              </p:cNvPr>
              <p:cNvSpPr txBox="1"/>
              <p:nvPr/>
            </p:nvSpPr>
            <p:spPr>
              <a:xfrm>
                <a:off x="184502" y="493348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2" name="TextBox 1141">
                <a:extLst>
                  <a:ext uri="{FF2B5EF4-FFF2-40B4-BE49-F238E27FC236}">
                    <a16:creationId xmlns:a16="http://schemas.microsoft.com/office/drawing/2014/main" id="{40FD2FC5-7012-AAA3-7C05-2E1D7967E005}"/>
                  </a:ext>
                </a:extLst>
              </p:cNvPr>
              <p:cNvSpPr txBox="1"/>
              <p:nvPr/>
            </p:nvSpPr>
            <p:spPr>
              <a:xfrm>
                <a:off x="204071" y="5534285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Zhou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3" name="TextBox 1142">
                <a:extLst>
                  <a:ext uri="{FF2B5EF4-FFF2-40B4-BE49-F238E27FC236}">
                    <a16:creationId xmlns:a16="http://schemas.microsoft.com/office/drawing/2014/main" id="{DEAD82A2-61F1-46D7-ABC9-9ED1C6D4111F}"/>
                  </a:ext>
                </a:extLst>
              </p:cNvPr>
              <p:cNvSpPr txBox="1"/>
              <p:nvPr/>
            </p:nvSpPr>
            <p:spPr>
              <a:xfrm>
                <a:off x="201901" y="5808097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Sel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4" name="TextBox 1143">
                <a:extLst>
                  <a:ext uri="{FF2B5EF4-FFF2-40B4-BE49-F238E27FC236}">
                    <a16:creationId xmlns:a16="http://schemas.microsoft.com/office/drawing/2014/main" id="{6B1F1014-8562-97F0-084E-5D2BBD472BCE}"/>
                  </a:ext>
                </a:extLst>
              </p:cNvPr>
              <p:cNvSpPr txBox="1"/>
              <p:nvPr/>
            </p:nvSpPr>
            <p:spPr>
              <a:xfrm>
                <a:off x="194092" y="6063408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Besta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AAAI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1EB693FB-8654-7FBA-DBEB-622441D5CA77}"/>
                  </a:ext>
                </a:extLst>
              </p:cNvPr>
              <p:cNvSpPr txBox="1"/>
              <p:nvPr/>
            </p:nvSpPr>
            <p:spPr>
              <a:xfrm>
                <a:off x="194092" y="40441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ICLR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34F4E7F6-E78E-24DE-E340-684B906BBFD1}"/>
                  </a:ext>
                </a:extLst>
              </p:cNvPr>
              <p:cNvSpPr txBox="1"/>
              <p:nvPr/>
            </p:nvSpPr>
            <p:spPr>
              <a:xfrm>
                <a:off x="201901" y="43317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Xu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Arxiv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AF07ED2D-2C54-2A56-2ADF-F29223D27AAB}"/>
                  </a:ext>
                </a:extLst>
              </p:cNvPr>
              <p:cNvSpPr txBox="1"/>
              <p:nvPr/>
            </p:nvSpPr>
            <p:spPr>
              <a:xfrm>
                <a:off x="189407" y="4628712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EMNLP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3DECB9EE-E096-174D-64A7-62B9D439ED1B}"/>
                  </a:ext>
                </a:extLst>
              </p:cNvPr>
              <p:cNvSpPr txBox="1"/>
              <p:nvPr/>
            </p:nvSpPr>
            <p:spPr>
              <a:xfrm>
                <a:off x="199146" y="5225549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Shinn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1FCB797-D019-3B83-F150-157279D2D04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058"/>
          <a:stretch>
            <a:fillRect/>
          </a:stretch>
        </p:blipFill>
        <p:spPr>
          <a:xfrm>
            <a:off x="1527357" y="3434512"/>
            <a:ext cx="6702434" cy="336559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871B5A3-05E4-53B8-33EB-59487712853F}"/>
              </a:ext>
            </a:extLst>
          </p:cNvPr>
          <p:cNvGrpSpPr/>
          <p:nvPr/>
        </p:nvGrpSpPr>
        <p:grpSpPr>
          <a:xfrm>
            <a:off x="2723862" y="3192386"/>
            <a:ext cx="1126708" cy="3187392"/>
            <a:chOff x="2723862" y="3192386"/>
            <a:chExt cx="1126708" cy="3187392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5E794261-8B48-0487-00D5-6CFA9B604232}"/>
                </a:ext>
              </a:extLst>
            </p:cNvPr>
            <p:cNvSpPr/>
            <p:nvPr/>
          </p:nvSpPr>
          <p:spPr>
            <a:xfrm>
              <a:off x="2878460" y="3852777"/>
              <a:ext cx="499570" cy="2527001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ounded Rectangular Callout 11">
              <a:extLst>
                <a:ext uri="{FF2B5EF4-FFF2-40B4-BE49-F238E27FC236}">
                  <a16:creationId xmlns:a16="http://schemas.microsoft.com/office/drawing/2014/main" id="{957B5F70-521A-EC59-B391-10B8899FE98C}"/>
                </a:ext>
              </a:extLst>
            </p:cNvPr>
            <p:cNvSpPr/>
            <p:nvPr/>
          </p:nvSpPr>
          <p:spPr>
            <a:xfrm>
              <a:off x="2723862" y="3192386"/>
              <a:ext cx="1126708" cy="563495"/>
            </a:xfrm>
            <a:prstGeom prst="wedgeRoundRectCallou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29278C9-A767-C6E3-C397-6B1C0CA13573}"/>
                </a:ext>
              </a:extLst>
            </p:cNvPr>
            <p:cNvSpPr txBox="1"/>
            <p:nvPr/>
          </p:nvSpPr>
          <p:spPr>
            <a:xfrm>
              <a:off x="2808559" y="3296227"/>
              <a:ext cx="957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Ask LLM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124E85-6634-896A-E276-DF27110E55A2}"/>
              </a:ext>
            </a:extLst>
          </p:cNvPr>
          <p:cNvGrpSpPr/>
          <p:nvPr/>
        </p:nvGrpSpPr>
        <p:grpSpPr>
          <a:xfrm>
            <a:off x="4221134" y="3096232"/>
            <a:ext cx="3144794" cy="1219780"/>
            <a:chOff x="4221134" y="3096232"/>
            <a:chExt cx="3144794" cy="1219780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C2775F75-B606-6FD2-755A-C65D083BEA08}"/>
                </a:ext>
              </a:extLst>
            </p:cNvPr>
            <p:cNvSpPr/>
            <p:nvPr/>
          </p:nvSpPr>
          <p:spPr>
            <a:xfrm rot="1412612">
              <a:off x="4221134" y="3767565"/>
              <a:ext cx="3144794" cy="548447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ounded Rectangular Callout 16">
              <a:extLst>
                <a:ext uri="{FF2B5EF4-FFF2-40B4-BE49-F238E27FC236}">
                  <a16:creationId xmlns:a16="http://schemas.microsoft.com/office/drawing/2014/main" id="{15A66E80-AD29-513E-7012-BA90C0D4BE99}"/>
                </a:ext>
              </a:extLst>
            </p:cNvPr>
            <p:cNvSpPr/>
            <p:nvPr/>
          </p:nvSpPr>
          <p:spPr>
            <a:xfrm>
              <a:off x="5658449" y="3096232"/>
              <a:ext cx="1126708" cy="563495"/>
            </a:xfrm>
            <a:prstGeom prst="wedgeRoundRectCallout">
              <a:avLst>
                <a:gd name="adj1" fmla="val -21766"/>
                <a:gd name="adj2" fmla="val 73691"/>
                <a:gd name="adj3" fmla="val 16667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8D44D7-3A2D-DFA9-35CB-658310D84906}"/>
                </a:ext>
              </a:extLst>
            </p:cNvPr>
            <p:cNvSpPr txBox="1"/>
            <p:nvPr/>
          </p:nvSpPr>
          <p:spPr>
            <a:xfrm>
              <a:off x="5663408" y="3182669"/>
              <a:ext cx="957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Ask LLM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61031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3E90B-F9E2-B48A-4B4B-6C75166B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E7A83B26-3F74-308B-C148-151F4D854F36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D14BF285-C63A-C9F6-6679-8CC562E022B0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46F320F-FF9B-8F36-3460-9F3FD471B7F9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CDC61A9-E1B9-FBC2-AC2B-91F2F76C298C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03777701-7EFB-6C00-0986-791119166F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C3E13AE8-F508-3915-68B5-C259EB9ED462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14845BA9-9FC6-0773-E46F-6483B3CDD4F6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6B558866-A851-6246-9A0B-5F5E5849D526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F9529855-2966-CEF8-6983-4BDCDDB6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LLM as a World Model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06E8607-BE7A-9C78-BFA1-79CE5637A58B}"/>
              </a:ext>
            </a:extLst>
          </p:cNvPr>
          <p:cNvGrpSpPr/>
          <p:nvPr/>
        </p:nvGrpSpPr>
        <p:grpSpPr>
          <a:xfrm>
            <a:off x="184502" y="817487"/>
            <a:ext cx="9598590" cy="2357812"/>
            <a:chOff x="184502" y="4044150"/>
            <a:chExt cx="9598590" cy="23578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9A2D33C-E7BF-9BFE-8ABC-9B15585ABA61}"/>
                </a:ext>
              </a:extLst>
            </p:cNvPr>
            <p:cNvGrpSpPr/>
            <p:nvPr/>
          </p:nvGrpSpPr>
          <p:grpSpPr>
            <a:xfrm>
              <a:off x="8470238" y="4638689"/>
              <a:ext cx="1312854" cy="1142543"/>
              <a:chOff x="8470238" y="4638689"/>
              <a:chExt cx="1312854" cy="1142543"/>
            </a:xfrm>
          </p:grpSpPr>
          <p:cxnSp>
            <p:nvCxnSpPr>
              <p:cNvPr id="1113" name="Straight Connector 1112">
                <a:extLst>
                  <a:ext uri="{FF2B5EF4-FFF2-40B4-BE49-F238E27FC236}">
                    <a16:creationId xmlns:a16="http://schemas.microsoft.com/office/drawing/2014/main" id="{56CCF35C-5935-CC5F-A0FA-82EC0BA76BC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8536959" y="5777245"/>
                <a:ext cx="1246133" cy="398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4" name="Straight Connector 1113">
                <a:extLst>
                  <a:ext uri="{FF2B5EF4-FFF2-40B4-BE49-F238E27FC236}">
                    <a16:creationId xmlns:a16="http://schemas.microsoft.com/office/drawing/2014/main" id="{7F4A3B54-6014-BCAE-63FD-3CB97F28DFB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470238" y="4954882"/>
                <a:ext cx="1272113" cy="16053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6F20BCF8-2EAB-A8ED-4F74-535112B5C2C7}"/>
                  </a:ext>
                </a:extLst>
              </p:cNvPr>
              <p:cNvSpPr txBox="1"/>
              <p:nvPr/>
            </p:nvSpPr>
            <p:spPr>
              <a:xfrm>
                <a:off x="8549341" y="5416492"/>
                <a:ext cx="11592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Action/plan</a:t>
                </a:r>
              </a:p>
            </p:txBody>
          </p:sp>
          <p:sp>
            <p:nvSpPr>
              <p:cNvPr id="1117" name="TextBox 1116">
                <a:extLst>
                  <a:ext uri="{FF2B5EF4-FFF2-40B4-BE49-F238E27FC236}">
                    <a16:creationId xmlns:a16="http://schemas.microsoft.com/office/drawing/2014/main" id="{DBFA44EA-121B-CD59-3EE7-DC7913FB5928}"/>
                  </a:ext>
                </a:extLst>
              </p:cNvPr>
              <p:cNvSpPr txBox="1"/>
              <p:nvPr/>
            </p:nvSpPr>
            <p:spPr>
              <a:xfrm>
                <a:off x="8528118" y="4638689"/>
                <a:ext cx="12017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Observation</a:t>
                </a:r>
              </a:p>
            </p:txBody>
          </p:sp>
        </p:grpSp>
        <p:grpSp>
          <p:nvGrpSpPr>
            <p:cNvPr id="1161" name="Group 1160">
              <a:extLst>
                <a:ext uri="{FF2B5EF4-FFF2-40B4-BE49-F238E27FC236}">
                  <a16:creationId xmlns:a16="http://schemas.microsoft.com/office/drawing/2014/main" id="{79109933-075F-EEAB-DAB5-E909E8A8B77C}"/>
                </a:ext>
              </a:extLst>
            </p:cNvPr>
            <p:cNvGrpSpPr/>
            <p:nvPr/>
          </p:nvGrpSpPr>
          <p:grpSpPr>
            <a:xfrm>
              <a:off x="2442299" y="4144587"/>
              <a:ext cx="6017276" cy="2215587"/>
              <a:chOff x="5097517" y="2113263"/>
              <a:chExt cx="3384020" cy="1187560"/>
            </a:xfrm>
          </p:grpSpPr>
          <p:grpSp>
            <p:nvGrpSpPr>
              <p:cNvPr id="1160" name="Group 1159">
                <a:extLst>
                  <a:ext uri="{FF2B5EF4-FFF2-40B4-BE49-F238E27FC236}">
                    <a16:creationId xmlns:a16="http://schemas.microsoft.com/office/drawing/2014/main" id="{99F8B058-9DF8-3B2D-9269-916EB707D09B}"/>
                  </a:ext>
                </a:extLst>
              </p:cNvPr>
              <p:cNvGrpSpPr/>
              <p:nvPr/>
            </p:nvGrpSpPr>
            <p:grpSpPr>
              <a:xfrm>
                <a:off x="5097517" y="2113263"/>
                <a:ext cx="3384020" cy="1125790"/>
                <a:chOff x="5097517" y="2113263"/>
                <a:chExt cx="3384020" cy="1125790"/>
              </a:xfrm>
            </p:grpSpPr>
            <p:sp>
              <p:nvSpPr>
                <p:cNvPr id="1076" name="Rounded Rectangle 1075">
                  <a:extLst>
                    <a:ext uri="{FF2B5EF4-FFF2-40B4-BE49-F238E27FC236}">
                      <a16:creationId xmlns:a16="http://schemas.microsoft.com/office/drawing/2014/main" id="{BBB6DC41-FE96-C6C3-3980-E581A2B67000}"/>
                    </a:ext>
                  </a:extLst>
                </p:cNvPr>
                <p:cNvSpPr/>
                <p:nvPr/>
              </p:nvSpPr>
              <p:spPr>
                <a:xfrm>
                  <a:off x="5097517" y="2113263"/>
                  <a:ext cx="3384020" cy="1125790"/>
                </a:xfrm>
                <a:prstGeom prst="roundRect">
                  <a:avLst/>
                </a:prstGeom>
                <a:solidFill>
                  <a:schemeClr val="accent1">
                    <a:alpha val="43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78" name="Straight Connector 1077">
                  <a:extLst>
                    <a:ext uri="{FF2B5EF4-FFF2-40B4-BE49-F238E27FC236}">
                      <a16:creationId xmlns:a16="http://schemas.microsoft.com/office/drawing/2014/main" id="{6A48EBB6-7F6A-01B4-BE11-04743D97A21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7325710" y="2547416"/>
                  <a:ext cx="113697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440912F0-D144-BD6C-1056-75943F195351}"/>
                    </a:ext>
                  </a:extLst>
                </p:cNvPr>
                <p:cNvSpPr txBox="1"/>
                <p:nvPr/>
              </p:nvSpPr>
              <p:spPr>
                <a:xfrm>
                  <a:off x="5723950" y="2124761"/>
                  <a:ext cx="2471753" cy="27822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2000" b="1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LLM as search components</a:t>
                  </a:r>
                </a:p>
              </p:txBody>
            </p:sp>
            <p:cxnSp>
              <p:nvCxnSpPr>
                <p:cNvPr id="1081" name="Straight Connector 1080">
                  <a:extLst>
                    <a:ext uri="{FF2B5EF4-FFF2-40B4-BE49-F238E27FC236}">
                      <a16:creationId xmlns:a16="http://schemas.microsoft.com/office/drawing/2014/main" id="{75D8EE21-8E39-FC70-E919-7844A64CABC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306320" y="2996526"/>
                  <a:ext cx="314417" cy="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049" name="Group 1048">
                  <a:extLst>
                    <a:ext uri="{FF2B5EF4-FFF2-40B4-BE49-F238E27FC236}">
                      <a16:creationId xmlns:a16="http://schemas.microsoft.com/office/drawing/2014/main" id="{7C43D7DD-753F-7B33-C56B-45029F6264C0}"/>
                    </a:ext>
                  </a:extLst>
                </p:cNvPr>
                <p:cNvGrpSpPr/>
                <p:nvPr/>
              </p:nvGrpSpPr>
              <p:grpSpPr>
                <a:xfrm>
                  <a:off x="7658078" y="2825526"/>
                  <a:ext cx="773317" cy="381910"/>
                  <a:chOff x="7498472" y="1277142"/>
                  <a:chExt cx="773317" cy="381910"/>
                </a:xfrm>
              </p:grpSpPr>
              <p:grpSp>
                <p:nvGrpSpPr>
                  <p:cNvPr id="1054" name="Group 1053">
                    <a:extLst>
                      <a:ext uri="{FF2B5EF4-FFF2-40B4-BE49-F238E27FC236}">
                        <a16:creationId xmlns:a16="http://schemas.microsoft.com/office/drawing/2014/main" id="{DC93D12D-E732-2A90-3604-39CAE168682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890839" y="1277142"/>
                    <a:ext cx="380950" cy="380433"/>
                    <a:chOff x="3293553" y="4938168"/>
                    <a:chExt cx="845421" cy="845419"/>
                  </a:xfrm>
                </p:grpSpPr>
                <p:sp>
                  <p:nvSpPr>
                    <p:cNvPr id="1066" name="Oval 1065">
                      <a:extLst>
                        <a:ext uri="{FF2B5EF4-FFF2-40B4-BE49-F238E27FC236}">
                          <a16:creationId xmlns:a16="http://schemas.microsoft.com/office/drawing/2014/main" id="{A93CDA49-23F3-75F3-48AD-FC3F4A5042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3293553" y="4938168"/>
                      <a:ext cx="845421" cy="8454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67" name="Graphic 1066" descr="Transfer with solid fill">
                      <a:extLst>
                        <a:ext uri="{FF2B5EF4-FFF2-40B4-BE49-F238E27FC236}">
                          <a16:creationId xmlns:a16="http://schemas.microsoft.com/office/drawing/2014/main" id="{2D6E80E6-B08C-534F-ACEE-876AC1F503C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515976" y="5157680"/>
                      <a:ext cx="457140" cy="45714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55" name="Group 1054">
                    <a:extLst>
                      <a:ext uri="{FF2B5EF4-FFF2-40B4-BE49-F238E27FC236}">
                        <a16:creationId xmlns:a16="http://schemas.microsoft.com/office/drawing/2014/main" id="{79827E93-E57A-6A4D-16DF-799BB9CFA6E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498472" y="1281450"/>
                    <a:ext cx="380292" cy="377602"/>
                    <a:chOff x="1429103" y="4084579"/>
                    <a:chExt cx="842519" cy="842520"/>
                  </a:xfrm>
                </p:grpSpPr>
                <p:sp>
                  <p:nvSpPr>
                    <p:cNvPr id="1056" name="Oval 1055">
                      <a:extLst>
                        <a:ext uri="{FF2B5EF4-FFF2-40B4-BE49-F238E27FC236}">
                          <a16:creationId xmlns:a16="http://schemas.microsoft.com/office/drawing/2014/main" id="{99331881-3A42-09DE-10C4-891C73B5B9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29103" y="4084579"/>
                      <a:ext cx="842519" cy="84252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57" name="Graphic 1056" descr="Route (Two Pins With A Path) with solid fill">
                      <a:extLst>
                        <a:ext uri="{FF2B5EF4-FFF2-40B4-BE49-F238E27FC236}">
                          <a16:creationId xmlns:a16="http://schemas.microsoft.com/office/drawing/2014/main" id="{5C235C8D-6B41-27F1-8416-A9E0A55A913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606970" y="4288688"/>
                      <a:ext cx="457141" cy="457141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1158" name="Group 1157">
                <a:extLst>
                  <a:ext uri="{FF2B5EF4-FFF2-40B4-BE49-F238E27FC236}">
                    <a16:creationId xmlns:a16="http://schemas.microsoft.com/office/drawing/2014/main" id="{A74BA464-5E15-E5FF-E533-1BC0192AC9FF}"/>
                  </a:ext>
                </a:extLst>
              </p:cNvPr>
              <p:cNvGrpSpPr/>
              <p:nvPr/>
            </p:nvGrpSpPr>
            <p:grpSpPr>
              <a:xfrm>
                <a:off x="5261722" y="2357028"/>
                <a:ext cx="2185673" cy="943795"/>
                <a:chOff x="5051516" y="2357028"/>
                <a:chExt cx="2185673" cy="943795"/>
              </a:xfrm>
            </p:grpSpPr>
            <p:grpSp>
              <p:nvGrpSpPr>
                <p:cNvPr id="1099" name="Group 1098">
                  <a:extLst>
                    <a:ext uri="{FF2B5EF4-FFF2-40B4-BE49-F238E27FC236}">
                      <a16:creationId xmlns:a16="http://schemas.microsoft.com/office/drawing/2014/main" id="{273142D1-972F-9DD2-96C7-6A519FEBB2A8}"/>
                    </a:ext>
                  </a:extLst>
                </p:cNvPr>
                <p:cNvGrpSpPr/>
                <p:nvPr/>
              </p:nvGrpSpPr>
              <p:grpSpPr>
                <a:xfrm>
                  <a:off x="5051516" y="2357028"/>
                  <a:ext cx="2185673" cy="943795"/>
                  <a:chOff x="5828462" y="4160597"/>
                  <a:chExt cx="909706" cy="943795"/>
                </a:xfrm>
              </p:grpSpPr>
              <p:grpSp>
                <p:nvGrpSpPr>
                  <p:cNvPr id="1100" name="Group 1099">
                    <a:extLst>
                      <a:ext uri="{FF2B5EF4-FFF2-40B4-BE49-F238E27FC236}">
                        <a16:creationId xmlns:a16="http://schemas.microsoft.com/office/drawing/2014/main" id="{86D7608A-0D3B-5DCE-F99E-E91B8C6A51E3}"/>
                      </a:ext>
                    </a:extLst>
                  </p:cNvPr>
                  <p:cNvGrpSpPr/>
                  <p:nvPr/>
                </p:nvGrpSpPr>
                <p:grpSpPr>
                  <a:xfrm>
                    <a:off x="5828462" y="4160597"/>
                    <a:ext cx="849836" cy="844571"/>
                    <a:chOff x="9965557" y="888108"/>
                    <a:chExt cx="849836" cy="844571"/>
                  </a:xfrm>
                </p:grpSpPr>
                <p:sp>
                  <p:nvSpPr>
                    <p:cNvPr id="1102" name="Rectangle 1101">
                      <a:extLst>
                        <a:ext uri="{FF2B5EF4-FFF2-40B4-BE49-F238E27FC236}">
                          <a16:creationId xmlns:a16="http://schemas.microsoft.com/office/drawing/2014/main" id="{6FAA63DF-FD28-0BBD-A651-2A07E103A1F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65557" y="888108"/>
                      <a:ext cx="849836" cy="844571"/>
                    </a:xfrm>
                    <a:prstGeom prst="rect">
                      <a:avLst/>
                    </a:prstGeom>
                    <a:solidFill>
                      <a:srgbClr val="FFF1F1"/>
                    </a:solidFill>
                    <a:ln w="19050">
                      <a:solidFill>
                        <a:srgbClr val="FA4D56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104" name="Graphic 1103" descr="Search Inventory with solid fill">
                      <a:extLst>
                        <a:ext uri="{FF2B5EF4-FFF2-40B4-BE49-F238E27FC236}">
                          <a16:creationId xmlns:a16="http://schemas.microsoft.com/office/drawing/2014/main" id="{C7FDF976-3DEC-E32E-CC00-0F46A8DF7E8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402199" y="912563"/>
                      <a:ext cx="380734" cy="636289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101" name="TextBox 1100">
                    <a:extLst>
                      <a:ext uri="{FF2B5EF4-FFF2-40B4-BE49-F238E27FC236}">
                        <a16:creationId xmlns:a16="http://schemas.microsoft.com/office/drawing/2014/main" id="{0C270782-7A7C-6E36-2AEE-9B11A317835A}"/>
                      </a:ext>
                    </a:extLst>
                  </p:cNvPr>
                  <p:cNvSpPr txBox="1"/>
                  <p:nvPr/>
                </p:nvSpPr>
                <p:spPr>
                  <a:xfrm>
                    <a:off x="6135913" y="4791193"/>
                    <a:ext cx="602255" cy="313199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ctr" defTabSz="1218956">
                      <a:lnSpc>
                        <a:spcPct val="110000"/>
                      </a:lnSpc>
                      <a:buSzPct val="100000"/>
                    </a:pPr>
                    <a:r>
                      <a:rPr lang="en-US" sz="1600" kern="0" dirty="0">
                        <a:solidFill>
                          <a:srgbClr val="000000"/>
                        </a:solidFill>
                        <a:ea typeface="+mj-ea"/>
                        <a:cs typeface="+mj-cs"/>
                        <a:sym typeface="IBM Plex Sans Light"/>
                      </a:rPr>
                      <a:t>Search algorithm</a:t>
                    </a:r>
                  </a:p>
                </p:txBody>
              </p:sp>
            </p:grpSp>
            <p:cxnSp>
              <p:nvCxnSpPr>
                <p:cNvPr id="1123" name="Straight Connector 1122">
                  <a:extLst>
                    <a:ext uri="{FF2B5EF4-FFF2-40B4-BE49-F238E27FC236}">
                      <a16:creationId xmlns:a16="http://schemas.microsoft.com/office/drawing/2014/main" id="{1E3AFCC8-3571-25D0-3D93-8A835FCDD7C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5679300" y="2542165"/>
                  <a:ext cx="57813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4" name="Straight Connector 1123">
                  <a:extLst>
                    <a:ext uri="{FF2B5EF4-FFF2-40B4-BE49-F238E27FC236}">
                      <a16:creationId xmlns:a16="http://schemas.microsoft.com/office/drawing/2014/main" id="{1C2325B1-8088-7423-8FE6-B94091CDE51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749267" y="2873675"/>
                  <a:ext cx="38307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22" name="Group 1121">
                  <a:extLst>
                    <a:ext uri="{FF2B5EF4-FFF2-40B4-BE49-F238E27FC236}">
                      <a16:creationId xmlns:a16="http://schemas.microsoft.com/office/drawing/2014/main" id="{AF3F06AA-67C3-014F-0F74-0CBCC3F1C5D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132601" y="2494260"/>
                  <a:ext cx="561901" cy="563643"/>
                  <a:chOff x="2706216" y="2534577"/>
                  <a:chExt cx="939638" cy="1039482"/>
                </a:xfrm>
              </p:grpSpPr>
              <p:sp>
                <p:nvSpPr>
                  <p:cNvPr id="1125" name="Oval 1124">
                    <a:extLst>
                      <a:ext uri="{FF2B5EF4-FFF2-40B4-BE49-F238E27FC236}">
                        <a16:creationId xmlns:a16="http://schemas.microsoft.com/office/drawing/2014/main" id="{1EA07CD6-AA26-8C74-EF39-682497B2553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2706216" y="2534577"/>
                    <a:ext cx="939638" cy="1039482"/>
                  </a:xfrm>
                  <a:prstGeom prst="ellipse">
                    <a:avLst/>
                  </a:prstGeom>
                  <a:solidFill>
                    <a:srgbClr val="FFD6E8"/>
                  </a:solidFill>
                  <a:ln w="19050">
                    <a:solidFill>
                      <a:srgbClr val="EE539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126" name="Picture 1125">
                    <a:extLst>
                      <a:ext uri="{FF2B5EF4-FFF2-40B4-BE49-F238E27FC236}">
                        <a16:creationId xmlns:a16="http://schemas.microsoft.com/office/drawing/2014/main" id="{5C53D5A3-73F0-6C31-BB36-8129FD7DC6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903410" y="2809340"/>
                    <a:ext cx="620646" cy="620646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7B21C16F-5532-4AD4-B22D-92DB5FCDC48D}"/>
                </a:ext>
              </a:extLst>
            </p:cNvPr>
            <p:cNvGrpSpPr/>
            <p:nvPr/>
          </p:nvGrpSpPr>
          <p:grpSpPr>
            <a:xfrm>
              <a:off x="184502" y="4044150"/>
              <a:ext cx="3261971" cy="2357812"/>
              <a:chOff x="184502" y="4044150"/>
              <a:chExt cx="3261971" cy="2357812"/>
            </a:xfrm>
          </p:grpSpPr>
          <p:sp>
            <p:nvSpPr>
              <p:cNvPr id="1141" name="TextBox 1140">
                <a:extLst>
                  <a:ext uri="{FF2B5EF4-FFF2-40B4-BE49-F238E27FC236}">
                    <a16:creationId xmlns:a16="http://schemas.microsoft.com/office/drawing/2014/main" id="{6F73BCD0-7377-36BE-9D19-49AFD38CA399}"/>
                  </a:ext>
                </a:extLst>
              </p:cNvPr>
              <p:cNvSpPr txBox="1"/>
              <p:nvPr/>
            </p:nvSpPr>
            <p:spPr>
              <a:xfrm>
                <a:off x="184502" y="493348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2" name="TextBox 1141">
                <a:extLst>
                  <a:ext uri="{FF2B5EF4-FFF2-40B4-BE49-F238E27FC236}">
                    <a16:creationId xmlns:a16="http://schemas.microsoft.com/office/drawing/2014/main" id="{7EFCAEDF-56F8-7B4A-37CF-502DB93E3079}"/>
                  </a:ext>
                </a:extLst>
              </p:cNvPr>
              <p:cNvSpPr txBox="1"/>
              <p:nvPr/>
            </p:nvSpPr>
            <p:spPr>
              <a:xfrm>
                <a:off x="204071" y="5534285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Zhou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3" name="TextBox 1142">
                <a:extLst>
                  <a:ext uri="{FF2B5EF4-FFF2-40B4-BE49-F238E27FC236}">
                    <a16:creationId xmlns:a16="http://schemas.microsoft.com/office/drawing/2014/main" id="{60E82883-8860-C63D-BF43-209130923548}"/>
                  </a:ext>
                </a:extLst>
              </p:cNvPr>
              <p:cNvSpPr txBox="1"/>
              <p:nvPr/>
            </p:nvSpPr>
            <p:spPr>
              <a:xfrm>
                <a:off x="201901" y="5808097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Sel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4" name="TextBox 1143">
                <a:extLst>
                  <a:ext uri="{FF2B5EF4-FFF2-40B4-BE49-F238E27FC236}">
                    <a16:creationId xmlns:a16="http://schemas.microsoft.com/office/drawing/2014/main" id="{9D14EC2B-B268-55F5-8F83-3E3410B6B7CA}"/>
                  </a:ext>
                </a:extLst>
              </p:cNvPr>
              <p:cNvSpPr txBox="1"/>
              <p:nvPr/>
            </p:nvSpPr>
            <p:spPr>
              <a:xfrm>
                <a:off x="194092" y="6063408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Besta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AAAI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1163FA5B-CB0B-2E2F-FBB0-FBC93D5E1E64}"/>
                  </a:ext>
                </a:extLst>
              </p:cNvPr>
              <p:cNvSpPr txBox="1"/>
              <p:nvPr/>
            </p:nvSpPr>
            <p:spPr>
              <a:xfrm>
                <a:off x="194092" y="40441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ICLR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37C3C034-B034-FC28-28AD-4FAF5E058D0D}"/>
                  </a:ext>
                </a:extLst>
              </p:cNvPr>
              <p:cNvSpPr txBox="1"/>
              <p:nvPr/>
            </p:nvSpPr>
            <p:spPr>
              <a:xfrm>
                <a:off x="201901" y="43317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Xu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Arxiv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FBF4D3BB-1D0A-B235-0DB9-166E737DEA55}"/>
                  </a:ext>
                </a:extLst>
              </p:cNvPr>
              <p:cNvSpPr txBox="1"/>
              <p:nvPr/>
            </p:nvSpPr>
            <p:spPr>
              <a:xfrm>
                <a:off x="189407" y="4628712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EMNLP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FF111B24-37A4-D0BF-D4B6-D359C13598D1}"/>
                  </a:ext>
                </a:extLst>
              </p:cNvPr>
              <p:cNvSpPr txBox="1"/>
              <p:nvPr/>
            </p:nvSpPr>
            <p:spPr>
              <a:xfrm>
                <a:off x="199146" y="5225549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Shinn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82CF174F-F84F-92DF-C2D4-8AE9A85307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1866" y="3505736"/>
            <a:ext cx="9098026" cy="291807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A04364E-D9CA-B073-9988-2A7B249B1A3E}"/>
              </a:ext>
            </a:extLst>
          </p:cNvPr>
          <p:cNvSpPr txBox="1"/>
          <p:nvPr/>
        </p:nvSpPr>
        <p:spPr>
          <a:xfrm>
            <a:off x="453125" y="6288570"/>
            <a:ext cx="8629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From: Yao et. al., </a:t>
            </a:r>
            <a:r>
              <a:rPr lang="en-US" sz="1400" dirty="0" err="1"/>
              <a:t>NeurIPS</a:t>
            </a:r>
            <a:r>
              <a:rPr lang="en-US" sz="1400" dirty="0"/>
              <a:t> 2023, Tree of Thoughts: Deliberate Problem Solving with Large Language Models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7F66B5-B875-92A2-1D3B-08050DA5D331}"/>
              </a:ext>
            </a:extLst>
          </p:cNvPr>
          <p:cNvGrpSpPr/>
          <p:nvPr/>
        </p:nvGrpSpPr>
        <p:grpSpPr>
          <a:xfrm>
            <a:off x="2475604" y="3318607"/>
            <a:ext cx="4605599" cy="3521297"/>
            <a:chOff x="7403754" y="3313578"/>
            <a:chExt cx="4735133" cy="35013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72858BC-EFFF-98E5-27B5-3EFB4BF9D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403754" y="3313578"/>
              <a:ext cx="4735133" cy="350133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DA066DD-6947-362C-7207-F2EF47571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093582" y="3544411"/>
              <a:ext cx="636416" cy="626367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DA1B45E-A566-E75C-3A16-E94EC2B34B3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03961" y="3118970"/>
            <a:ext cx="4881325" cy="318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3004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331AB4C-5264-3BE7-1379-C2C94D9906AC}"/>
              </a:ext>
            </a:extLst>
          </p:cNvPr>
          <p:cNvSpPr txBox="1">
            <a:spLocks/>
          </p:cNvSpPr>
          <p:nvPr/>
        </p:nvSpPr>
        <p:spPr>
          <a:xfrm>
            <a:off x="-9428" y="43091"/>
            <a:ext cx="11297187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What are the properties of these algorithms?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5B4E5BC-5FE6-4660-4992-2757BAF85D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04" r="4779" b="31576"/>
          <a:stretch>
            <a:fillRect/>
          </a:stretch>
        </p:blipFill>
        <p:spPr>
          <a:xfrm>
            <a:off x="4025636" y="3565624"/>
            <a:ext cx="8004578" cy="29639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3FE88CD-E486-55E2-0862-08514B0D8245}"/>
              </a:ext>
            </a:extLst>
          </p:cNvPr>
          <p:cNvSpPr txBox="1"/>
          <p:nvPr/>
        </p:nvSpPr>
        <p:spPr>
          <a:xfrm>
            <a:off x="4025636" y="6507132"/>
            <a:ext cx="8113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Katz et al, NeurIPS 2024, </a:t>
            </a:r>
            <a:r>
              <a:rPr lang="en-US" sz="1400" b="1" dirty="0"/>
              <a:t>Thought of Search: Planning with Language Models Through The Lens of Efficiency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7396AA-BFDC-0ACC-77FF-7BB8E7763AA3}"/>
              </a:ext>
            </a:extLst>
          </p:cNvPr>
          <p:cNvSpPr txBox="1"/>
          <p:nvPr/>
        </p:nvSpPr>
        <p:spPr>
          <a:xfrm>
            <a:off x="720661" y="2530339"/>
            <a:ext cx="66456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Computational complexity?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Hard to measure. Most expensive operation is LLM call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Computational effort vs. state space portion explored 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FBB1AD-2787-2812-786F-1D6B36A9A274}"/>
              </a:ext>
            </a:extLst>
          </p:cNvPr>
          <p:cNvSpPr txBox="1"/>
          <p:nvPr/>
        </p:nvSpPr>
        <p:spPr>
          <a:xfrm>
            <a:off x="5642471" y="1158715"/>
            <a:ext cx="581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If validator exists, we can make it sound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631FD1-43EF-9CD5-CE5C-7E95A1FE7207}"/>
              </a:ext>
            </a:extLst>
          </p:cNvPr>
          <p:cNvSpPr txBox="1"/>
          <p:nvPr/>
        </p:nvSpPr>
        <p:spPr>
          <a:xfrm>
            <a:off x="3316010" y="1615923"/>
            <a:ext cx="70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0485A6-9C31-3815-9C97-F74ACC368AAF}"/>
              </a:ext>
            </a:extLst>
          </p:cNvPr>
          <p:cNvSpPr txBox="1"/>
          <p:nvPr/>
        </p:nvSpPr>
        <p:spPr>
          <a:xfrm>
            <a:off x="720661" y="1158715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Sound?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8633D8-5287-7D28-2F33-881DDB8E732D}"/>
              </a:ext>
            </a:extLst>
          </p:cNvPr>
          <p:cNvSpPr txBox="1"/>
          <p:nvPr/>
        </p:nvSpPr>
        <p:spPr>
          <a:xfrm>
            <a:off x="701039" y="1615923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Complete?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D03CFB-1EB2-C8BF-7B5B-BD5329583422}"/>
              </a:ext>
            </a:extLst>
          </p:cNvPr>
          <p:cNvSpPr txBox="1"/>
          <p:nvPr/>
        </p:nvSpPr>
        <p:spPr>
          <a:xfrm>
            <a:off x="720661" y="2073131"/>
            <a:ext cx="14654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Optimal?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45E0BD-E144-668A-AAC1-5FC17AB95365}"/>
              </a:ext>
            </a:extLst>
          </p:cNvPr>
          <p:cNvSpPr txBox="1"/>
          <p:nvPr/>
        </p:nvSpPr>
        <p:spPr>
          <a:xfrm>
            <a:off x="3316010" y="2075726"/>
            <a:ext cx="70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45E615-75FD-B44A-9A7D-4301E453CC82}"/>
              </a:ext>
            </a:extLst>
          </p:cNvPr>
          <p:cNvSpPr txBox="1"/>
          <p:nvPr/>
        </p:nvSpPr>
        <p:spPr>
          <a:xfrm flipH="1">
            <a:off x="3316010" y="1158899"/>
            <a:ext cx="76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12879460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2" grpId="0"/>
      <p:bldP spid="24" grpId="0"/>
      <p:bldP spid="26" grpId="0"/>
      <p:bldP spid="28" grpId="0"/>
      <p:bldP spid="30" grpId="0"/>
      <p:bldP spid="31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2358A-9CAB-FE24-6CA2-F95FD028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9A4F669-E64B-310C-14D2-D02B2403C082}"/>
              </a:ext>
            </a:extLst>
          </p:cNvPr>
          <p:cNvSpPr txBox="1">
            <a:spLocks/>
          </p:cNvSpPr>
          <p:nvPr/>
        </p:nvSpPr>
        <p:spPr>
          <a:xfrm>
            <a:off x="-9427" y="43091"/>
            <a:ext cx="9248020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Why did it work in the first place?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1B0DCF-08E7-D0AC-EECE-59985A1D1E81}"/>
              </a:ext>
            </a:extLst>
          </p:cNvPr>
          <p:cNvSpPr txBox="1"/>
          <p:nvPr/>
        </p:nvSpPr>
        <p:spPr>
          <a:xfrm>
            <a:off x="314960" y="1012914"/>
            <a:ext cx="51952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Tested on data scraped from the internet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Data contamination concerns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external validator, lenient success criteria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A278D7-726B-0D0E-776A-14826310FEFB}"/>
              </a:ext>
            </a:extLst>
          </p:cNvPr>
          <p:cNvGrpSpPr/>
          <p:nvPr/>
        </p:nvGrpSpPr>
        <p:grpSpPr>
          <a:xfrm>
            <a:off x="9631680" y="213893"/>
            <a:ext cx="2245360" cy="2239747"/>
            <a:chOff x="7823200" y="1189253"/>
            <a:chExt cx="2245360" cy="223974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2F6B6FAB-C1A5-CDC4-CF60-FCE68ADBA6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23200" y="1189253"/>
              <a:ext cx="2245360" cy="223974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D1732AC-251D-3D2F-73C7-FD44233978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6860" y="1275096"/>
              <a:ext cx="2082784" cy="20827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D77AF78-03BF-3158-6F59-6861FDDF5D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12116" y="1357332"/>
              <a:ext cx="2156444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</a:t>
              </a:r>
            </a:p>
            <a:p>
              <a:pPr algn="ctr"/>
              <a:endParaRPr lang="en-US" sz="800" dirty="0"/>
            </a:p>
            <a:p>
              <a:pPr marL="742950" indent="-742950">
                <a:buAutoNum type="arabicPlain" startAt="6"/>
              </a:pPr>
              <a:r>
                <a:rPr lang="en-US" sz="3600" dirty="0"/>
                <a:t>24    4</a:t>
              </a:r>
            </a:p>
            <a:p>
              <a:endParaRPr lang="en-US" sz="800" dirty="0"/>
            </a:p>
            <a:p>
              <a:pPr algn="ctr"/>
              <a:r>
                <a:rPr lang="en-US" sz="3600" dirty="0"/>
                <a:t>5</a:t>
              </a:r>
              <a:endParaRPr lang="en-US" dirty="0"/>
            </a:p>
          </p:txBody>
        </p:sp>
      </p:grpSp>
      <p:pic>
        <p:nvPicPr>
          <p:cNvPr id="3076" name="Picture 4" descr="r/greggshorthand - Easy crossword puzzle for Gregg Shorthand practice">
            <a:extLst>
              <a:ext uri="{FF2B5EF4-FFF2-40B4-BE49-F238E27FC236}">
                <a16:creationId xmlns:a16="http://schemas.microsoft.com/office/drawing/2014/main" id="{7EB44930-CAFE-AA6D-ED72-E2C9463B90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0" t="646" r="3359" b="42531"/>
          <a:stretch>
            <a:fillRect/>
          </a:stretch>
        </p:blipFill>
        <p:spPr bwMode="auto">
          <a:xfrm>
            <a:off x="9631681" y="2706044"/>
            <a:ext cx="2245360" cy="1835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ecagon 13">
            <a:extLst>
              <a:ext uri="{FF2B5EF4-FFF2-40B4-BE49-F238E27FC236}">
                <a16:creationId xmlns:a16="http://schemas.microsoft.com/office/drawing/2014/main" id="{A5A09823-CF82-0D2A-DCF1-F535CF2F59AA}"/>
              </a:ext>
            </a:extLst>
          </p:cNvPr>
          <p:cNvSpPr/>
          <p:nvPr/>
        </p:nvSpPr>
        <p:spPr>
          <a:xfrm>
            <a:off x="10346698" y="950446"/>
            <a:ext cx="863600" cy="863600"/>
          </a:xfrm>
          <a:prstGeom prst="decagon">
            <a:avLst/>
          </a:prstGeom>
          <a:solidFill>
            <a:srgbClr val="FF0000">
              <a:alpha val="5969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A615F8-93AF-D5F1-33A0-C00E67490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926" y="2052139"/>
            <a:ext cx="3565087" cy="27537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D429257-E85B-A190-B74D-2268C6D037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29" t="4388" r="3052" b="3919"/>
          <a:stretch>
            <a:fillRect/>
          </a:stretch>
        </p:blipFill>
        <p:spPr>
          <a:xfrm>
            <a:off x="521781" y="2736131"/>
            <a:ext cx="4737132" cy="19955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0A15EF9-0550-8701-FC5C-AC1446079D2B}"/>
              </a:ext>
            </a:extLst>
          </p:cNvPr>
          <p:cNvSpPr txBox="1"/>
          <p:nvPr/>
        </p:nvSpPr>
        <p:spPr>
          <a:xfrm>
            <a:off x="521781" y="4731659"/>
            <a:ext cx="87903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Katz et al, ICLR 2026 Workshop World Models, </a:t>
            </a:r>
            <a:r>
              <a:rPr lang="en-US" sz="1400" b="1" dirty="0"/>
              <a:t>Seemingly Simple Planning Problems are Computationally Challenging: The Countdown Game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E81AEA-4A27-D5F7-88FE-A3989D734FF0}"/>
              </a:ext>
            </a:extLst>
          </p:cNvPr>
          <p:cNvSpPr txBox="1"/>
          <p:nvPr/>
        </p:nvSpPr>
        <p:spPr>
          <a:xfrm>
            <a:off x="187268" y="5306477"/>
            <a:ext cx="114687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Must have precise definition of solution and sound validators for candidate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Should have large instance space and dynamic generation procedure to avoid memorization concerns.</a:t>
            </a:r>
          </a:p>
        </p:txBody>
      </p:sp>
    </p:spTree>
    <p:extLst>
      <p:ext uri="{BB962C8B-B14F-4D97-AF65-F5344CB8AC3E}">
        <p14:creationId xmlns:p14="http://schemas.microsoft.com/office/powerpoint/2010/main" val="40592241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3B1B136A-1A7A-DAF9-C715-D7C7F0893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35012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F9224-8BCF-DF6D-5B0D-CAFDB847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2887D434-221B-7C83-8E02-6CA222DF30B4}"/>
              </a:ext>
            </a:extLst>
          </p:cNvPr>
          <p:cNvSpPr txBox="1"/>
          <p:nvPr/>
        </p:nvSpPr>
        <p:spPr>
          <a:xfrm>
            <a:off x="7737984" y="3327331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5FD7036B-EE38-E8CB-2244-F6A7051FA27F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E4D86EFE-CD5C-16EB-552F-26CC7F790DFB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C3F456E-D50B-C98E-D723-15120DF0E45D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3339A39-770B-1A15-D93F-8EABCF46DA67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B52E94B7-B8E8-A3D8-899F-483AE66BD3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E31045FD-11DB-1EA8-85E0-54F96B9DE9FE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5F428F60-2F2D-D0DF-F0D5-9D022196262A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D67E564E-D372-DFC2-B231-DEDA3D0CE231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E45599DE-14BE-0107-54E5-2D0CD05B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2105073" cy="523220"/>
          </a:xfrm>
        </p:spPr>
        <p:txBody>
          <a:bodyPr>
            <a:noAutofit/>
          </a:bodyPr>
          <a:lstStyle/>
          <a:p>
            <a:r>
              <a:rPr lang="en-US" sz="4400" dirty="0"/>
              <a:t>Building solvers for NL/PDDL planning problems</a:t>
            </a:r>
          </a:p>
        </p:txBody>
      </p:sp>
      <p:grpSp>
        <p:nvGrpSpPr>
          <p:cNvPr id="1170" name="Group 1169">
            <a:extLst>
              <a:ext uri="{FF2B5EF4-FFF2-40B4-BE49-F238E27FC236}">
                <a16:creationId xmlns:a16="http://schemas.microsoft.com/office/drawing/2014/main" id="{63311C7E-C898-D309-E128-A95E9507F305}"/>
              </a:ext>
            </a:extLst>
          </p:cNvPr>
          <p:cNvGrpSpPr/>
          <p:nvPr/>
        </p:nvGrpSpPr>
        <p:grpSpPr>
          <a:xfrm>
            <a:off x="189999" y="1328097"/>
            <a:ext cx="2888143" cy="1179610"/>
            <a:chOff x="189999" y="1328097"/>
            <a:chExt cx="2888143" cy="1179610"/>
          </a:xfrm>
        </p:grpSpPr>
        <p:sp>
          <p:nvSpPr>
            <p:cNvPr id="1257" name="TextBox 1256">
              <a:extLst>
                <a:ext uri="{FF2B5EF4-FFF2-40B4-BE49-F238E27FC236}">
                  <a16:creationId xmlns:a16="http://schemas.microsoft.com/office/drawing/2014/main" id="{F52870DA-72A5-3739-71A6-ECCF69E7DB5A}"/>
                </a:ext>
              </a:extLst>
            </p:cNvPr>
            <p:cNvSpPr txBox="1"/>
            <p:nvPr/>
          </p:nvSpPr>
          <p:spPr>
            <a:xfrm>
              <a:off x="202060" y="1328097"/>
              <a:ext cx="22065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Katz et al, NeurIPS 2024</a:t>
              </a:r>
            </a:p>
          </p:txBody>
        </p:sp>
        <p:sp>
          <p:nvSpPr>
            <p:cNvPr id="1258" name="TextBox 1257">
              <a:extLst>
                <a:ext uri="{FF2B5EF4-FFF2-40B4-BE49-F238E27FC236}">
                  <a16:creationId xmlns:a16="http://schemas.microsoft.com/office/drawing/2014/main" id="{7980B639-90E6-4EC0-F5DA-36E4D3CE6F55}"/>
                </a:ext>
              </a:extLst>
            </p:cNvPr>
            <p:cNvSpPr txBox="1"/>
            <p:nvPr/>
          </p:nvSpPr>
          <p:spPr>
            <a:xfrm>
              <a:off x="193759" y="1605755"/>
              <a:ext cx="288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Cao et al, ICAPS 2026</a:t>
              </a:r>
            </a:p>
          </p:txBody>
        </p:sp>
        <p:sp>
          <p:nvSpPr>
            <p:cNvPr id="1260" name="TextBox 1259">
              <a:extLst>
                <a:ext uri="{FF2B5EF4-FFF2-40B4-BE49-F238E27FC236}">
                  <a16:creationId xmlns:a16="http://schemas.microsoft.com/office/drawing/2014/main" id="{6DAC0B4C-2BC8-879B-0D45-C43E8004F183}"/>
                </a:ext>
              </a:extLst>
            </p:cNvPr>
            <p:cNvSpPr txBox="1"/>
            <p:nvPr/>
          </p:nvSpPr>
          <p:spPr>
            <a:xfrm>
              <a:off x="189999" y="1887070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Tuisov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et al, ICAPS 2026</a:t>
              </a:r>
            </a:p>
          </p:txBody>
        </p:sp>
        <p:sp>
          <p:nvSpPr>
            <p:cNvPr id="1261" name="TextBox 1260">
              <a:extLst>
                <a:ext uri="{FF2B5EF4-FFF2-40B4-BE49-F238E27FC236}">
                  <a16:creationId xmlns:a16="http://schemas.microsoft.com/office/drawing/2014/main" id="{93C37F2A-E090-DBAD-1B31-5DA11CB7CE3D}"/>
                </a:ext>
              </a:extLst>
            </p:cNvPr>
            <p:cNvSpPr txBox="1"/>
            <p:nvPr/>
          </p:nvSpPr>
          <p:spPr>
            <a:xfrm>
              <a:off x="189999" y="2169153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Correa et al, NeurIPS 2025</a:t>
              </a:r>
            </a:p>
          </p:txBody>
        </p:sp>
      </p:grpSp>
      <p:cxnSp>
        <p:nvCxnSpPr>
          <p:cNvPr id="1290" name="Straight Connector 1289">
            <a:extLst>
              <a:ext uri="{FF2B5EF4-FFF2-40B4-BE49-F238E27FC236}">
                <a16:creationId xmlns:a16="http://schemas.microsoft.com/office/drawing/2014/main" id="{F80F10F8-ADE1-2F3D-6A15-E90D6048A8D4}"/>
              </a:ext>
            </a:extLst>
          </p:cNvPr>
          <p:cNvCxnSpPr>
            <a:cxnSpLocks/>
          </p:cNvCxnSpPr>
          <p:nvPr/>
        </p:nvCxnSpPr>
        <p:spPr>
          <a:xfrm>
            <a:off x="242801" y="2734197"/>
            <a:ext cx="9616232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1" name="Straight Connector 1290">
            <a:extLst>
              <a:ext uri="{FF2B5EF4-FFF2-40B4-BE49-F238E27FC236}">
                <a16:creationId xmlns:a16="http://schemas.microsoft.com/office/drawing/2014/main" id="{477286FE-409D-DB66-9F36-14BEC0880ABB}"/>
              </a:ext>
            </a:extLst>
          </p:cNvPr>
          <p:cNvCxnSpPr>
            <a:cxnSpLocks/>
          </p:cNvCxnSpPr>
          <p:nvPr/>
        </p:nvCxnSpPr>
        <p:spPr>
          <a:xfrm>
            <a:off x="165337" y="4824280"/>
            <a:ext cx="963193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69BF345B-CFED-2BBD-25A2-04B728F42F04}"/>
              </a:ext>
            </a:extLst>
          </p:cNvPr>
          <p:cNvGrpSpPr/>
          <p:nvPr/>
        </p:nvGrpSpPr>
        <p:grpSpPr>
          <a:xfrm>
            <a:off x="8525159" y="3194658"/>
            <a:ext cx="1312854" cy="665341"/>
            <a:chOff x="8546179" y="5706967"/>
            <a:chExt cx="1312854" cy="665341"/>
          </a:xfrm>
        </p:grpSpPr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C0269C9F-5B7A-58A3-B918-AFA9245113D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4A3E2F90-21C8-700F-0566-F358BA1D404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72842A19-6743-7C64-90AD-70C4C2CF4511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52A66E0A-323B-520C-4908-862B9494FE51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8825A338-157D-62D6-A387-F232498B8107}"/>
              </a:ext>
            </a:extLst>
          </p:cNvPr>
          <p:cNvGrpSpPr/>
          <p:nvPr/>
        </p:nvGrpSpPr>
        <p:grpSpPr>
          <a:xfrm>
            <a:off x="8510329" y="5373874"/>
            <a:ext cx="1312854" cy="665341"/>
            <a:chOff x="8546179" y="5706967"/>
            <a:chExt cx="1312854" cy="665341"/>
          </a:xfrm>
        </p:grpSpPr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665AB8BC-09B1-F5B2-A3B8-FEA175630C0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62E45D9A-F6DB-1898-B59B-125796E353F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6C87569A-F558-779D-ED5E-16AEA2DA92B8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9D8AFFCB-C959-EB0E-3A3C-EA6A992B72C5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DEA1401F-E12A-33CD-5A7E-02B6BEE896F8}"/>
              </a:ext>
            </a:extLst>
          </p:cNvPr>
          <p:cNvGrpSpPr/>
          <p:nvPr/>
        </p:nvGrpSpPr>
        <p:grpSpPr>
          <a:xfrm>
            <a:off x="8492047" y="1438294"/>
            <a:ext cx="1312854" cy="665341"/>
            <a:chOff x="8546179" y="5706967"/>
            <a:chExt cx="1312854" cy="665341"/>
          </a:xfrm>
        </p:grpSpPr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5ED388C9-84F5-DC3C-9889-1A75587B5A0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E0AC6655-315B-9FEA-64CE-6343175D1B2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09" name="TextBox 1108">
              <a:extLst>
                <a:ext uri="{FF2B5EF4-FFF2-40B4-BE49-F238E27FC236}">
                  <a16:creationId xmlns:a16="http://schemas.microsoft.com/office/drawing/2014/main" id="{CF7D121A-CFF3-2C9C-102A-2EF6B635C26E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110" name="TextBox 1109">
              <a:extLst>
                <a:ext uri="{FF2B5EF4-FFF2-40B4-BE49-F238E27FC236}">
                  <a16:creationId xmlns:a16="http://schemas.microsoft.com/office/drawing/2014/main" id="{5DFE5DC1-A06D-B387-5BEC-36C0B38488B6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4" name="Group 1163">
            <a:extLst>
              <a:ext uri="{FF2B5EF4-FFF2-40B4-BE49-F238E27FC236}">
                <a16:creationId xmlns:a16="http://schemas.microsoft.com/office/drawing/2014/main" id="{0830F727-DD06-B389-6A2F-F11E27FC0F53}"/>
              </a:ext>
            </a:extLst>
          </p:cNvPr>
          <p:cNvGrpSpPr/>
          <p:nvPr/>
        </p:nvGrpSpPr>
        <p:grpSpPr>
          <a:xfrm>
            <a:off x="3878071" y="1381042"/>
            <a:ext cx="4612180" cy="1051916"/>
            <a:chOff x="3121502" y="4031327"/>
            <a:chExt cx="4612180" cy="1051916"/>
          </a:xfrm>
        </p:grpSpPr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7259545E-1F70-CEF3-89AC-318B7687AC1B}"/>
                </a:ext>
              </a:extLst>
            </p:cNvPr>
            <p:cNvSpPr txBox="1"/>
            <p:nvPr/>
          </p:nvSpPr>
          <p:spPr>
            <a:xfrm>
              <a:off x="4698987" y="4064174"/>
              <a:ext cx="2471753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search components generator </a:t>
              </a:r>
            </a:p>
          </p:txBody>
        </p:sp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4008E5F2-0D27-614E-56B8-11A70F0BD4AC}"/>
                </a:ext>
              </a:extLst>
            </p:cNvPr>
            <p:cNvGrpSpPr/>
            <p:nvPr/>
          </p:nvGrpSpPr>
          <p:grpSpPr>
            <a:xfrm>
              <a:off x="3121502" y="4031327"/>
              <a:ext cx="4612180" cy="1051916"/>
              <a:chOff x="3880220" y="3400661"/>
              <a:chExt cx="4612180" cy="1051916"/>
            </a:xfrm>
          </p:grpSpPr>
          <p:sp>
            <p:nvSpPr>
              <p:cNvPr id="1120" name="Rounded Rectangle 1119">
                <a:extLst>
                  <a:ext uri="{FF2B5EF4-FFF2-40B4-BE49-F238E27FC236}">
                    <a16:creationId xmlns:a16="http://schemas.microsoft.com/office/drawing/2014/main" id="{FA949BE3-80E2-C2A0-030E-1AE5A271568B}"/>
                  </a:ext>
                </a:extLst>
              </p:cNvPr>
              <p:cNvSpPr/>
              <p:nvPr/>
            </p:nvSpPr>
            <p:spPr>
              <a:xfrm>
                <a:off x="3880220" y="3400661"/>
                <a:ext cx="4612180" cy="1047824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5998AE2-6BBE-6747-A33B-67232F6A0B1C}"/>
                  </a:ext>
                </a:extLst>
              </p:cNvPr>
              <p:cNvSpPr txBox="1"/>
              <p:nvPr/>
            </p:nvSpPr>
            <p:spPr>
              <a:xfrm>
                <a:off x="3975801" y="3541074"/>
                <a:ext cx="936739" cy="85734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Search components code (black box model)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2870C0A-6A76-15B8-9B86-95E8AB67906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672519" y="3710088"/>
                <a:ext cx="2214026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8" name="Straight Connector 1197">
                <a:extLst>
                  <a:ext uri="{FF2B5EF4-FFF2-40B4-BE49-F238E27FC236}">
                    <a16:creationId xmlns:a16="http://schemas.microsoft.com/office/drawing/2014/main" id="{4B419473-EE5D-9A92-BF7C-D6A4DC193A3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72519" y="4237389"/>
                <a:ext cx="29282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1" name="Straight Connector 1200">
                <a:extLst>
                  <a:ext uri="{FF2B5EF4-FFF2-40B4-BE49-F238E27FC236}">
                    <a16:creationId xmlns:a16="http://schemas.microsoft.com/office/drawing/2014/main" id="{7C208E36-ED23-E399-6737-2FF5833B5BE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091331" y="4237389"/>
                <a:ext cx="567403" cy="10786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3D614AF3-024A-067C-31BF-6078760A0F9B}"/>
                  </a:ext>
                </a:extLst>
              </p:cNvPr>
              <p:cNvGrpSpPr/>
              <p:nvPr/>
            </p:nvGrpSpPr>
            <p:grpSpPr>
              <a:xfrm>
                <a:off x="4938489" y="3598455"/>
                <a:ext cx="795114" cy="795114"/>
                <a:chOff x="8251677" y="1916963"/>
                <a:chExt cx="795114" cy="795114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C0443744-0C5E-7A16-5203-67F76F5B54F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251677" y="1916963"/>
                  <a:ext cx="795114" cy="795114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0" name="Picture 8" descr="Coding ">
                  <a:extLst>
                    <a:ext uri="{FF2B5EF4-FFF2-40B4-BE49-F238E27FC236}">
                      <a16:creationId xmlns:a16="http://schemas.microsoft.com/office/drawing/2014/main" id="{BB429048-828A-B844-0FF2-3E6C49CD0FA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37821" y="2103044"/>
                  <a:ext cx="406347" cy="40634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047" name="Group 1046">
                <a:extLst>
                  <a:ext uri="{FF2B5EF4-FFF2-40B4-BE49-F238E27FC236}">
                    <a16:creationId xmlns:a16="http://schemas.microsoft.com/office/drawing/2014/main" id="{34E2AAB3-572E-F334-E060-27FE24CB93DE}"/>
                  </a:ext>
                </a:extLst>
              </p:cNvPr>
              <p:cNvGrpSpPr/>
              <p:nvPr/>
            </p:nvGrpSpPr>
            <p:grpSpPr>
              <a:xfrm>
                <a:off x="5710995" y="3780991"/>
                <a:ext cx="1372661" cy="671586"/>
                <a:chOff x="5643165" y="4422291"/>
                <a:chExt cx="1082209" cy="671586"/>
              </a:xfrm>
            </p:grpSpPr>
            <p:grpSp>
              <p:nvGrpSpPr>
                <p:cNvPr id="1063" name="Group 1062">
                  <a:extLst>
                    <a:ext uri="{FF2B5EF4-FFF2-40B4-BE49-F238E27FC236}">
                      <a16:creationId xmlns:a16="http://schemas.microsoft.com/office/drawing/2014/main" id="{F78B7E92-DC19-352D-91E1-08EB2E15ACE9}"/>
                    </a:ext>
                  </a:extLst>
                </p:cNvPr>
                <p:cNvGrpSpPr/>
                <p:nvPr/>
              </p:nvGrpSpPr>
              <p:grpSpPr>
                <a:xfrm>
                  <a:off x="5857721" y="4422291"/>
                  <a:ext cx="867653" cy="620330"/>
                  <a:chOff x="9994816" y="1149802"/>
                  <a:chExt cx="867653" cy="620330"/>
                </a:xfrm>
              </p:grpSpPr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FA32BA60-1421-A562-545D-357E05344DF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994816" y="1149802"/>
                    <a:ext cx="867653" cy="620330"/>
                  </a:xfrm>
                  <a:prstGeom prst="rect">
                    <a:avLst/>
                  </a:prstGeom>
                  <a:solidFill>
                    <a:srgbClr val="FFF1F1"/>
                  </a:solidFill>
                  <a:ln w="19050">
                    <a:solidFill>
                      <a:srgbClr val="FA4D5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57" name="Graphic 56" descr="Search Inventory with solid fill">
                    <a:extLst>
                      <a:ext uri="{FF2B5EF4-FFF2-40B4-BE49-F238E27FC236}">
                        <a16:creationId xmlns:a16="http://schemas.microsoft.com/office/drawing/2014/main" id="{0F19DDFE-DD4B-4F74-A3CD-6DF69FE71D1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449469" y="1155596"/>
                    <a:ext cx="377688" cy="45714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5F52871B-32C7-430E-C1B3-222C6D54B0D7}"/>
                    </a:ext>
                  </a:extLst>
                </p:cNvPr>
                <p:cNvSpPr txBox="1"/>
                <p:nvPr/>
              </p:nvSpPr>
              <p:spPr>
                <a:xfrm>
                  <a:off x="5643165" y="4617689"/>
                  <a:ext cx="952376" cy="47618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Search </a:t>
                  </a:r>
                </a:p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algorithm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CD9AF2E2-BE5D-2EC2-4320-3A4271174D65}"/>
                  </a:ext>
                </a:extLst>
              </p:cNvPr>
              <p:cNvGrpSpPr/>
              <p:nvPr/>
            </p:nvGrpSpPr>
            <p:grpSpPr>
              <a:xfrm>
                <a:off x="7693893" y="4034860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BDB207CA-56BA-707E-80A3-264CB1A29E6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38" name="Oval 1037">
                    <a:extLst>
                      <a:ext uri="{FF2B5EF4-FFF2-40B4-BE49-F238E27FC236}">
                        <a16:creationId xmlns:a16="http://schemas.microsoft.com/office/drawing/2014/main" id="{A573E5AB-B163-5F5A-4155-40C6BD27488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48" name="Graphic 1047" descr="Transfer with solid fill">
                    <a:extLst>
                      <a:ext uri="{FF2B5EF4-FFF2-40B4-BE49-F238E27FC236}">
                        <a16:creationId xmlns:a16="http://schemas.microsoft.com/office/drawing/2014/main" id="{49FE4555-7DC5-0CE4-5832-0DBC8196ED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D4E680D9-0EB5-9880-D7E1-974432A562C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447F4C1E-64F4-A947-26FA-8C5CA989DF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30" name="Graphic 1029" descr="Route (Two Pins With A Path) with solid fill">
                    <a:extLst>
                      <a:ext uri="{FF2B5EF4-FFF2-40B4-BE49-F238E27FC236}">
                        <a16:creationId xmlns:a16="http://schemas.microsoft.com/office/drawing/2014/main" id="{729A4796-F0B0-535C-706D-9CA5492307B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86" name="Group 1085">
                <a:extLst>
                  <a:ext uri="{FF2B5EF4-FFF2-40B4-BE49-F238E27FC236}">
                    <a16:creationId xmlns:a16="http://schemas.microsoft.com/office/drawing/2014/main" id="{8D547570-DC95-05C0-2E4D-EB04C8F1B0A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81855" y="3447878"/>
                <a:ext cx="561901" cy="563643"/>
                <a:chOff x="2706216" y="2534577"/>
                <a:chExt cx="939638" cy="1039482"/>
              </a:xfrm>
            </p:grpSpPr>
            <p:sp>
              <p:nvSpPr>
                <p:cNvPr id="1087" name="Oval 1086">
                  <a:extLst>
                    <a:ext uri="{FF2B5EF4-FFF2-40B4-BE49-F238E27FC236}">
                      <a16:creationId xmlns:a16="http://schemas.microsoft.com/office/drawing/2014/main" id="{6B45CF8A-12E1-91E3-5302-4C97FA6676F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88" name="Picture 1087">
                  <a:extLst>
                    <a:ext uri="{FF2B5EF4-FFF2-40B4-BE49-F238E27FC236}">
                      <a16:creationId xmlns:a16="http://schemas.microsoft.com/office/drawing/2014/main" id="{FB24C5A9-D30E-B050-C235-48DA6F86A1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165" name="Group 1164">
            <a:extLst>
              <a:ext uri="{FF2B5EF4-FFF2-40B4-BE49-F238E27FC236}">
                <a16:creationId xmlns:a16="http://schemas.microsoft.com/office/drawing/2014/main" id="{64EE441D-5E3D-16EF-BF34-1896D4C93CBB}"/>
              </a:ext>
            </a:extLst>
          </p:cNvPr>
          <p:cNvGrpSpPr/>
          <p:nvPr/>
        </p:nvGrpSpPr>
        <p:grpSpPr>
          <a:xfrm>
            <a:off x="3859200" y="5307360"/>
            <a:ext cx="4642469" cy="1061695"/>
            <a:chOff x="3880220" y="4569348"/>
            <a:chExt cx="4642469" cy="1061695"/>
          </a:xfrm>
        </p:grpSpPr>
        <p:sp>
          <p:nvSpPr>
            <p:cNvPr id="1107" name="Rounded Rectangle 1106">
              <a:extLst>
                <a:ext uri="{FF2B5EF4-FFF2-40B4-BE49-F238E27FC236}">
                  <a16:creationId xmlns:a16="http://schemas.microsoft.com/office/drawing/2014/main" id="{D1997A08-FAD9-B7C7-3CC0-40A57D913852}"/>
                </a:ext>
              </a:extLst>
            </p:cNvPr>
            <p:cNvSpPr/>
            <p:nvPr/>
          </p:nvSpPr>
          <p:spPr>
            <a:xfrm>
              <a:off x="3880220" y="4569348"/>
              <a:ext cx="4642469" cy="1061695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C8264EF-16B7-8319-2070-6957D207F4ED}"/>
                </a:ext>
              </a:extLst>
            </p:cNvPr>
            <p:cNvGrpSpPr/>
            <p:nvPr/>
          </p:nvGrpSpPr>
          <p:grpSpPr>
            <a:xfrm>
              <a:off x="5200015" y="4784955"/>
              <a:ext cx="795114" cy="795114"/>
              <a:chOff x="8251677" y="1916963"/>
              <a:chExt cx="795114" cy="795114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38E873F-D3D5-31FB-288B-B1FEC79143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251677" y="1916963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4" name="Picture 8" descr="Coding ">
                <a:extLst>
                  <a:ext uri="{FF2B5EF4-FFF2-40B4-BE49-F238E27FC236}">
                    <a16:creationId xmlns:a16="http://schemas.microsoft.com/office/drawing/2014/main" id="{4EF6941B-0E4D-FF43-0FF0-9089574153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37821" y="2103044"/>
                <a:ext cx="406347" cy="4063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36AED36-83C7-4B6C-D4DF-FA9789CC6AE2}"/>
                </a:ext>
              </a:extLst>
            </p:cNvPr>
            <p:cNvSpPr txBox="1"/>
            <p:nvPr/>
          </p:nvSpPr>
          <p:spPr>
            <a:xfrm>
              <a:off x="3904758" y="4894218"/>
              <a:ext cx="1396461" cy="6943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Policy code</a:t>
              </a:r>
            </a:p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(domain-specific planner)</a:t>
              </a:r>
            </a:p>
          </p:txBody>
        </p: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B3FC890B-A18B-47F8-73A0-A09363701256}"/>
                </a:ext>
              </a:extLst>
            </p:cNvPr>
            <p:cNvCxnSpPr>
              <a:cxnSpLocks/>
              <a:endCxn id="12" idx="7"/>
            </p:cNvCxnSpPr>
            <p:nvPr/>
          </p:nvCxnSpPr>
          <p:spPr bwMode="auto">
            <a:xfrm flipH="1">
              <a:off x="5878687" y="4894881"/>
              <a:ext cx="2007858" cy="65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32DF34FF-C83A-1ADB-89B0-8B88003ACDDA}"/>
                </a:ext>
              </a:extLst>
            </p:cNvPr>
            <p:cNvSpPr txBox="1"/>
            <p:nvPr/>
          </p:nvSpPr>
          <p:spPr>
            <a:xfrm>
              <a:off x="6098536" y="4632618"/>
              <a:ext cx="1812229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policy generator</a:t>
              </a:r>
            </a:p>
          </p:txBody>
        </p:sp>
        <p:cxnSp>
          <p:nvCxnSpPr>
            <p:cNvPr id="1176" name="Straight Connector 1175">
              <a:extLst>
                <a:ext uri="{FF2B5EF4-FFF2-40B4-BE49-F238E27FC236}">
                  <a16:creationId xmlns:a16="http://schemas.microsoft.com/office/drawing/2014/main" id="{93B54E36-7447-6DAC-4EF0-7EA79A29311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34864" y="5364385"/>
              <a:ext cx="1773506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7D3915D-ACC2-AF94-DE4A-9FF330875A30}"/>
                </a:ext>
              </a:extLst>
            </p:cNvPr>
            <p:cNvGrpSpPr/>
            <p:nvPr/>
          </p:nvGrpSpPr>
          <p:grpSpPr>
            <a:xfrm>
              <a:off x="7717032" y="5221610"/>
              <a:ext cx="773317" cy="381910"/>
              <a:chOff x="7498472" y="1277142"/>
              <a:chExt cx="773317" cy="38191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2B44C52-3DEC-6767-3E44-5CD0B47BA42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BE985FE6-37AF-2469-0481-3D5A52DE0A0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38" name="Graphic 37" descr="Transfer with solid fill">
                  <a:extLst>
                    <a:ext uri="{FF2B5EF4-FFF2-40B4-BE49-F238E27FC236}">
                      <a16:creationId xmlns:a16="http://schemas.microsoft.com/office/drawing/2014/main" id="{9D56B62A-6C62-3F4C-219D-7B3C08CAF8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FC41205-35EA-B9A7-E27E-7BAA46A89F4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35FF78C3-D8DE-CE61-E646-B28FEE26FFB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8" name="Graphic 17" descr="Route (Two Pins With A Path) with solid fill">
                  <a:extLst>
                    <a:ext uri="{FF2B5EF4-FFF2-40B4-BE49-F238E27FC236}">
                      <a16:creationId xmlns:a16="http://schemas.microsoft.com/office/drawing/2014/main" id="{A88B4D22-6DE5-99CD-F535-E3286C3746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127" name="Group 1126">
              <a:extLst>
                <a:ext uri="{FF2B5EF4-FFF2-40B4-BE49-F238E27FC236}">
                  <a16:creationId xmlns:a16="http://schemas.microsoft.com/office/drawing/2014/main" id="{8A2D7F1D-C611-337E-952A-ECA3137B0A8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02582" y="4633098"/>
              <a:ext cx="561901" cy="563643"/>
              <a:chOff x="2706216" y="2534577"/>
              <a:chExt cx="939638" cy="1039482"/>
            </a:xfrm>
          </p:grpSpPr>
          <p:sp>
            <p:nvSpPr>
              <p:cNvPr id="1128" name="Oval 1127">
                <a:extLst>
                  <a:ext uri="{FF2B5EF4-FFF2-40B4-BE49-F238E27FC236}">
                    <a16:creationId xmlns:a16="http://schemas.microsoft.com/office/drawing/2014/main" id="{F70338E2-9817-E3D6-DF5E-345E59A38C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29" name="Picture 1128">
                <a:extLst>
                  <a:ext uri="{FF2B5EF4-FFF2-40B4-BE49-F238E27FC236}">
                    <a16:creationId xmlns:a16="http://schemas.microsoft.com/office/drawing/2014/main" id="{B24BD3C7-0B41-EDB9-5500-2E252D204B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1166" name="Group 1165">
            <a:extLst>
              <a:ext uri="{FF2B5EF4-FFF2-40B4-BE49-F238E27FC236}">
                <a16:creationId xmlns:a16="http://schemas.microsoft.com/office/drawing/2014/main" id="{8DC96854-225D-899C-455A-2CB87699D4FE}"/>
              </a:ext>
            </a:extLst>
          </p:cNvPr>
          <p:cNvGrpSpPr/>
          <p:nvPr/>
        </p:nvGrpSpPr>
        <p:grpSpPr>
          <a:xfrm>
            <a:off x="3846380" y="3130132"/>
            <a:ext cx="4654543" cy="1157440"/>
            <a:chOff x="3867400" y="5758053"/>
            <a:chExt cx="4654543" cy="1157440"/>
          </a:xfrm>
        </p:grpSpPr>
        <p:sp>
          <p:nvSpPr>
            <p:cNvPr id="1116" name="Rounded Rectangle 1115">
              <a:extLst>
                <a:ext uri="{FF2B5EF4-FFF2-40B4-BE49-F238E27FC236}">
                  <a16:creationId xmlns:a16="http://schemas.microsoft.com/office/drawing/2014/main" id="{D8365A1A-A983-1A62-DCAA-EF8A71BDDEE0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A4F93E-CFE7-A03C-CB93-868A4557B614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860E300-51D4-FDAB-6D10-205BAE59591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91BB6E9-37C9-DEDF-395A-0FB0321C679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2" name="TextBox 1091">
              <a:extLst>
                <a:ext uri="{FF2B5EF4-FFF2-40B4-BE49-F238E27FC236}">
                  <a16:creationId xmlns:a16="http://schemas.microsoft.com/office/drawing/2014/main" id="{5B29041A-C7B2-F304-AE0C-873121B201FF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1225" name="Straight Connector 1224">
              <a:extLst>
                <a:ext uri="{FF2B5EF4-FFF2-40B4-BE49-F238E27FC236}">
                  <a16:creationId xmlns:a16="http://schemas.microsoft.com/office/drawing/2014/main" id="{C475A0AF-59AB-12C4-6BBE-89029EE6E299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714023E-9082-5CF6-D902-6914286CCE85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AD2A3A54-87C3-24C0-13DC-FE56AFB463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FFCBFFC5-5299-9E5F-B4D9-46EC0C0F9B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0A199283-3F34-1815-F344-D223AEB174AB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40" name="Group 1039">
                <a:extLst>
                  <a:ext uri="{FF2B5EF4-FFF2-40B4-BE49-F238E27FC236}">
                    <a16:creationId xmlns:a16="http://schemas.microsoft.com/office/drawing/2014/main" id="{464A0364-FDF0-A73A-7288-BBF81641498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44" name="Oval 1043">
                  <a:extLst>
                    <a:ext uri="{FF2B5EF4-FFF2-40B4-BE49-F238E27FC236}">
                      <a16:creationId xmlns:a16="http://schemas.microsoft.com/office/drawing/2014/main" id="{34AE7220-A8B0-86FC-57F9-CB4123FCC0D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5" name="Graphic 1044" descr="Transfer with solid fill">
                  <a:extLst>
                    <a:ext uri="{FF2B5EF4-FFF2-40B4-BE49-F238E27FC236}">
                      <a16:creationId xmlns:a16="http://schemas.microsoft.com/office/drawing/2014/main" id="{0A5F8584-7570-E573-76D2-DE8778DF9D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1" name="Group 1040">
                <a:extLst>
                  <a:ext uri="{FF2B5EF4-FFF2-40B4-BE49-F238E27FC236}">
                    <a16:creationId xmlns:a16="http://schemas.microsoft.com/office/drawing/2014/main" id="{33A87103-F109-10A4-83F7-77EBD0EE605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42" name="Oval 1041">
                  <a:extLst>
                    <a:ext uri="{FF2B5EF4-FFF2-40B4-BE49-F238E27FC236}">
                      <a16:creationId xmlns:a16="http://schemas.microsoft.com/office/drawing/2014/main" id="{EF979C75-0DC1-179A-D3D3-C865251D6C3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3" name="Graphic 1042" descr="Route (Two Pins With A Path) with solid fill">
                  <a:extLst>
                    <a:ext uri="{FF2B5EF4-FFF2-40B4-BE49-F238E27FC236}">
                      <a16:creationId xmlns:a16="http://schemas.microsoft.com/office/drawing/2014/main" id="{B8B9CE6A-D36E-7B58-E787-02619EE00B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04E1FFC7-4B66-EBDA-D852-FCA529986CA6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978B136-913A-45FC-E30D-79256A1DB920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33D9B91-6281-2B42-283E-849208F0522D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8" name="Graphic 57" descr="Magnifying glass with solid fill">
                  <a:extLst>
                    <a:ext uri="{FF2B5EF4-FFF2-40B4-BE49-F238E27FC236}">
                      <a16:creationId xmlns:a16="http://schemas.microsoft.com/office/drawing/2014/main" id="{4469E7DC-D08A-F803-C8D8-AFC61FC901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D5DA1B41-2F40-1606-EC6F-0D8EDE8061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6">
                  <a:extLst>
                    <a:ext uri="{BEBA8EAE-BF5A-486C-A8C5-ECC9F3942E4B}">
                      <a14:imgProps xmlns:a14="http://schemas.microsoft.com/office/drawing/2010/main">
                        <a14:imgLayer r:embed="rId17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6F699A6-68CF-CA49-E9F3-48AC2CBFF6F0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2BA8BCA6-99AC-00A5-0E36-B0E356307F7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131" name="Oval 1130">
                <a:extLst>
                  <a:ext uri="{FF2B5EF4-FFF2-40B4-BE49-F238E27FC236}">
                    <a16:creationId xmlns:a16="http://schemas.microsoft.com/office/drawing/2014/main" id="{1BE44FFD-BCF2-559F-D0EE-C2237A5C33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32" name="Picture 1131">
                <a:extLst>
                  <a:ext uri="{FF2B5EF4-FFF2-40B4-BE49-F238E27FC236}">
                    <a16:creationId xmlns:a16="http://schemas.microsoft.com/office/drawing/2014/main" id="{5AA2C4BA-1791-F7DD-3EF6-62F35136E0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79947A-62B7-0DA6-420F-6583862BBFB3}"/>
              </a:ext>
            </a:extLst>
          </p:cNvPr>
          <p:cNvGrpSpPr/>
          <p:nvPr/>
        </p:nvGrpSpPr>
        <p:grpSpPr>
          <a:xfrm>
            <a:off x="181816" y="2931513"/>
            <a:ext cx="3121111" cy="1847333"/>
            <a:chOff x="181816" y="2931513"/>
            <a:chExt cx="3121111" cy="184733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A9A76FB-E293-A968-4DD3-0B7B8950876E}"/>
                </a:ext>
              </a:extLst>
            </p:cNvPr>
            <p:cNvSpPr txBox="1"/>
            <p:nvPr/>
          </p:nvSpPr>
          <p:spPr>
            <a:xfrm>
              <a:off x="197886" y="3521129"/>
              <a:ext cx="22896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Oswald et al, ICAPS 2024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ACC90C3-2183-82B3-1511-F522FB4F711E}"/>
                </a:ext>
              </a:extLst>
            </p:cNvPr>
            <p:cNvSpPr txBox="1"/>
            <p:nvPr/>
          </p:nvSpPr>
          <p:spPr>
            <a:xfrm>
              <a:off x="189999" y="2931513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Guan et al, NeurIPS 2023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2585D4C-83DE-FD1B-DCD8-4035F73CE6C5}"/>
                </a:ext>
              </a:extLst>
            </p:cNvPr>
            <p:cNvSpPr txBox="1"/>
            <p:nvPr/>
          </p:nvSpPr>
          <p:spPr>
            <a:xfrm>
              <a:off x="202060" y="3247885"/>
              <a:ext cx="30248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Gestrin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et al, HAXP@ICAPS 2024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7DD4AB-F28D-92FD-9A7D-F130D83012BF}"/>
                </a:ext>
              </a:extLst>
            </p:cNvPr>
            <p:cNvSpPr txBox="1"/>
            <p:nvPr/>
          </p:nvSpPr>
          <p:spPr>
            <a:xfrm>
              <a:off x="187833" y="3801861"/>
              <a:ext cx="21421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Huang et al, AAAI 2025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3CB6ED-BF74-23C2-8990-7A094BFA2624}"/>
                </a:ext>
              </a:extLst>
            </p:cNvPr>
            <p:cNvSpPr txBox="1"/>
            <p:nvPr/>
          </p:nvSpPr>
          <p:spPr>
            <a:xfrm>
              <a:off x="181816" y="4115486"/>
              <a:ext cx="31211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Tantakoun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et al, ACL Findings 2025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F7103A-BFD8-25B2-4F6F-F9C527AB645E}"/>
                </a:ext>
              </a:extLst>
            </p:cNvPr>
            <p:cNvSpPr txBox="1"/>
            <p:nvPr/>
          </p:nvSpPr>
          <p:spPr>
            <a:xfrm>
              <a:off x="189999" y="4440292"/>
              <a:ext cx="2709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Oswald et al, WM@ICLR 2026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E953C4-624E-E41D-216B-4B5087E1BB41}"/>
              </a:ext>
            </a:extLst>
          </p:cNvPr>
          <p:cNvGrpSpPr/>
          <p:nvPr/>
        </p:nvGrpSpPr>
        <p:grpSpPr>
          <a:xfrm>
            <a:off x="242801" y="5209255"/>
            <a:ext cx="3732270" cy="1266071"/>
            <a:chOff x="242801" y="5080048"/>
            <a:chExt cx="3732270" cy="126607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8052458-34FD-D151-6F27-0534EA6B81DC}"/>
                </a:ext>
              </a:extLst>
            </p:cNvPr>
            <p:cNvGrpSpPr/>
            <p:nvPr/>
          </p:nvGrpSpPr>
          <p:grpSpPr>
            <a:xfrm>
              <a:off x="242801" y="5080048"/>
              <a:ext cx="3731486" cy="950229"/>
              <a:chOff x="242801" y="4580572"/>
              <a:chExt cx="3731486" cy="950229"/>
            </a:xfrm>
          </p:grpSpPr>
          <p:sp>
            <p:nvSpPr>
              <p:cNvPr id="1255" name="TextBox 1254">
                <a:extLst>
                  <a:ext uri="{FF2B5EF4-FFF2-40B4-BE49-F238E27FC236}">
                    <a16:creationId xmlns:a16="http://schemas.microsoft.com/office/drawing/2014/main" id="{B02439FC-5052-0D55-AEDE-59B65C04BAFC}"/>
                  </a:ext>
                </a:extLst>
              </p:cNvPr>
              <p:cNvSpPr txBox="1"/>
              <p:nvPr/>
            </p:nvSpPr>
            <p:spPr>
              <a:xfrm>
                <a:off x="242801" y="4580572"/>
                <a:ext cx="20616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Silver et al, AAAI 2024</a:t>
                </a:r>
              </a:p>
            </p:txBody>
          </p:sp>
          <p:sp>
            <p:nvSpPr>
              <p:cNvPr id="1292" name="TextBox 1291">
                <a:extLst>
                  <a:ext uri="{FF2B5EF4-FFF2-40B4-BE49-F238E27FC236}">
                    <a16:creationId xmlns:a16="http://schemas.microsoft.com/office/drawing/2014/main" id="{E51A1702-0FB3-8024-C150-FF155F05F77A}"/>
                  </a:ext>
                </a:extLst>
              </p:cNvPr>
              <p:cNvSpPr txBox="1"/>
              <p:nvPr/>
            </p:nvSpPr>
            <p:spPr>
              <a:xfrm>
                <a:off x="242801" y="4871506"/>
                <a:ext cx="21242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Hodel, BSc Thesis 2024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DECD63-B7D1-2143-492E-E2E72BBE1C8D}"/>
                  </a:ext>
                </a:extLst>
              </p:cNvPr>
              <p:cNvSpPr txBox="1"/>
              <p:nvPr/>
            </p:nvSpPr>
            <p:spPr>
              <a:xfrm>
                <a:off x="244893" y="5192247"/>
                <a:ext cx="37293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Stein et al, ICAPS 2026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E07339-C6BE-77A8-7D30-5B7FC75FBE2D}"/>
                </a:ext>
              </a:extLst>
            </p:cNvPr>
            <p:cNvSpPr txBox="1"/>
            <p:nvPr/>
          </p:nvSpPr>
          <p:spPr>
            <a:xfrm>
              <a:off x="245677" y="6007565"/>
              <a:ext cx="37293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Sohrabi et al, LM4Plan@ICAPS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283317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5FBF3-9AB7-6B0D-558B-BA1EE91B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B7B711D-5FFC-A409-7128-5C48DB8F996F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DFCCDE02-866D-1D7D-3CDF-9250BD448535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80CD8025-192A-C6EA-D638-3732EDAD76A8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2EA8EE5-CD00-E9E5-E2AD-C119B7EF10EC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215EB71-EA02-09C3-BBF0-FD8B9CAE25D9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00A419C4-DAA5-ED53-2832-3F75A83A12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D621D43D-57E6-5CE8-BBC8-384CD8F8FB28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75502788-5156-31A3-CB2E-AC2C2857C934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E3E59BB7-3BDF-05C9-FF64-9974E06583BD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49A015C7-707F-1BC4-E54D-B89075975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World Models generation</a:t>
            </a:r>
          </a:p>
        </p:txBody>
      </p:sp>
      <p:grpSp>
        <p:nvGrpSpPr>
          <p:cNvPr id="1170" name="Group 1169">
            <a:extLst>
              <a:ext uri="{FF2B5EF4-FFF2-40B4-BE49-F238E27FC236}">
                <a16:creationId xmlns:a16="http://schemas.microsoft.com/office/drawing/2014/main" id="{C6CD4312-E638-215A-19A3-BB39836EE61B}"/>
              </a:ext>
            </a:extLst>
          </p:cNvPr>
          <p:cNvGrpSpPr/>
          <p:nvPr/>
        </p:nvGrpSpPr>
        <p:grpSpPr>
          <a:xfrm>
            <a:off x="173285" y="1338607"/>
            <a:ext cx="2884979" cy="1143873"/>
            <a:chOff x="173285" y="1328097"/>
            <a:chExt cx="2884979" cy="1143873"/>
          </a:xfrm>
        </p:grpSpPr>
        <p:sp>
          <p:nvSpPr>
            <p:cNvPr id="1257" name="TextBox 1256">
              <a:extLst>
                <a:ext uri="{FF2B5EF4-FFF2-40B4-BE49-F238E27FC236}">
                  <a16:creationId xmlns:a16="http://schemas.microsoft.com/office/drawing/2014/main" id="{EBE06061-D41D-2490-8D65-93C4DE348222}"/>
                </a:ext>
              </a:extLst>
            </p:cNvPr>
            <p:cNvSpPr txBox="1"/>
            <p:nvPr/>
          </p:nvSpPr>
          <p:spPr>
            <a:xfrm>
              <a:off x="202060" y="1328097"/>
              <a:ext cx="22065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Katz et al, NeurIPS 2024</a:t>
              </a:r>
            </a:p>
          </p:txBody>
        </p:sp>
        <p:sp>
          <p:nvSpPr>
            <p:cNvPr id="1258" name="TextBox 1257">
              <a:extLst>
                <a:ext uri="{FF2B5EF4-FFF2-40B4-BE49-F238E27FC236}">
                  <a16:creationId xmlns:a16="http://schemas.microsoft.com/office/drawing/2014/main" id="{BDEE53C5-6857-9418-F3E4-2B6E557488D9}"/>
                </a:ext>
              </a:extLst>
            </p:cNvPr>
            <p:cNvSpPr txBox="1"/>
            <p:nvPr/>
          </p:nvSpPr>
          <p:spPr>
            <a:xfrm>
              <a:off x="173881" y="1585877"/>
              <a:ext cx="288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Cao et al, ICAPS 2026</a:t>
              </a:r>
            </a:p>
          </p:txBody>
        </p:sp>
        <p:sp>
          <p:nvSpPr>
            <p:cNvPr id="1260" name="TextBox 1259">
              <a:extLst>
                <a:ext uri="{FF2B5EF4-FFF2-40B4-BE49-F238E27FC236}">
                  <a16:creationId xmlns:a16="http://schemas.microsoft.com/office/drawing/2014/main" id="{8EDA45DF-2EC1-DA11-9998-B14E688D1E0B}"/>
                </a:ext>
              </a:extLst>
            </p:cNvPr>
            <p:cNvSpPr txBox="1"/>
            <p:nvPr/>
          </p:nvSpPr>
          <p:spPr>
            <a:xfrm>
              <a:off x="179323" y="2133416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Tuisov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et al, ICAPS 2026</a:t>
              </a:r>
            </a:p>
          </p:txBody>
        </p:sp>
        <p:sp>
          <p:nvSpPr>
            <p:cNvPr id="1261" name="TextBox 1260">
              <a:extLst>
                <a:ext uri="{FF2B5EF4-FFF2-40B4-BE49-F238E27FC236}">
                  <a16:creationId xmlns:a16="http://schemas.microsoft.com/office/drawing/2014/main" id="{799FE5A0-D68E-B21A-6247-907A6E87627D}"/>
                </a:ext>
              </a:extLst>
            </p:cNvPr>
            <p:cNvSpPr txBox="1"/>
            <p:nvPr/>
          </p:nvSpPr>
          <p:spPr>
            <a:xfrm>
              <a:off x="173285" y="1847043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Correa et al, </a:t>
              </a:r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NeurIPS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2025</a:t>
              </a:r>
            </a:p>
          </p:txBody>
        </p:sp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9CC0A09C-8B23-6FF2-BFB4-EEA912709764}"/>
              </a:ext>
            </a:extLst>
          </p:cNvPr>
          <p:cNvGrpSpPr/>
          <p:nvPr/>
        </p:nvGrpSpPr>
        <p:grpSpPr>
          <a:xfrm>
            <a:off x="8492047" y="1438294"/>
            <a:ext cx="1312854" cy="665341"/>
            <a:chOff x="8546179" y="5706967"/>
            <a:chExt cx="1312854" cy="665341"/>
          </a:xfrm>
        </p:grpSpPr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AA83441D-05FF-1263-93D0-B51C306778E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B8B514F1-683F-66F8-5020-6F33963C9FD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09" name="TextBox 1108">
              <a:extLst>
                <a:ext uri="{FF2B5EF4-FFF2-40B4-BE49-F238E27FC236}">
                  <a16:creationId xmlns:a16="http://schemas.microsoft.com/office/drawing/2014/main" id="{56B6ECD1-131A-E02E-CD2F-770D94DB7BF1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110" name="TextBox 1109">
              <a:extLst>
                <a:ext uri="{FF2B5EF4-FFF2-40B4-BE49-F238E27FC236}">
                  <a16:creationId xmlns:a16="http://schemas.microsoft.com/office/drawing/2014/main" id="{22F21475-4E7E-4B0B-C5F8-F582C7953712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4" name="Group 1163">
            <a:extLst>
              <a:ext uri="{FF2B5EF4-FFF2-40B4-BE49-F238E27FC236}">
                <a16:creationId xmlns:a16="http://schemas.microsoft.com/office/drawing/2014/main" id="{67D9AB7A-3F06-E3C1-A4CF-6E8B49FFA9C5}"/>
              </a:ext>
            </a:extLst>
          </p:cNvPr>
          <p:cNvGrpSpPr/>
          <p:nvPr/>
        </p:nvGrpSpPr>
        <p:grpSpPr>
          <a:xfrm>
            <a:off x="3878071" y="1381042"/>
            <a:ext cx="4612180" cy="1051916"/>
            <a:chOff x="3121502" y="4031327"/>
            <a:chExt cx="4612180" cy="1051916"/>
          </a:xfrm>
        </p:grpSpPr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376993D2-AEB4-D8F0-9CAA-5C019D9883D8}"/>
                </a:ext>
              </a:extLst>
            </p:cNvPr>
            <p:cNvSpPr txBox="1"/>
            <p:nvPr/>
          </p:nvSpPr>
          <p:spPr>
            <a:xfrm>
              <a:off x="4698987" y="4064174"/>
              <a:ext cx="2471753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search components generator </a:t>
              </a:r>
            </a:p>
          </p:txBody>
        </p:sp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A6F4FD41-02A9-2387-8722-BD882C9D7DF8}"/>
                </a:ext>
              </a:extLst>
            </p:cNvPr>
            <p:cNvGrpSpPr/>
            <p:nvPr/>
          </p:nvGrpSpPr>
          <p:grpSpPr>
            <a:xfrm>
              <a:off x="3121502" y="4031327"/>
              <a:ext cx="4612180" cy="1051916"/>
              <a:chOff x="3880220" y="3400661"/>
              <a:chExt cx="4612180" cy="1051916"/>
            </a:xfrm>
          </p:grpSpPr>
          <p:sp>
            <p:nvSpPr>
              <p:cNvPr id="1120" name="Rounded Rectangle 1119">
                <a:extLst>
                  <a:ext uri="{FF2B5EF4-FFF2-40B4-BE49-F238E27FC236}">
                    <a16:creationId xmlns:a16="http://schemas.microsoft.com/office/drawing/2014/main" id="{0ADA389F-2E31-D672-8728-3664F66DF8E9}"/>
                  </a:ext>
                </a:extLst>
              </p:cNvPr>
              <p:cNvSpPr/>
              <p:nvPr/>
            </p:nvSpPr>
            <p:spPr>
              <a:xfrm>
                <a:off x="3880220" y="3400661"/>
                <a:ext cx="4612180" cy="1047824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642D22F-3D01-FBE4-3A4F-4C305F7E59B0}"/>
                  </a:ext>
                </a:extLst>
              </p:cNvPr>
              <p:cNvSpPr txBox="1"/>
              <p:nvPr/>
            </p:nvSpPr>
            <p:spPr>
              <a:xfrm>
                <a:off x="3975801" y="3541074"/>
                <a:ext cx="936739" cy="85734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Search components code (black box model)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458AFE28-80D8-910A-982B-E54082B2B59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672519" y="3710088"/>
                <a:ext cx="2214026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8" name="Straight Connector 1197">
                <a:extLst>
                  <a:ext uri="{FF2B5EF4-FFF2-40B4-BE49-F238E27FC236}">
                    <a16:creationId xmlns:a16="http://schemas.microsoft.com/office/drawing/2014/main" id="{144EB632-7CFF-8D6A-482B-DEBC2F1BA18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72519" y="4237389"/>
                <a:ext cx="29282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1" name="Straight Connector 1200">
                <a:extLst>
                  <a:ext uri="{FF2B5EF4-FFF2-40B4-BE49-F238E27FC236}">
                    <a16:creationId xmlns:a16="http://schemas.microsoft.com/office/drawing/2014/main" id="{E62874D2-CC09-A65C-A6C1-0461C70EE3B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091331" y="4237389"/>
                <a:ext cx="567403" cy="10786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79BAA2BF-C81B-AA70-BB21-B6374A1090C3}"/>
                  </a:ext>
                </a:extLst>
              </p:cNvPr>
              <p:cNvGrpSpPr/>
              <p:nvPr/>
            </p:nvGrpSpPr>
            <p:grpSpPr>
              <a:xfrm>
                <a:off x="4938489" y="3598455"/>
                <a:ext cx="795114" cy="795114"/>
                <a:chOff x="8251677" y="1916963"/>
                <a:chExt cx="795114" cy="795114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5F42EB0-504B-60BA-2AF5-B4907BFF4ED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251677" y="1916963"/>
                  <a:ext cx="795114" cy="795114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0" name="Picture 8" descr="Coding ">
                  <a:extLst>
                    <a:ext uri="{FF2B5EF4-FFF2-40B4-BE49-F238E27FC236}">
                      <a16:creationId xmlns:a16="http://schemas.microsoft.com/office/drawing/2014/main" id="{73FB3064-C888-0AB3-C6B1-3C44837B153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37821" y="2103044"/>
                  <a:ext cx="406347" cy="40634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047" name="Group 1046">
                <a:extLst>
                  <a:ext uri="{FF2B5EF4-FFF2-40B4-BE49-F238E27FC236}">
                    <a16:creationId xmlns:a16="http://schemas.microsoft.com/office/drawing/2014/main" id="{B5351FE1-FA3D-11B5-FEBE-819F339E2F6C}"/>
                  </a:ext>
                </a:extLst>
              </p:cNvPr>
              <p:cNvGrpSpPr/>
              <p:nvPr/>
            </p:nvGrpSpPr>
            <p:grpSpPr>
              <a:xfrm>
                <a:off x="5710995" y="3780991"/>
                <a:ext cx="1372661" cy="671586"/>
                <a:chOff x="5643165" y="4422291"/>
                <a:chExt cx="1082209" cy="671586"/>
              </a:xfrm>
            </p:grpSpPr>
            <p:grpSp>
              <p:nvGrpSpPr>
                <p:cNvPr id="1063" name="Group 1062">
                  <a:extLst>
                    <a:ext uri="{FF2B5EF4-FFF2-40B4-BE49-F238E27FC236}">
                      <a16:creationId xmlns:a16="http://schemas.microsoft.com/office/drawing/2014/main" id="{00E4ADB6-EB1A-3A93-3752-3F847F6C207E}"/>
                    </a:ext>
                  </a:extLst>
                </p:cNvPr>
                <p:cNvGrpSpPr/>
                <p:nvPr/>
              </p:nvGrpSpPr>
              <p:grpSpPr>
                <a:xfrm>
                  <a:off x="5857721" y="4422291"/>
                  <a:ext cx="867653" cy="620330"/>
                  <a:chOff x="9994816" y="1149802"/>
                  <a:chExt cx="867653" cy="620330"/>
                </a:xfrm>
              </p:grpSpPr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608771A7-F94E-E6BC-DF21-D8FF3DFBAA8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994816" y="1149802"/>
                    <a:ext cx="867653" cy="620330"/>
                  </a:xfrm>
                  <a:prstGeom prst="rect">
                    <a:avLst/>
                  </a:prstGeom>
                  <a:solidFill>
                    <a:srgbClr val="FFF1F1"/>
                  </a:solidFill>
                  <a:ln w="19050">
                    <a:solidFill>
                      <a:srgbClr val="FA4D5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57" name="Graphic 56" descr="Search Inventory with solid fill">
                    <a:extLst>
                      <a:ext uri="{FF2B5EF4-FFF2-40B4-BE49-F238E27FC236}">
                        <a16:creationId xmlns:a16="http://schemas.microsoft.com/office/drawing/2014/main" id="{0192B3F9-5F46-09AE-4399-D3616DA92A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449469" y="1155596"/>
                    <a:ext cx="377688" cy="45714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486D003-D9EE-7645-7E6B-511843C953DF}"/>
                    </a:ext>
                  </a:extLst>
                </p:cNvPr>
                <p:cNvSpPr txBox="1"/>
                <p:nvPr/>
              </p:nvSpPr>
              <p:spPr>
                <a:xfrm>
                  <a:off x="5643165" y="4617689"/>
                  <a:ext cx="952376" cy="47618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Search </a:t>
                  </a:r>
                </a:p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algorithm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D000AE32-9681-69D2-5D07-F75C7F799697}"/>
                  </a:ext>
                </a:extLst>
              </p:cNvPr>
              <p:cNvGrpSpPr/>
              <p:nvPr/>
            </p:nvGrpSpPr>
            <p:grpSpPr>
              <a:xfrm>
                <a:off x="7693893" y="4034860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AD8DEACF-3FE8-91C6-8F5B-3CF3B5FE3ED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38" name="Oval 1037">
                    <a:extLst>
                      <a:ext uri="{FF2B5EF4-FFF2-40B4-BE49-F238E27FC236}">
                        <a16:creationId xmlns:a16="http://schemas.microsoft.com/office/drawing/2014/main" id="{649170EC-14FF-0424-3DE4-456C9A48ABA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48" name="Graphic 1047" descr="Transfer with solid fill">
                    <a:extLst>
                      <a:ext uri="{FF2B5EF4-FFF2-40B4-BE49-F238E27FC236}">
                        <a16:creationId xmlns:a16="http://schemas.microsoft.com/office/drawing/2014/main" id="{FA161496-1CC4-739E-242E-C188EE8376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42A6B8D7-A81A-FD5B-0BD2-56DAAA569CC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B5992E23-A875-576E-0E49-717B0C381B4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30" name="Graphic 1029" descr="Route (Two Pins With A Path) with solid fill">
                    <a:extLst>
                      <a:ext uri="{FF2B5EF4-FFF2-40B4-BE49-F238E27FC236}">
                        <a16:creationId xmlns:a16="http://schemas.microsoft.com/office/drawing/2014/main" id="{1D3EF137-3001-F858-7EA8-9CBE5AB526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86" name="Group 1085">
                <a:extLst>
                  <a:ext uri="{FF2B5EF4-FFF2-40B4-BE49-F238E27FC236}">
                    <a16:creationId xmlns:a16="http://schemas.microsoft.com/office/drawing/2014/main" id="{CFA5D461-2410-86D0-2BB1-28056754A68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81855" y="3447878"/>
                <a:ext cx="561901" cy="563643"/>
                <a:chOff x="2706216" y="2534577"/>
                <a:chExt cx="939638" cy="1039482"/>
              </a:xfrm>
            </p:grpSpPr>
            <p:sp>
              <p:nvSpPr>
                <p:cNvPr id="1087" name="Oval 1086">
                  <a:extLst>
                    <a:ext uri="{FF2B5EF4-FFF2-40B4-BE49-F238E27FC236}">
                      <a16:creationId xmlns:a16="http://schemas.microsoft.com/office/drawing/2014/main" id="{19F256B6-562D-6FB8-63C7-89E68924E40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88" name="Picture 1087">
                  <a:extLst>
                    <a:ext uri="{FF2B5EF4-FFF2-40B4-BE49-F238E27FC236}">
                      <a16:creationId xmlns:a16="http://schemas.microsoft.com/office/drawing/2014/main" id="{B73D7B18-EAB2-C0E2-3E8B-B391A0FE6B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8238C75-E232-2E30-2FCA-E1780E6E0D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92" y="2911647"/>
            <a:ext cx="9648774" cy="3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126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85412-5D2C-1C4B-10A9-CBFD0D432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E90539A2-58CC-3E0B-35A2-30D1AEECB0AE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A784B0F7-CE7E-508F-EDC2-96346A2E1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97217" cy="523220"/>
          </a:xfrm>
        </p:spPr>
        <p:txBody>
          <a:bodyPr>
            <a:noAutofit/>
          </a:bodyPr>
          <a:lstStyle/>
          <a:p>
            <a:r>
              <a:rPr lang="en-US" sz="4400" dirty="0"/>
              <a:t>Thought of Search (</a:t>
            </a:r>
            <a:r>
              <a:rPr lang="en-US" sz="4400" dirty="0" err="1"/>
              <a:t>ToS</a:t>
            </a:r>
            <a:r>
              <a:rPr lang="en-US" sz="4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0DAEEE-BC19-D8B6-F189-15AA7EE761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83" r="74806"/>
          <a:stretch>
            <a:fillRect/>
          </a:stretch>
        </p:blipFill>
        <p:spPr>
          <a:xfrm>
            <a:off x="0" y="705268"/>
            <a:ext cx="4331368" cy="610964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B93E639-15B8-88ED-74B3-CA2F1FB7E2C9}"/>
              </a:ext>
            </a:extLst>
          </p:cNvPr>
          <p:cNvGrpSpPr/>
          <p:nvPr/>
        </p:nvGrpSpPr>
        <p:grpSpPr>
          <a:xfrm>
            <a:off x="4475748" y="2935709"/>
            <a:ext cx="7427012" cy="3175206"/>
            <a:chOff x="1064248" y="2708361"/>
            <a:chExt cx="8117586" cy="306319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C1441E7-BBEA-5F98-1C6F-AB0746060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289" t="10417" r="2127" b="3008"/>
            <a:stretch>
              <a:fillRect/>
            </a:stretch>
          </p:blipFill>
          <p:spPr>
            <a:xfrm>
              <a:off x="1064248" y="2708361"/>
              <a:ext cx="8113986" cy="306319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039C51-4813-6F4F-56E9-E5A0C37CAFD2}"/>
                </a:ext>
              </a:extLst>
            </p:cNvPr>
            <p:cNvSpPr/>
            <p:nvPr/>
          </p:nvSpPr>
          <p:spPr>
            <a:xfrm>
              <a:off x="1064248" y="5515352"/>
              <a:ext cx="8117586" cy="211864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459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FB9B5D8-9739-D039-24B1-6FC9B7ADE326}"/>
              </a:ext>
            </a:extLst>
          </p:cNvPr>
          <p:cNvSpPr txBox="1"/>
          <p:nvPr/>
        </p:nvSpPr>
        <p:spPr>
          <a:xfrm>
            <a:off x="4475748" y="907505"/>
            <a:ext cx="795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Plug the functions into a standard search (BFS/DFS/IDDF…)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40190F-8FE7-70B6-71A7-D8166F394188}"/>
              </a:ext>
            </a:extLst>
          </p:cNvPr>
          <p:cNvSpPr txBox="1"/>
          <p:nvPr/>
        </p:nvSpPr>
        <p:spPr>
          <a:xfrm>
            <a:off x="7134729" y="1338349"/>
            <a:ext cx="1451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B740B-0226-3E49-6390-7F73DBD6F786}"/>
              </a:ext>
            </a:extLst>
          </p:cNvPr>
          <p:cNvSpPr txBox="1"/>
          <p:nvPr/>
        </p:nvSpPr>
        <p:spPr>
          <a:xfrm>
            <a:off x="5037222" y="1873481"/>
            <a:ext cx="65612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100% accuracy across all tested domains!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Execution time in </a:t>
            </a:r>
            <a:r>
              <a:rPr lang="en-US" sz="2400" b="1" dirty="0" err="1">
                <a:solidFill>
                  <a:srgbClr val="FF0000"/>
                </a:solidFill>
              </a:rPr>
              <a:t>ms</a:t>
            </a:r>
            <a:r>
              <a:rPr lang="en-US" sz="2400" b="1" dirty="0">
                <a:solidFill>
                  <a:srgbClr val="FF0000"/>
                </a:solidFill>
              </a:rPr>
              <a:t> per instance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D4AA23-1451-6C29-2283-5EBDC86CDB8A}"/>
              </a:ext>
            </a:extLst>
          </p:cNvPr>
          <p:cNvSpPr txBox="1"/>
          <p:nvPr/>
        </p:nvSpPr>
        <p:spPr>
          <a:xfrm>
            <a:off x="4399548" y="6263066"/>
            <a:ext cx="4981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Limitation: need human in the loop!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B06862-3C90-3D17-B071-520879479D4A}"/>
              </a:ext>
            </a:extLst>
          </p:cNvPr>
          <p:cNvSpPr txBox="1"/>
          <p:nvPr/>
        </p:nvSpPr>
        <p:spPr>
          <a:xfrm>
            <a:off x="9987652" y="520610"/>
            <a:ext cx="2287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Katz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9890620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1FE14-73A3-719E-CF45-3E7141F65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4AA71222-9EAE-6A3A-F88D-140FA5C19EB2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A23C6A89-9E61-4C29-DC37-F4549EDB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Automating Thought of Search (</a:t>
            </a:r>
            <a:r>
              <a:rPr lang="en-US" sz="4400" dirty="0" err="1"/>
              <a:t>AutoToS</a:t>
            </a:r>
            <a:r>
              <a:rPr lang="en-US" sz="4400" dirty="0"/>
              <a:t>)</a:t>
            </a:r>
          </a:p>
        </p:txBody>
      </p:sp>
      <p:pic>
        <p:nvPicPr>
          <p:cNvPr id="2" name="Picture 1" descr="A robot thinking about a problem&#10;&#10;AI-generated content may be incorrect.">
            <a:extLst>
              <a:ext uri="{FF2B5EF4-FFF2-40B4-BE49-F238E27FC236}">
                <a16:creationId xmlns:a16="http://schemas.microsoft.com/office/drawing/2014/main" id="{457DB2B3-5031-8207-3392-8EC6F70CF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31" y="828971"/>
            <a:ext cx="4447826" cy="4226599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B43C4B-CAD6-AFD4-5357-813FA59EC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049" y="2851768"/>
            <a:ext cx="4828856" cy="1029576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C9F0FB60-FD61-019E-B22F-A1225A3A8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2146" y="4679996"/>
            <a:ext cx="5244831" cy="104589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04D4BA-C94B-E82B-F56F-97D2FDCCD8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760" y="1940651"/>
            <a:ext cx="4997349" cy="939800"/>
          </a:xfrm>
          <a:prstGeom prst="rect">
            <a:avLst/>
          </a:prstGeom>
        </p:spPr>
      </p:pic>
      <p:pic>
        <p:nvPicPr>
          <p:cNvPr id="8" name="Picture 7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00A7F8FF-4DA0-FBE6-B51F-A07B2ECD00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172" y="5309045"/>
            <a:ext cx="5016595" cy="1332767"/>
          </a:xfrm>
          <a:prstGeom prst="rect">
            <a:avLst/>
          </a:prstGeom>
        </p:spPr>
      </p:pic>
      <p:pic>
        <p:nvPicPr>
          <p:cNvPr id="9" name="Picture 8" descr="A close-up of a sign&#10;&#10;AI-generated content may be incorrect.">
            <a:extLst>
              <a:ext uri="{FF2B5EF4-FFF2-40B4-BE49-F238E27FC236}">
                <a16:creationId xmlns:a16="http://schemas.microsoft.com/office/drawing/2014/main" id="{17E09179-91A3-13DA-16FF-739343B872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7802" y="5840144"/>
            <a:ext cx="4785193" cy="863600"/>
          </a:xfrm>
          <a:prstGeom prst="rect">
            <a:avLst/>
          </a:prstGeom>
        </p:spPr>
      </p:pic>
      <p:pic>
        <p:nvPicPr>
          <p:cNvPr id="10" name="Picture 9" descr="A close-up of a text&#10;&#10;AI-generated content may be incorrect.">
            <a:extLst>
              <a:ext uri="{FF2B5EF4-FFF2-40B4-BE49-F238E27FC236}">
                <a16:creationId xmlns:a16="http://schemas.microsoft.com/office/drawing/2014/main" id="{6F21205A-753E-5843-448F-88B9C98DF7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2895" y="948130"/>
            <a:ext cx="4770197" cy="9398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59849D-9B83-7498-D718-EB9B0DA250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2817" y="3833218"/>
            <a:ext cx="4991870" cy="1099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3120FA-E1E6-67FE-260A-B1D3E050CE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9557" y="828971"/>
            <a:ext cx="3682494" cy="4751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2B3DB9-CF71-82FC-C84B-14EA650EF3BE}"/>
              </a:ext>
            </a:extLst>
          </p:cNvPr>
          <p:cNvSpPr txBox="1"/>
          <p:nvPr/>
        </p:nvSpPr>
        <p:spPr>
          <a:xfrm>
            <a:off x="10220342" y="525558"/>
            <a:ext cx="2066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Cao et al, ICAPS 2026</a:t>
            </a:r>
          </a:p>
        </p:txBody>
      </p:sp>
    </p:spTree>
    <p:extLst>
      <p:ext uri="{BB962C8B-B14F-4D97-AF65-F5344CB8AC3E}">
        <p14:creationId xmlns:p14="http://schemas.microsoft.com/office/powerpoint/2010/main" val="56378710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77376B-3505-5ABB-3196-DA38B825748B}"/>
              </a:ext>
            </a:extLst>
          </p:cNvPr>
          <p:cNvSpPr txBox="1">
            <a:spLocks/>
          </p:cNvSpPr>
          <p:nvPr/>
        </p:nvSpPr>
        <p:spPr>
          <a:xfrm>
            <a:off x="-9428" y="43091"/>
            <a:ext cx="11463491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/>
              <a:t>AutoToS</a:t>
            </a:r>
            <a:r>
              <a:rPr lang="en-US" sz="4400" dirty="0"/>
              <a:t>: Core Idea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8AEE49-D26E-1811-05E7-411BC6F7D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860" y="640907"/>
            <a:ext cx="9271591" cy="618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2708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AB802-912F-DA11-730B-A56228123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5B899AB9-C5F4-3792-D13E-C857E0379F29}"/>
              </a:ext>
            </a:extLst>
          </p:cNvPr>
          <p:cNvSpPr txBox="1"/>
          <p:nvPr/>
        </p:nvSpPr>
        <p:spPr>
          <a:xfrm>
            <a:off x="7395210" y="602407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0E7FCDC0-2D6C-1189-0A0D-7BC4EF7F0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How does it work?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561BF8-6B4E-D6EF-0125-FA5439C3D31D}"/>
              </a:ext>
            </a:extLst>
          </p:cNvPr>
          <p:cNvSpPr/>
          <p:nvPr/>
        </p:nvSpPr>
        <p:spPr>
          <a:xfrm>
            <a:off x="288757" y="1456676"/>
            <a:ext cx="493762" cy="535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F1DB8B-5F6F-9E86-DAF1-F63A3F5127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93" r="72" b="90743"/>
          <a:stretch>
            <a:fillRect/>
          </a:stretch>
        </p:blipFill>
        <p:spPr>
          <a:xfrm>
            <a:off x="655779" y="987352"/>
            <a:ext cx="11247464" cy="523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2B8B4F-6D56-18D1-D1DB-B7F5D9F148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06" t="10377" r="43356" b="58441"/>
          <a:stretch>
            <a:fillRect/>
          </a:stretch>
        </p:blipFill>
        <p:spPr>
          <a:xfrm>
            <a:off x="441131" y="1606932"/>
            <a:ext cx="4585253" cy="17625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9E4ADC-8D06-EA28-35F1-9E888DE55C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498" t="41559" r="43123"/>
          <a:stretch>
            <a:fillRect/>
          </a:stretch>
        </p:blipFill>
        <p:spPr>
          <a:xfrm>
            <a:off x="424070" y="3379303"/>
            <a:ext cx="4635610" cy="33032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DEBF4F-38AB-B4B1-2560-3EA06104F6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191" t="61046" b="1"/>
          <a:stretch>
            <a:fillRect/>
          </a:stretch>
        </p:blipFill>
        <p:spPr>
          <a:xfrm>
            <a:off x="5059679" y="4476599"/>
            <a:ext cx="6360576" cy="22017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2608FC-B2B8-8601-C92A-60FBC50984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32" t="9995" b="38793"/>
          <a:stretch>
            <a:fillRect/>
          </a:stretch>
        </p:blipFill>
        <p:spPr>
          <a:xfrm>
            <a:off x="5029049" y="1581889"/>
            <a:ext cx="6391206" cy="290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2627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0CC9-A8EF-039B-65C9-1EBC7795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37188AC7-9121-498E-700C-8374AB1441B5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BF16A74B-CF46-A7A3-F9D5-4835E0DB6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Is it much worse than a human feedback?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F838F8-A73B-7033-EEBD-C9EFF7597783}"/>
              </a:ext>
            </a:extLst>
          </p:cNvPr>
          <p:cNvSpPr/>
          <p:nvPr/>
        </p:nvSpPr>
        <p:spPr>
          <a:xfrm>
            <a:off x="288757" y="1456676"/>
            <a:ext cx="493762" cy="535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AA6C5-5951-F1EA-1810-48CE05401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842" y="2285999"/>
            <a:ext cx="10324315" cy="300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0970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FB8E8-4043-0CD8-08B7-DA7F68BE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D2FA740-3680-4BCA-A102-A3B4E56F307E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DA1BA2E5-2829-87E0-8C52-5FFC7597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Does it match the accuracy of </a:t>
            </a:r>
            <a:r>
              <a:rPr lang="en-US" sz="4400" dirty="0" err="1"/>
              <a:t>ToS</a:t>
            </a:r>
            <a:r>
              <a:rPr lang="en-US" sz="4400" dirty="0"/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0B4FE6-CCA9-754A-2E6E-5D6C18FFB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674" y="818146"/>
            <a:ext cx="5307202" cy="608914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66845C1-CEF7-88F5-85CB-6BC30200B6F7}"/>
              </a:ext>
            </a:extLst>
          </p:cNvPr>
          <p:cNvGrpSpPr/>
          <p:nvPr/>
        </p:nvGrpSpPr>
        <p:grpSpPr>
          <a:xfrm>
            <a:off x="1989222" y="2221827"/>
            <a:ext cx="8213558" cy="3200400"/>
            <a:chOff x="5366602" y="1580147"/>
            <a:chExt cx="6536640" cy="201328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996906B-8FEF-EE9F-94B2-2B1F4502B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6602" y="1580147"/>
              <a:ext cx="6536640" cy="201328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705CE8-431B-3588-2DC3-601D5676C7B7}"/>
                </a:ext>
              </a:extLst>
            </p:cNvPr>
            <p:cNvSpPr/>
            <p:nvPr/>
          </p:nvSpPr>
          <p:spPr>
            <a:xfrm>
              <a:off x="9554131" y="2970973"/>
              <a:ext cx="2272175" cy="301616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459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13FDDE-DD82-9F06-519C-634C90F4BF63}"/>
                </a:ext>
              </a:extLst>
            </p:cNvPr>
            <p:cNvSpPr/>
            <p:nvPr/>
          </p:nvSpPr>
          <p:spPr>
            <a:xfrm>
              <a:off x="7262639" y="2467238"/>
              <a:ext cx="2272175" cy="301616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459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190220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47230-5444-F3FA-BB34-BA6A6AC66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648AB49A-B1D7-64B7-37D8-DD832825E491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F8C41EF2-9A08-0CEE-399C-C09072DA1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7" y="43092"/>
            <a:ext cx="12201428" cy="587530"/>
          </a:xfrm>
        </p:spPr>
        <p:txBody>
          <a:bodyPr>
            <a:noAutofit/>
          </a:bodyPr>
          <a:lstStyle/>
          <a:p>
            <a:r>
              <a:rPr lang="en-US" sz="4400" dirty="0"/>
              <a:t>Heuristics generation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6A2A4D-BB57-3886-15B1-AAF9FD3471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8" t="3009" r="1627" b="5351"/>
          <a:stretch>
            <a:fillRect/>
          </a:stretch>
        </p:blipFill>
        <p:spPr>
          <a:xfrm>
            <a:off x="66171" y="1388514"/>
            <a:ext cx="12069507" cy="27837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D2BA29-9EBE-834B-2137-97E1776E5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343" y="4484519"/>
            <a:ext cx="9241028" cy="20698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0F285C-CF67-8A32-ABD7-99F20C09F039}"/>
              </a:ext>
            </a:extLst>
          </p:cNvPr>
          <p:cNvSpPr txBox="1"/>
          <p:nvPr/>
        </p:nvSpPr>
        <p:spPr>
          <a:xfrm>
            <a:off x="9775386" y="509642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Correa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2141971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EAE0F-27A0-E06F-E129-62F30D3C9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E44239BC-83D7-A4DF-470E-DFEF435B543B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38277F-426B-7493-5434-E407A26DC268}"/>
              </a:ext>
            </a:extLst>
          </p:cNvPr>
          <p:cNvGrpSpPr/>
          <p:nvPr/>
        </p:nvGrpSpPr>
        <p:grpSpPr>
          <a:xfrm>
            <a:off x="447261" y="2723321"/>
            <a:ext cx="11151704" cy="3578087"/>
            <a:chOff x="2574239" y="2325175"/>
            <a:chExt cx="9201119" cy="23884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9310818-E161-940C-1B97-1F28DBDD6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1906" r="23784"/>
            <a:stretch>
              <a:fillRect/>
            </a:stretch>
          </p:blipFill>
          <p:spPr>
            <a:xfrm>
              <a:off x="8637087" y="2541933"/>
              <a:ext cx="3138271" cy="2171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EF074C1-BFA2-0821-A4B7-4A08DA12E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74239" y="2325175"/>
              <a:ext cx="6072533" cy="2378519"/>
            </a:xfrm>
            <a:prstGeom prst="rect">
              <a:avLst/>
            </a:prstGeom>
          </p:spPr>
        </p:pic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011BBDA-D7E0-D207-25C9-012A0FC9CD0B}"/>
              </a:ext>
            </a:extLst>
          </p:cNvPr>
          <p:cNvSpPr/>
          <p:nvPr/>
        </p:nvSpPr>
        <p:spPr>
          <a:xfrm>
            <a:off x="10962861" y="3081527"/>
            <a:ext cx="636104" cy="3154680"/>
          </a:xfrm>
          <a:prstGeom prst="roundRect">
            <a:avLst/>
          </a:prstGeom>
          <a:solidFill>
            <a:srgbClr val="00B05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FEFE5D0-873B-D650-093B-36F85A1BC409}"/>
              </a:ext>
            </a:extLst>
          </p:cNvPr>
          <p:cNvSpPr/>
          <p:nvPr/>
        </p:nvSpPr>
        <p:spPr>
          <a:xfrm>
            <a:off x="4951550" y="3081527"/>
            <a:ext cx="2824986" cy="3154680"/>
          </a:xfrm>
          <a:prstGeom prst="roundRect">
            <a:avLst>
              <a:gd name="adj" fmla="val 2658"/>
            </a:avLst>
          </a:prstGeom>
          <a:solidFill>
            <a:srgbClr val="FFC00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3AE248C-156B-BB60-016A-18ED9B8AC462}"/>
              </a:ext>
            </a:extLst>
          </p:cNvPr>
          <p:cNvSpPr/>
          <p:nvPr/>
        </p:nvSpPr>
        <p:spPr>
          <a:xfrm>
            <a:off x="7776535" y="3081528"/>
            <a:ext cx="3186325" cy="3154680"/>
          </a:xfrm>
          <a:prstGeom prst="roundRect">
            <a:avLst>
              <a:gd name="adj" fmla="val 2490"/>
            </a:avLst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3CB57BD-DFF7-1DC3-6359-11A11FE75004}"/>
              </a:ext>
            </a:extLst>
          </p:cNvPr>
          <p:cNvSpPr/>
          <p:nvPr/>
        </p:nvSpPr>
        <p:spPr>
          <a:xfrm>
            <a:off x="3904177" y="3081528"/>
            <a:ext cx="1047373" cy="3154680"/>
          </a:xfrm>
          <a:prstGeom prst="roundRect">
            <a:avLst>
              <a:gd name="adj" fmla="val 8126"/>
            </a:avLst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46BACF1-0E1F-7038-0589-5FB9DCDFD526}"/>
              </a:ext>
            </a:extLst>
          </p:cNvPr>
          <p:cNvSpPr/>
          <p:nvPr/>
        </p:nvSpPr>
        <p:spPr>
          <a:xfrm>
            <a:off x="1895395" y="3081527"/>
            <a:ext cx="2008783" cy="3154680"/>
          </a:xfrm>
          <a:prstGeom prst="roundRect">
            <a:avLst>
              <a:gd name="adj" fmla="val 4065"/>
            </a:avLst>
          </a:prstGeom>
          <a:solidFill>
            <a:schemeClr val="accent4">
              <a:lumMod val="20000"/>
              <a:lumOff val="80000"/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CA196-8A01-1021-87A3-39AC11C941E2}"/>
              </a:ext>
            </a:extLst>
          </p:cNvPr>
          <p:cNvSpPr txBox="1">
            <a:spLocks/>
          </p:cNvSpPr>
          <p:nvPr/>
        </p:nvSpPr>
        <p:spPr>
          <a:xfrm>
            <a:off x="-9427" y="43092"/>
            <a:ext cx="12201428" cy="5875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Heuristics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B06C6-6489-6A50-FC87-91B9D3F6CE55}"/>
              </a:ext>
            </a:extLst>
          </p:cNvPr>
          <p:cNvSpPr txBox="1"/>
          <p:nvPr/>
        </p:nvSpPr>
        <p:spPr>
          <a:xfrm>
            <a:off x="9775386" y="509642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Correa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1000382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A577F-51FB-D5A1-2A2D-6006F2484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B3CF418F-4928-B349-E39D-E01E84F40FE4}"/>
              </a:ext>
            </a:extLst>
          </p:cNvPr>
          <p:cNvSpPr txBox="1"/>
          <p:nvPr/>
        </p:nvSpPr>
        <p:spPr>
          <a:xfrm>
            <a:off x="7737984" y="1339511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4584FC20-1CB3-6DAD-5E20-F6F90C13A0D4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16845AC1-13B2-972E-2087-A5F2A633155B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ABA5885-E634-1F1F-3ED0-05E42A842409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0A21A04-E739-5698-9C3E-95FB7A81D8E2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F5B76B1F-5B3D-2101-841B-47C6D187C8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7C0D94E5-EAEB-2E9E-6859-D7CC097C4E85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7A0A5B08-9B8A-48AD-B27E-6BB6381CE48D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C9094250-15F5-A3E4-08BE-8D1BBF18B1B1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2F2C61C8-1136-F8F5-4F81-2174C83DD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752F0E-D395-21E7-E35E-EE9DD5E6CCB9}"/>
              </a:ext>
            </a:extLst>
          </p:cNvPr>
          <p:cNvSpPr txBox="1"/>
          <p:nvPr/>
        </p:nvSpPr>
        <p:spPr>
          <a:xfrm>
            <a:off x="80340" y="1424437"/>
            <a:ext cx="2289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ICAPS 2024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079D7D-492B-0EB9-1C74-B418C3EFB04C}"/>
              </a:ext>
            </a:extLst>
          </p:cNvPr>
          <p:cNvSpPr txBox="1"/>
          <p:nvPr/>
        </p:nvSpPr>
        <p:spPr>
          <a:xfrm>
            <a:off x="92152" y="1035385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Guan et al, NeurIPS 2023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646E20-CCDD-ACE1-5468-3F70CA897C61}"/>
              </a:ext>
            </a:extLst>
          </p:cNvPr>
          <p:cNvSpPr txBox="1"/>
          <p:nvPr/>
        </p:nvSpPr>
        <p:spPr>
          <a:xfrm>
            <a:off x="79069" y="1219739"/>
            <a:ext cx="3024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Gestrin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et al, HAXP@ICAPS 2024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8149D9-8A23-26A6-D2FF-F7FDFB9383AF}"/>
              </a:ext>
            </a:extLst>
          </p:cNvPr>
          <p:cNvSpPr txBox="1"/>
          <p:nvPr/>
        </p:nvSpPr>
        <p:spPr>
          <a:xfrm>
            <a:off x="87419" y="1616911"/>
            <a:ext cx="2142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Huang et al, AAAI 2025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50DF50-B6B5-EA04-C17B-65188DAD8722}"/>
              </a:ext>
            </a:extLst>
          </p:cNvPr>
          <p:cNvSpPr txBox="1"/>
          <p:nvPr/>
        </p:nvSpPr>
        <p:spPr>
          <a:xfrm>
            <a:off x="94104" y="1818142"/>
            <a:ext cx="3121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Tantakoun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et al, ACL Findings 2025</a:t>
            </a:r>
          </a:p>
        </p:txBody>
      </p: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51D5AEE4-5F76-7BC1-FFA6-FC1FF764B95A}"/>
              </a:ext>
            </a:extLst>
          </p:cNvPr>
          <p:cNvGrpSpPr/>
          <p:nvPr/>
        </p:nvGrpSpPr>
        <p:grpSpPr>
          <a:xfrm>
            <a:off x="8525159" y="1206838"/>
            <a:ext cx="1312854" cy="665341"/>
            <a:chOff x="8546179" y="5706967"/>
            <a:chExt cx="1312854" cy="665341"/>
          </a:xfrm>
        </p:grpSpPr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56CE7E09-FC0E-DFB2-B820-08B339E7BFF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84404984-B43F-8548-76D6-21A858DC8B7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87815F7C-B835-4DD3-92D6-19BA9F01B3CE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0ACA53B3-71A6-4723-019A-4FF5F9DB971C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6" name="Group 1165">
            <a:extLst>
              <a:ext uri="{FF2B5EF4-FFF2-40B4-BE49-F238E27FC236}">
                <a16:creationId xmlns:a16="http://schemas.microsoft.com/office/drawing/2014/main" id="{A8A1F4D9-465F-BC95-1A5B-D4BA1200668D}"/>
              </a:ext>
            </a:extLst>
          </p:cNvPr>
          <p:cNvGrpSpPr/>
          <p:nvPr/>
        </p:nvGrpSpPr>
        <p:grpSpPr>
          <a:xfrm>
            <a:off x="3846380" y="1142312"/>
            <a:ext cx="4654543" cy="1157440"/>
            <a:chOff x="3867400" y="5758053"/>
            <a:chExt cx="4654543" cy="1157440"/>
          </a:xfrm>
        </p:grpSpPr>
        <p:sp>
          <p:nvSpPr>
            <p:cNvPr id="1116" name="Rounded Rectangle 1115">
              <a:extLst>
                <a:ext uri="{FF2B5EF4-FFF2-40B4-BE49-F238E27FC236}">
                  <a16:creationId xmlns:a16="http://schemas.microsoft.com/office/drawing/2014/main" id="{4EFF051D-F2B4-C852-2CB6-02C3C1912DD2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A74AC10-CB5F-4399-EB54-4F6BC1D148FC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C648EF5-32A5-3688-E8CD-422A124455F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AFE5EC7-8C7A-71C1-7EB2-8A5B905CC0F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2" name="TextBox 1091">
              <a:extLst>
                <a:ext uri="{FF2B5EF4-FFF2-40B4-BE49-F238E27FC236}">
                  <a16:creationId xmlns:a16="http://schemas.microsoft.com/office/drawing/2014/main" id="{7719B4A9-D123-E662-CB57-A12BCD51895F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1225" name="Straight Connector 1224">
              <a:extLst>
                <a:ext uri="{FF2B5EF4-FFF2-40B4-BE49-F238E27FC236}">
                  <a16:creationId xmlns:a16="http://schemas.microsoft.com/office/drawing/2014/main" id="{2C5DA7B8-3E4B-1AA9-ADB2-3914721797C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AB1CB0C-53AB-D175-713A-32517B20FA74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D61C2CD-F4E7-8839-0427-73B4522C2F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23B6ED5A-EC32-19D1-44ED-2822105D65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9B49A7D7-2DCB-5EA7-BC8F-05CF57AD5D51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40" name="Group 1039">
                <a:extLst>
                  <a:ext uri="{FF2B5EF4-FFF2-40B4-BE49-F238E27FC236}">
                    <a16:creationId xmlns:a16="http://schemas.microsoft.com/office/drawing/2014/main" id="{6973A620-8434-43F3-6277-181DBC8AF6D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44" name="Oval 1043">
                  <a:extLst>
                    <a:ext uri="{FF2B5EF4-FFF2-40B4-BE49-F238E27FC236}">
                      <a16:creationId xmlns:a16="http://schemas.microsoft.com/office/drawing/2014/main" id="{CFDFFC9F-40E4-0F4F-E70A-AD1F17543AE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5" name="Graphic 1044" descr="Transfer with solid fill">
                  <a:extLst>
                    <a:ext uri="{FF2B5EF4-FFF2-40B4-BE49-F238E27FC236}">
                      <a16:creationId xmlns:a16="http://schemas.microsoft.com/office/drawing/2014/main" id="{2C59DA05-C546-9050-5316-23C1976DA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1" name="Group 1040">
                <a:extLst>
                  <a:ext uri="{FF2B5EF4-FFF2-40B4-BE49-F238E27FC236}">
                    <a16:creationId xmlns:a16="http://schemas.microsoft.com/office/drawing/2014/main" id="{A76E5962-3EC8-A908-68F5-68F57987B76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42" name="Oval 1041">
                  <a:extLst>
                    <a:ext uri="{FF2B5EF4-FFF2-40B4-BE49-F238E27FC236}">
                      <a16:creationId xmlns:a16="http://schemas.microsoft.com/office/drawing/2014/main" id="{5472FA49-F11D-8A20-FFD5-985D0C444F7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3" name="Graphic 1042" descr="Route (Two Pins With A Path) with solid fill">
                  <a:extLst>
                    <a:ext uri="{FF2B5EF4-FFF2-40B4-BE49-F238E27FC236}">
                      <a16:creationId xmlns:a16="http://schemas.microsoft.com/office/drawing/2014/main" id="{8F687412-A829-0459-06A5-B3845E4A48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3BA09885-4C79-B29F-DFC5-943851568C36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A7C945E-1065-32B3-22E9-03713D66BA9A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C83819E-B4EB-4C55-3885-4989493A8ADD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8" name="Graphic 57" descr="Magnifying glass with solid fill">
                  <a:extLst>
                    <a:ext uri="{FF2B5EF4-FFF2-40B4-BE49-F238E27FC236}">
                      <a16:creationId xmlns:a16="http://schemas.microsoft.com/office/drawing/2014/main" id="{0A558CF5-57AB-0566-5074-75475C9A5C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FF635264-CF4C-B549-4537-A62D6FA348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2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38D673F-D8D7-7F93-A724-053C1784AE62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7B39C8DD-4978-4C8B-E09B-6213A3238C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131" name="Oval 1130">
                <a:extLst>
                  <a:ext uri="{FF2B5EF4-FFF2-40B4-BE49-F238E27FC236}">
                    <a16:creationId xmlns:a16="http://schemas.microsoft.com/office/drawing/2014/main" id="{1B363D58-9D8A-EE15-2F47-A92810EC9F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32" name="Picture 1131">
                <a:extLst>
                  <a:ext uri="{FF2B5EF4-FFF2-40B4-BE49-F238E27FC236}">
                    <a16:creationId xmlns:a16="http://schemas.microsoft.com/office/drawing/2014/main" id="{BDC2D593-B929-2BA1-780B-7BDCC314B0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FDD9B7E-C21F-1665-A443-28F9585D5100}"/>
              </a:ext>
            </a:extLst>
          </p:cNvPr>
          <p:cNvSpPr txBox="1"/>
          <p:nvPr/>
        </p:nvSpPr>
        <p:spPr>
          <a:xfrm>
            <a:off x="82020" y="200455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</p:spTree>
    <p:extLst>
      <p:ext uri="{BB962C8B-B14F-4D97-AF65-F5344CB8AC3E}">
        <p14:creationId xmlns:p14="http://schemas.microsoft.com/office/powerpoint/2010/main" val="605916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2" grpId="0"/>
      <p:bldP spid="4" grpId="0"/>
      <p:bldP spid="17" grpId="0"/>
      <p:bldP spid="20" grpId="0"/>
      <p:bldP spid="22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C73C-967A-50A0-1B82-0FA6458C0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Rectangle 1077">
            <a:extLst>
              <a:ext uri="{FF2B5EF4-FFF2-40B4-BE49-F238E27FC236}">
                <a16:creationId xmlns:a16="http://schemas.microsoft.com/office/drawing/2014/main" id="{372519FA-4BC5-9E16-8068-C7DF4C363F5E}"/>
              </a:ext>
            </a:extLst>
          </p:cNvPr>
          <p:cNvSpPr/>
          <p:nvPr/>
        </p:nvSpPr>
        <p:spPr>
          <a:xfrm>
            <a:off x="3394136" y="4532893"/>
            <a:ext cx="1699072" cy="914401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976FFAB5-0944-8F9A-CDE9-35BC8C97C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190950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First Attempts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034A18-9665-5666-D92B-A8423437E9F3}"/>
              </a:ext>
            </a:extLst>
          </p:cNvPr>
          <p:cNvSpPr txBox="1"/>
          <p:nvPr/>
        </p:nvSpPr>
        <p:spPr>
          <a:xfrm>
            <a:off x="9775386" y="590134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Guan et al, NeurIPS 2023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F06D9E7-6BFF-E07A-BD4B-900368844D76}"/>
              </a:ext>
            </a:extLst>
          </p:cNvPr>
          <p:cNvGrpSpPr/>
          <p:nvPr/>
        </p:nvGrpSpPr>
        <p:grpSpPr>
          <a:xfrm>
            <a:off x="1347779" y="3081528"/>
            <a:ext cx="915501" cy="918340"/>
            <a:chOff x="3844203" y="2510661"/>
            <a:chExt cx="915501" cy="91834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1B07B3A-4A06-8BEC-7DC0-125D803D681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44203" y="2510661"/>
              <a:ext cx="915501" cy="918340"/>
            </a:xfrm>
            <a:prstGeom prst="ellipse">
              <a:avLst/>
            </a:prstGeom>
            <a:solidFill>
              <a:srgbClr val="FFD6E8"/>
            </a:solidFill>
            <a:ln w="19050">
              <a:solidFill>
                <a:srgbClr val="EE5396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chemeClr val="bg1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C7043D-519D-3A78-4980-A0E0A193F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5656" y="2672541"/>
              <a:ext cx="682823" cy="61915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727D0EA-963B-AD43-6A28-E3C27B7F9101}"/>
              </a:ext>
            </a:extLst>
          </p:cNvPr>
          <p:cNvGrpSpPr/>
          <p:nvPr/>
        </p:nvGrpSpPr>
        <p:grpSpPr>
          <a:xfrm>
            <a:off x="4438786" y="4847783"/>
            <a:ext cx="548640" cy="548640"/>
            <a:chOff x="7586523" y="4211640"/>
            <a:chExt cx="914400" cy="9144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8FA0C43-E4EE-CDDB-BD54-DD2CA36EC7D4}"/>
                </a:ext>
              </a:extLst>
            </p:cNvPr>
            <p:cNvSpPr/>
            <p:nvPr/>
          </p:nvSpPr>
          <p:spPr bwMode="auto">
            <a:xfrm>
              <a:off x="7586523" y="4211640"/>
              <a:ext cx="914400" cy="914400"/>
            </a:xfrm>
            <a:prstGeom prst="ellipse">
              <a:avLst/>
            </a:prstGeom>
            <a:solidFill>
              <a:srgbClr val="DEFBE6"/>
            </a:solidFill>
            <a:ln w="19050">
              <a:solidFill>
                <a:srgbClr val="24A148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chemeClr val="bg1"/>
                </a:solidFill>
              </a:endParaRPr>
            </a:p>
          </p:txBody>
        </p:sp>
        <p:pic>
          <p:nvPicPr>
            <p:cNvPr id="25" name="Picture 4" descr="Expertise ">
              <a:extLst>
                <a:ext uri="{FF2B5EF4-FFF2-40B4-BE49-F238E27FC236}">
                  <a16:creationId xmlns:a16="http://schemas.microsoft.com/office/drawing/2014/main" id="{4A4FB736-6DD5-A426-CB00-1CBE46C5D5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0695" y="4394452"/>
              <a:ext cx="493403" cy="5699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9B6E625-3EFD-9358-B7CB-C288BDDEB27B}"/>
              </a:ext>
            </a:extLst>
          </p:cNvPr>
          <p:cNvGrpSpPr/>
          <p:nvPr/>
        </p:nvGrpSpPr>
        <p:grpSpPr>
          <a:xfrm>
            <a:off x="3780418" y="3081528"/>
            <a:ext cx="914400" cy="914400"/>
            <a:chOff x="5572642" y="2539882"/>
            <a:chExt cx="914400" cy="9144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B3CE09A-CAD0-051D-389A-1AA6EA432E29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35DBB04B-C157-9571-859A-08CF2692F8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31C549B9-1D9A-8F2F-D2B1-4C41A36E03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45E7C5B-3768-5451-F3EE-D5E14008D39A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A5AE0F7-2AE8-D925-406D-20FB51EDCCBB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835AFF41-FCA9-2463-A472-3F1B23587946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E50F706-EB02-26CE-DD63-D0BC0FDE4580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269915E-5909-AA83-318B-F919589B3B5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F578FDD-619C-6E95-B2B1-B44E8422135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720A3A-D930-04CF-0F9F-A44101F853AC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8E4C3B5-14CA-2ECC-A19F-1B0755AFA074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45EE2FAB-9FF4-14DF-647C-8B56771B5827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0B227C62-D8AB-11A9-4244-07BE6A959F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76C792E4-1155-DA64-3857-2217589997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0743DF3B-34C3-58A7-8CDF-5A679C3896B5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1B2D1998-83BD-58FA-122C-CC067B4BDB8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8C61ABE5-08F0-7B13-4BA2-642896ABBC9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4810F612-A020-F779-9610-58222BF3E9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EEA83F15-8701-D3EE-1348-6C155E5714A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A515DB97-F57A-B973-BFB4-559132B2859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635C17AE-F93E-568D-61B7-4ADA80F6EE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F805E077-8EDD-9000-3AD4-46974BEE4FF6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96B7A27A-CACE-3F3C-4A24-8FD5962C6B2C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7E680A34-63DB-A627-FBA2-5286A40EA647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97690156-0633-8A93-B1E7-39539099AE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40AD7C41-5839-8A07-B5CA-1FCF43B9CC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3">
                  <a:extLst>
                    <a:ext uri="{BEBA8EAE-BF5A-486C-A8C5-ECC9F3942E4B}">
                      <a14:imgProps xmlns:a14="http://schemas.microsoft.com/office/drawing/2010/main">
                        <a14:imgLayer r:embed="rId14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2ADB22D0-604B-4221-C832-12026BCC7AA9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CE9A4945-5B71-ACED-D4EF-A465A238E01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48B771C6-F150-59B9-84D0-4CDBEF821B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58D715DD-9C59-6201-82CF-69E2CF2E43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36997757-220E-E568-9C6B-2001E3DDD653}"/>
              </a:ext>
            </a:extLst>
          </p:cNvPr>
          <p:cNvCxnSpPr>
            <a:cxnSpLocks/>
            <a:stCxn id="8" idx="6"/>
            <a:endCxn id="54" idx="2"/>
          </p:cNvCxnSpPr>
          <p:nvPr/>
        </p:nvCxnSpPr>
        <p:spPr bwMode="auto">
          <a:xfrm flipV="1">
            <a:off x="2263280" y="3538728"/>
            <a:ext cx="1517138" cy="197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15357673-E06B-B2CF-95BF-DBFFB4AA25E3}"/>
              </a:ext>
            </a:extLst>
          </p:cNvPr>
          <p:cNvSpPr/>
          <p:nvPr/>
        </p:nvSpPr>
        <p:spPr>
          <a:xfrm>
            <a:off x="3509841" y="4939746"/>
            <a:ext cx="805230" cy="4070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cxnSp>
        <p:nvCxnSpPr>
          <p:cNvPr id="1065" name="Straight Connector 1064">
            <a:extLst>
              <a:ext uri="{FF2B5EF4-FFF2-40B4-BE49-F238E27FC236}">
                <a16:creationId xmlns:a16="http://schemas.microsoft.com/office/drawing/2014/main" id="{301145FA-24D4-113F-1352-2D8944F3F521}"/>
              </a:ext>
            </a:extLst>
          </p:cNvPr>
          <p:cNvCxnSpPr>
            <a:cxnSpLocks/>
            <a:stCxn id="54" idx="4"/>
            <a:endCxn id="1078" idx="0"/>
          </p:cNvCxnSpPr>
          <p:nvPr/>
        </p:nvCxnSpPr>
        <p:spPr bwMode="auto">
          <a:xfrm>
            <a:off x="4237618" y="3995928"/>
            <a:ext cx="6054" cy="53696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8" name="Straight Connector 1067">
            <a:extLst>
              <a:ext uri="{FF2B5EF4-FFF2-40B4-BE49-F238E27FC236}">
                <a16:creationId xmlns:a16="http://schemas.microsoft.com/office/drawing/2014/main" id="{9E06CCB5-BE7D-28E8-2E99-F8962891A40F}"/>
              </a:ext>
            </a:extLst>
          </p:cNvPr>
          <p:cNvCxnSpPr>
            <a:cxnSpLocks/>
            <a:stCxn id="1078" idx="1"/>
            <a:endCxn id="8" idx="5"/>
          </p:cNvCxnSpPr>
          <p:nvPr/>
        </p:nvCxnSpPr>
        <p:spPr bwMode="auto">
          <a:xfrm flipH="1" flipV="1">
            <a:off x="2129208" y="3865380"/>
            <a:ext cx="1264928" cy="112471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9" name="Straight Connector 1098">
            <a:extLst>
              <a:ext uri="{FF2B5EF4-FFF2-40B4-BE49-F238E27FC236}">
                <a16:creationId xmlns:a16="http://schemas.microsoft.com/office/drawing/2014/main" id="{00FD29CC-B46E-EF3E-C4CD-ED2F2824AEC1}"/>
              </a:ext>
            </a:extLst>
          </p:cNvPr>
          <p:cNvCxnSpPr>
            <a:cxnSpLocks/>
            <a:stCxn id="54" idx="6"/>
            <a:endCxn id="1102" idx="1"/>
          </p:cNvCxnSpPr>
          <p:nvPr/>
        </p:nvCxnSpPr>
        <p:spPr bwMode="auto">
          <a:xfrm flipV="1">
            <a:off x="4694818" y="3534156"/>
            <a:ext cx="749394" cy="457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2" name="Rounded Rectangle 1101">
            <a:extLst>
              <a:ext uri="{FF2B5EF4-FFF2-40B4-BE49-F238E27FC236}">
                <a16:creationId xmlns:a16="http://schemas.microsoft.com/office/drawing/2014/main" id="{317B4277-0A3C-17E7-D214-EADAEC9C0A66}"/>
              </a:ext>
            </a:extLst>
          </p:cNvPr>
          <p:cNvSpPr/>
          <p:nvPr/>
        </p:nvSpPr>
        <p:spPr>
          <a:xfrm>
            <a:off x="5444212" y="3310128"/>
            <a:ext cx="1292932" cy="448056"/>
          </a:xfrm>
          <a:prstGeom prst="roundRect">
            <a:avLst/>
          </a:prstGeom>
          <a:solidFill>
            <a:srgbClr val="DEFBE6"/>
          </a:solidFill>
          <a:ln w="19050">
            <a:solidFill>
              <a:srgbClr val="24A148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defTabSz="457109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</a:rPr>
              <a:t>Predicates</a:t>
            </a:r>
          </a:p>
        </p:txBody>
      </p: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D7D329A2-7D62-6C01-E7D4-D87434F5857A}"/>
              </a:ext>
            </a:extLst>
          </p:cNvPr>
          <p:cNvSpPr/>
          <p:nvPr/>
        </p:nvSpPr>
        <p:spPr>
          <a:xfrm>
            <a:off x="9371264" y="4520701"/>
            <a:ext cx="1699072" cy="914401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112" name="Group 1111">
            <a:extLst>
              <a:ext uri="{FF2B5EF4-FFF2-40B4-BE49-F238E27FC236}">
                <a16:creationId xmlns:a16="http://schemas.microsoft.com/office/drawing/2014/main" id="{6B6E4337-7BBD-712F-4AFA-31EB6A8A2CFE}"/>
              </a:ext>
            </a:extLst>
          </p:cNvPr>
          <p:cNvGrpSpPr/>
          <p:nvPr/>
        </p:nvGrpSpPr>
        <p:grpSpPr>
          <a:xfrm>
            <a:off x="7324907" y="3069336"/>
            <a:ext cx="915501" cy="918340"/>
            <a:chOff x="3844203" y="2510661"/>
            <a:chExt cx="915501" cy="918340"/>
          </a:xfrm>
        </p:grpSpPr>
        <p:sp>
          <p:nvSpPr>
            <p:cNvPr id="1113" name="Oval 1112">
              <a:extLst>
                <a:ext uri="{FF2B5EF4-FFF2-40B4-BE49-F238E27FC236}">
                  <a16:creationId xmlns:a16="http://schemas.microsoft.com/office/drawing/2014/main" id="{200A2664-B75F-9E6F-C222-F774C45FA9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44203" y="2510661"/>
              <a:ext cx="915501" cy="918340"/>
            </a:xfrm>
            <a:prstGeom prst="ellipse">
              <a:avLst/>
            </a:prstGeom>
            <a:solidFill>
              <a:srgbClr val="FFD6E8"/>
            </a:solidFill>
            <a:ln w="19050">
              <a:solidFill>
                <a:srgbClr val="EE5396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chemeClr val="bg1"/>
                </a:solidFill>
              </a:endParaRPr>
            </a:p>
          </p:txBody>
        </p:sp>
        <p:pic>
          <p:nvPicPr>
            <p:cNvPr id="1114" name="Picture 1113">
              <a:extLst>
                <a:ext uri="{FF2B5EF4-FFF2-40B4-BE49-F238E27FC236}">
                  <a16:creationId xmlns:a16="http://schemas.microsoft.com/office/drawing/2014/main" id="{E1BBDF3C-8699-36AC-A157-0303C4AEB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5656" y="2672541"/>
              <a:ext cx="682823" cy="619150"/>
            </a:xfrm>
            <a:prstGeom prst="rect">
              <a:avLst/>
            </a:prstGeom>
          </p:spPr>
        </p:pic>
      </p:grpSp>
      <p:grpSp>
        <p:nvGrpSpPr>
          <p:cNvPr id="1115" name="Group 1114">
            <a:extLst>
              <a:ext uri="{FF2B5EF4-FFF2-40B4-BE49-F238E27FC236}">
                <a16:creationId xmlns:a16="http://schemas.microsoft.com/office/drawing/2014/main" id="{642BCA73-28FE-3E6E-2D3C-7C8F692F0C3F}"/>
              </a:ext>
            </a:extLst>
          </p:cNvPr>
          <p:cNvGrpSpPr/>
          <p:nvPr/>
        </p:nvGrpSpPr>
        <p:grpSpPr>
          <a:xfrm>
            <a:off x="10415914" y="4835591"/>
            <a:ext cx="548640" cy="548640"/>
            <a:chOff x="7586523" y="4211640"/>
            <a:chExt cx="914400" cy="914400"/>
          </a:xfrm>
        </p:grpSpPr>
        <p:sp>
          <p:nvSpPr>
            <p:cNvPr id="1117" name="Oval 1116">
              <a:extLst>
                <a:ext uri="{FF2B5EF4-FFF2-40B4-BE49-F238E27FC236}">
                  <a16:creationId xmlns:a16="http://schemas.microsoft.com/office/drawing/2014/main" id="{CC678686-0326-61CE-260A-056E231F2313}"/>
                </a:ext>
              </a:extLst>
            </p:cNvPr>
            <p:cNvSpPr/>
            <p:nvPr/>
          </p:nvSpPr>
          <p:spPr bwMode="auto">
            <a:xfrm>
              <a:off x="7586523" y="4211640"/>
              <a:ext cx="914400" cy="914400"/>
            </a:xfrm>
            <a:prstGeom prst="ellipse">
              <a:avLst/>
            </a:prstGeom>
            <a:solidFill>
              <a:srgbClr val="DEFBE6"/>
            </a:solidFill>
            <a:ln w="19050">
              <a:solidFill>
                <a:srgbClr val="24A148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chemeClr val="bg1"/>
                </a:solidFill>
              </a:endParaRPr>
            </a:p>
          </p:txBody>
        </p:sp>
        <p:pic>
          <p:nvPicPr>
            <p:cNvPr id="1118" name="Picture 4" descr="Expertise ">
              <a:extLst>
                <a:ext uri="{FF2B5EF4-FFF2-40B4-BE49-F238E27FC236}">
                  <a16:creationId xmlns:a16="http://schemas.microsoft.com/office/drawing/2014/main" id="{6F3B9199-52C1-FD11-D066-048F30525E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0695" y="4394452"/>
              <a:ext cx="493403" cy="5699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19" name="Group 1118">
            <a:extLst>
              <a:ext uri="{FF2B5EF4-FFF2-40B4-BE49-F238E27FC236}">
                <a16:creationId xmlns:a16="http://schemas.microsoft.com/office/drawing/2014/main" id="{1B1DE547-A31C-302B-38AD-184FD8855072}"/>
              </a:ext>
            </a:extLst>
          </p:cNvPr>
          <p:cNvGrpSpPr/>
          <p:nvPr/>
        </p:nvGrpSpPr>
        <p:grpSpPr>
          <a:xfrm>
            <a:off x="9757546" y="3069336"/>
            <a:ext cx="914400" cy="914400"/>
            <a:chOff x="5572642" y="2539882"/>
            <a:chExt cx="914400" cy="914400"/>
          </a:xfrm>
        </p:grpSpPr>
        <p:grpSp>
          <p:nvGrpSpPr>
            <p:cNvPr id="1121" name="Group 1120">
              <a:extLst>
                <a:ext uri="{FF2B5EF4-FFF2-40B4-BE49-F238E27FC236}">
                  <a16:creationId xmlns:a16="http://schemas.microsoft.com/office/drawing/2014/main" id="{1A457543-5A3A-A49F-646B-1314609BC362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1123" name="Oval 1122">
                <a:extLst>
                  <a:ext uri="{FF2B5EF4-FFF2-40B4-BE49-F238E27FC236}">
                    <a16:creationId xmlns:a16="http://schemas.microsoft.com/office/drawing/2014/main" id="{D8D9E909-D4DB-9574-5F2C-7D90352835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24" name="Graphic 1123">
                <a:extLst>
                  <a:ext uri="{FF2B5EF4-FFF2-40B4-BE49-F238E27FC236}">
                    <a16:creationId xmlns:a16="http://schemas.microsoft.com/office/drawing/2014/main" id="{B81B2FA3-31FD-8C20-7A65-3B5AE1E2B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1122" name="TextBox 1121">
              <a:extLst>
                <a:ext uri="{FF2B5EF4-FFF2-40B4-BE49-F238E27FC236}">
                  <a16:creationId xmlns:a16="http://schemas.microsoft.com/office/drawing/2014/main" id="{352294D9-BF13-46EA-1021-7BEB337590F5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cxnSp>
        <p:nvCxnSpPr>
          <p:cNvPr id="1125" name="Straight Connector 1124">
            <a:extLst>
              <a:ext uri="{FF2B5EF4-FFF2-40B4-BE49-F238E27FC236}">
                <a16:creationId xmlns:a16="http://schemas.microsoft.com/office/drawing/2014/main" id="{15AE9F25-D20A-A925-5E64-32398A89A5B5}"/>
              </a:ext>
            </a:extLst>
          </p:cNvPr>
          <p:cNvCxnSpPr>
            <a:cxnSpLocks/>
            <a:stCxn id="1113" idx="6"/>
            <a:endCxn id="1123" idx="2"/>
          </p:cNvCxnSpPr>
          <p:nvPr/>
        </p:nvCxnSpPr>
        <p:spPr bwMode="auto">
          <a:xfrm flipV="1">
            <a:off x="8240408" y="3526536"/>
            <a:ext cx="1517138" cy="197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991454E3-099E-13C8-4BC1-F1361F7FBE8F}"/>
              </a:ext>
            </a:extLst>
          </p:cNvPr>
          <p:cNvSpPr/>
          <p:nvPr/>
        </p:nvSpPr>
        <p:spPr>
          <a:xfrm>
            <a:off x="9486969" y="4927554"/>
            <a:ext cx="805230" cy="4070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cxnSp>
        <p:nvCxnSpPr>
          <p:cNvPr id="1133" name="Straight Connector 1132">
            <a:extLst>
              <a:ext uri="{FF2B5EF4-FFF2-40B4-BE49-F238E27FC236}">
                <a16:creationId xmlns:a16="http://schemas.microsoft.com/office/drawing/2014/main" id="{546A9CC9-0D7B-20B7-379C-E2502657589D}"/>
              </a:ext>
            </a:extLst>
          </p:cNvPr>
          <p:cNvCxnSpPr>
            <a:cxnSpLocks/>
            <a:stCxn id="1123" idx="4"/>
            <a:endCxn id="1111" idx="0"/>
          </p:cNvCxnSpPr>
          <p:nvPr/>
        </p:nvCxnSpPr>
        <p:spPr bwMode="auto">
          <a:xfrm>
            <a:off x="10214746" y="3983736"/>
            <a:ext cx="6054" cy="53696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4" name="Straight Connector 1133">
            <a:extLst>
              <a:ext uri="{FF2B5EF4-FFF2-40B4-BE49-F238E27FC236}">
                <a16:creationId xmlns:a16="http://schemas.microsoft.com/office/drawing/2014/main" id="{ABE4B62E-737A-4AC7-12DF-172EFECFAE77}"/>
              </a:ext>
            </a:extLst>
          </p:cNvPr>
          <p:cNvCxnSpPr>
            <a:cxnSpLocks/>
            <a:stCxn id="1111" idx="1"/>
            <a:endCxn id="1113" idx="5"/>
          </p:cNvCxnSpPr>
          <p:nvPr/>
        </p:nvCxnSpPr>
        <p:spPr bwMode="auto">
          <a:xfrm flipH="1" flipV="1">
            <a:off x="8106336" y="3853188"/>
            <a:ext cx="1264928" cy="112471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5" name="Straight Connector 1134">
            <a:extLst>
              <a:ext uri="{FF2B5EF4-FFF2-40B4-BE49-F238E27FC236}">
                <a16:creationId xmlns:a16="http://schemas.microsoft.com/office/drawing/2014/main" id="{1E9CAFB5-A109-13D8-7C28-86DCE3B675FA}"/>
              </a:ext>
            </a:extLst>
          </p:cNvPr>
          <p:cNvCxnSpPr>
            <a:cxnSpLocks/>
            <a:stCxn id="1102" idx="3"/>
            <a:endCxn id="1113" idx="2"/>
          </p:cNvCxnSpPr>
          <p:nvPr/>
        </p:nvCxnSpPr>
        <p:spPr bwMode="auto">
          <a:xfrm flipV="1">
            <a:off x="6737144" y="3528506"/>
            <a:ext cx="587763" cy="565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5906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8" grpId="0" animBg="1"/>
      <p:bldP spid="1078" grpId="1" animBg="1"/>
      <p:bldP spid="4" grpId="0"/>
      <p:bldP spid="1064" grpId="0" animBg="1"/>
      <p:bldP spid="1064" grpId="1" animBg="1"/>
      <p:bldP spid="1102" grpId="0" animBg="1"/>
      <p:bldP spid="1111" grpId="0" animBg="1"/>
      <p:bldP spid="11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192F0-855F-2C3B-AB73-77DF5649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628EA28F-4F87-9E5C-D166-2BD4A2A70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25028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First Attempts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2081DA-FC8E-FAC8-FFBF-AD1CED5D092A}"/>
              </a:ext>
            </a:extLst>
          </p:cNvPr>
          <p:cNvSpPr txBox="1"/>
          <p:nvPr/>
        </p:nvSpPr>
        <p:spPr>
          <a:xfrm>
            <a:off x="9167104" y="585034"/>
            <a:ext cx="3024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Gestrin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et al, HAXP@ICAPS 2024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A13CBBD-7DFA-A9C3-CD73-F434CC54E4AD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E788E37C-9CB0-293C-7BCA-7D286A0E2478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26A0049-1373-4539-7450-82A0022338F4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BA8C9BB-BC3D-1A60-C1BB-C0C9C69435B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4AD38C2-11A3-77AF-72BB-D8DEC47BDA0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541AD65-122B-7870-D1E2-61E5E64DC107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5207A5A-2BFC-843C-4936-6454A3F61DB6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37859131-24F5-C343-2A9E-6E327C8DCB2A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C978AFDF-072F-B063-9725-D31E16A057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6AED5AC5-B056-AA5C-6A4C-FAF209B3F7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D2207FCE-C415-7AE1-0482-997EB2266D79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0BDDC50A-7E5B-A2CB-CE21-D4A007A426F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0975868B-2AB2-83A4-C198-40B36BAF186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7A9A9160-71C9-F5D7-F170-E1ABB095D5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F53DDA77-E325-98B1-1335-298797FE1C1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778ABEC2-6817-12E6-76AD-88FFCCE1F15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BFA40575-A0DC-91EC-611B-74472288EB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88D7B4AD-F732-333B-33CF-2E71BACFCF36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239FB26C-8C4F-186B-CED6-6939DE41B0F4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4D9E29E8-350C-D767-2910-4B04FE934E67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1D70F622-A996-19AD-A604-F9CB7CD903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801C4FEB-8FA1-8DFD-326C-93B34178D4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C1115773-DFDA-F6DF-5E65-F1D10CAB5581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CB892946-0B07-8388-A451-7F83685D648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5E7D0B1E-C5E1-C274-1FDF-5203D08ED3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7843E22A-5858-A91A-F114-0CE4E88579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38DE70F-21FE-1D1A-E17F-D480B3EC90C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33884" b="34248"/>
          <a:stretch>
            <a:fillRect/>
          </a:stretch>
        </p:blipFill>
        <p:spPr>
          <a:xfrm>
            <a:off x="4114800" y="4357409"/>
            <a:ext cx="4114800" cy="21924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081B3F-250F-E52F-B6A2-608B6B302D0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b="65721"/>
          <a:stretch>
            <a:fillRect/>
          </a:stretch>
        </p:blipFill>
        <p:spPr>
          <a:xfrm>
            <a:off x="4114800" y="2015830"/>
            <a:ext cx="4114800" cy="235835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3CC612A-9A2B-56E0-ED3E-E5033B268C0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65235" b="23910"/>
          <a:stretch>
            <a:fillRect/>
          </a:stretch>
        </p:blipFill>
        <p:spPr>
          <a:xfrm>
            <a:off x="4114800" y="4201916"/>
            <a:ext cx="4114800" cy="7468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35A441-A03E-6CD5-232C-9F1B7074C29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75366"/>
          <a:stretch>
            <a:fillRect/>
          </a:stretch>
        </p:blipFill>
        <p:spPr>
          <a:xfrm>
            <a:off x="4114800" y="4945266"/>
            <a:ext cx="4114800" cy="169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592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00039 -0.3428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17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BDE71-AEFF-D993-B1E9-8DECCAF51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4D576441-E396-1A25-7AF1-7164CAAC7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81FFED-FE68-D555-B723-F56C8DB38987}"/>
              </a:ext>
            </a:extLst>
          </p:cNvPr>
          <p:cNvSpPr txBox="1"/>
          <p:nvPr/>
        </p:nvSpPr>
        <p:spPr>
          <a:xfrm>
            <a:off x="3990577" y="3035820"/>
            <a:ext cx="302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What is being tackled?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2239320-7EBB-A862-C5BA-B75A4730E0F9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9280A455-4E03-631E-4C45-1745C23B6CE8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C4F2EA4-44AF-4C95-66C2-CB6DD8E23029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29DC37A-2B06-34D4-FAFE-E4688CCE756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879037E-CA8C-CCC3-506F-A2215E01249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0412CA5-B0C1-E47D-1428-BB671C888ACE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CCF9C99-B809-C261-8EF4-7441430B766F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0CA34C9A-EA24-E086-9E46-CEB8AD0EC03E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4F2B2A32-7717-09C8-B870-F8FAFBAB48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7DB15E22-8654-D334-511B-51F20EBADC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8A9F047D-FCC8-F5DD-DBBC-41D3105AA252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9AC35692-01E0-FD7C-8C03-707BE971A9C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945CEA0F-EA76-868D-429B-D637720A7BE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69E2CFFE-54DC-9A77-B190-F5971A1036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2DCE7669-3ECF-07B2-A039-AEC9A82CEFF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CEEE0A92-5932-B33F-6A3D-29CD5D128FC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603BE789-0FEF-AF1D-C350-83F360486E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4A9975CB-5968-D9DC-AE4D-64D937BEC171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964A0E33-1E0F-F68D-994E-3B69E4C941D6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C5648C3E-594E-E5A5-F0F9-431AC3BCDC4B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69C5F691-046F-31FF-D881-55C0AA44DB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58265ACC-CDC8-F05A-685B-BC3D588F67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1A270D49-EBB9-8CEF-DCC8-A6FEC64AE145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18C6BB40-93B7-EB8D-C94D-5EDBCDEF332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97EBE10D-88F3-BEF5-3CCD-B33BD24D66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FD101A19-4204-6BAA-3211-C9C37D2C14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5ABFBAC-5BA4-6AE2-3554-012FC37CD47F}"/>
              </a:ext>
            </a:extLst>
          </p:cNvPr>
          <p:cNvSpPr txBox="1"/>
          <p:nvPr/>
        </p:nvSpPr>
        <p:spPr>
          <a:xfrm>
            <a:off x="5170386" y="3575427"/>
            <a:ext cx="302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Syntactical correctness!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12517C-6C22-65D7-DBB3-77AF4177C79B}"/>
              </a:ext>
            </a:extLst>
          </p:cNvPr>
          <p:cNvSpPr txBox="1"/>
          <p:nvPr/>
        </p:nvSpPr>
        <p:spPr>
          <a:xfrm>
            <a:off x="3990576" y="4371521"/>
            <a:ext cx="4654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What about semantical correctness?</a:t>
            </a:r>
          </a:p>
        </p:txBody>
      </p:sp>
    </p:spTree>
    <p:extLst>
      <p:ext uri="{BB962C8B-B14F-4D97-AF65-F5344CB8AC3E}">
        <p14:creationId xmlns:p14="http://schemas.microsoft.com/office/powerpoint/2010/main" val="27457741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97F04-7700-879B-408E-36F25548D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1F417996-C251-741E-FAD5-4D050B241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836993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Tackling Semantic Correctness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E28E55-6F7B-DEAB-9BE0-21F60F8E15F7}"/>
              </a:ext>
            </a:extLst>
          </p:cNvPr>
          <p:cNvSpPr txBox="1"/>
          <p:nvPr/>
        </p:nvSpPr>
        <p:spPr>
          <a:xfrm>
            <a:off x="9693805" y="749363"/>
            <a:ext cx="2142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Huang et al, AAAI 2025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8702FC-D555-6715-7D2F-3600AC91D76B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D08B0892-F322-EB3F-36F3-6458CB04D89F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4E05663-C00E-7E37-566F-25695C8F6E5E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8DD6522-287F-A7D6-2AB8-6212227B931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38E202E-C388-8726-9CED-0A8CB6DF729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4A3DBF2-CB0D-FD99-BFCA-379DAAC77377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54EF6C4-5DD2-85E0-7B48-12776645597F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5F3A0CA8-DDB8-E651-D6EE-20E1B64A15B5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35C3C3A4-4BD1-59F3-A1A1-66D7EB28D7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8C27E306-4A9E-CAC4-BA41-5C526F9B9F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0C2D946F-46F1-6D1E-B9E3-29267E19266C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C3E6D1A5-9621-8F8F-818F-0DE372EECB1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0294E2A4-7A04-77F6-E2CA-83B869B1C49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92353D65-6B95-9DDD-7B0A-FE7464098E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99AF0139-66A1-60B5-0E60-777A302B0EF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08FD7E6D-04F8-4AD4-C0B6-77DF6D322BD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52598848-F821-8888-6DB6-FA4B27C676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722844FA-9FF5-0D13-2468-38D29A7EE9C0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A5D9BEC0-E080-BB14-D784-9D4566499333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5B14E011-CB65-0957-A61B-106AB134FDD7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C23E094C-7B42-DC87-579B-FAB2045E63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E2CBC87B-99B2-E835-5401-00DEDD97D3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4D0F8F4C-9C89-0341-6EB6-03B4B7E322B2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8638D6CC-0ABE-27C3-33FD-ADADAB40EE1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E710AD95-A405-539B-8415-A9C86C39B9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4D4D3C09-BC1F-5BFB-9B59-4671C2EC6F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2D43A92-DF53-3DC9-CB9C-5736A07A4B91}"/>
              </a:ext>
            </a:extLst>
          </p:cNvPr>
          <p:cNvGrpSpPr>
            <a:grpSpLocks noChangeAspect="1"/>
          </p:cNvGrpSpPr>
          <p:nvPr/>
        </p:nvGrpSpPr>
        <p:grpSpPr>
          <a:xfrm>
            <a:off x="2554011" y="1948077"/>
            <a:ext cx="6980044" cy="1585647"/>
            <a:chOff x="2291257" y="2252863"/>
            <a:chExt cx="7525406" cy="170953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E852394-6014-BFBF-D2C4-5C2E46223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2384" t="1328" r="794" b="70647"/>
            <a:stretch>
              <a:fillRect/>
            </a:stretch>
          </p:blipFill>
          <p:spPr>
            <a:xfrm>
              <a:off x="2291257" y="2252863"/>
              <a:ext cx="7525406" cy="1709538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B64AF99-F2D2-CE87-DC7A-A86736C3FE85}"/>
                </a:ext>
              </a:extLst>
            </p:cNvPr>
            <p:cNvSpPr/>
            <p:nvPr/>
          </p:nvSpPr>
          <p:spPr>
            <a:xfrm>
              <a:off x="2291257" y="3658735"/>
              <a:ext cx="1245804" cy="303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2CB22D3-5DAF-A448-A089-283C2B81A396}"/>
              </a:ext>
            </a:extLst>
          </p:cNvPr>
          <p:cNvGrpSpPr>
            <a:grpSpLocks noChangeAspect="1"/>
          </p:cNvGrpSpPr>
          <p:nvPr/>
        </p:nvGrpSpPr>
        <p:grpSpPr>
          <a:xfrm>
            <a:off x="2554015" y="3756177"/>
            <a:ext cx="6986561" cy="2653760"/>
            <a:chOff x="2291257" y="3640556"/>
            <a:chExt cx="7532430" cy="286110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B1B1C4B-B32D-D7B3-FACA-9630FA3FF5FC}"/>
                </a:ext>
              </a:extLst>
            </p:cNvPr>
            <p:cNvGrpSpPr/>
            <p:nvPr/>
          </p:nvGrpSpPr>
          <p:grpSpPr>
            <a:xfrm>
              <a:off x="2298281" y="3640556"/>
              <a:ext cx="7525406" cy="2861105"/>
              <a:chOff x="2298281" y="3640556"/>
              <a:chExt cx="7525406" cy="286110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AB11FC87-D359-37D7-0443-527DEE3A5E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l="2384" t="24122" r="794" b="29272"/>
              <a:stretch>
                <a:fillRect/>
              </a:stretch>
            </p:blipFill>
            <p:spPr>
              <a:xfrm>
                <a:off x="2298281" y="3658685"/>
                <a:ext cx="7525406" cy="2842976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21C3843-9E4D-7981-956C-F36D52DD22A9}"/>
                  </a:ext>
                </a:extLst>
              </p:cNvPr>
              <p:cNvSpPr/>
              <p:nvPr/>
            </p:nvSpPr>
            <p:spPr>
              <a:xfrm>
                <a:off x="4422985" y="3640556"/>
                <a:ext cx="5183469" cy="303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48C0E5-A318-7F79-909C-D33F1094B0E1}"/>
                </a:ext>
              </a:extLst>
            </p:cNvPr>
            <p:cNvSpPr/>
            <p:nvPr/>
          </p:nvSpPr>
          <p:spPr>
            <a:xfrm>
              <a:off x="2291257" y="5958138"/>
              <a:ext cx="1545267" cy="303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11CA52F-5CA5-4BAA-FA46-2AFE08FD4738}"/>
                </a:ext>
              </a:extLst>
            </p:cNvPr>
            <p:cNvSpPr/>
            <p:nvPr/>
          </p:nvSpPr>
          <p:spPr>
            <a:xfrm>
              <a:off x="2298281" y="6166091"/>
              <a:ext cx="2210657" cy="303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7B026F7-587E-2A46-6737-653C570B097B}"/>
              </a:ext>
            </a:extLst>
          </p:cNvPr>
          <p:cNvGrpSpPr>
            <a:grpSpLocks noChangeAspect="1"/>
          </p:cNvGrpSpPr>
          <p:nvPr/>
        </p:nvGrpSpPr>
        <p:grpSpPr>
          <a:xfrm>
            <a:off x="2536924" y="4487919"/>
            <a:ext cx="7073882" cy="2067570"/>
            <a:chOff x="2473867" y="8450316"/>
            <a:chExt cx="7626574" cy="222911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3D166A1-555A-CBBC-E082-82BB954EF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2384" t="62248" r="794" b="1209"/>
            <a:stretch>
              <a:fillRect/>
            </a:stretch>
          </p:blipFill>
          <p:spPr>
            <a:xfrm>
              <a:off x="2473867" y="8450316"/>
              <a:ext cx="7525512" cy="2229112"/>
            </a:xfrm>
            <a:prstGeom prst="rect">
              <a:avLst/>
            </a:prstGeom>
            <a:ln>
              <a:noFill/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5432261-B459-9281-864E-250AC6145D35}"/>
                </a:ext>
              </a:extLst>
            </p:cNvPr>
            <p:cNvSpPr/>
            <p:nvPr/>
          </p:nvSpPr>
          <p:spPr>
            <a:xfrm>
              <a:off x="4218291" y="8450317"/>
              <a:ext cx="5882150" cy="2207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CA49431-A97B-A124-0AF4-7A77A3026FA8}"/>
                </a:ext>
              </a:extLst>
            </p:cNvPr>
            <p:cNvSpPr/>
            <p:nvPr/>
          </p:nvSpPr>
          <p:spPr>
            <a:xfrm>
              <a:off x="7507476" y="8562250"/>
              <a:ext cx="2210657" cy="303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08367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3.7037E-6 L -0.00182 -0.270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13542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914DF-C846-8B9F-B214-10ED43543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AA249345-AE5E-FAAF-5CB1-828BD2B59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19174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Measuring Semantic Correctness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623AF1-CA99-2B68-C7E1-54F1AB5613DB}"/>
              </a:ext>
            </a:extLst>
          </p:cNvPr>
          <p:cNvSpPr txBox="1"/>
          <p:nvPr/>
        </p:nvSpPr>
        <p:spPr>
          <a:xfrm>
            <a:off x="9693805" y="728438"/>
            <a:ext cx="2289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ICAPS 2024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37B6068-A67F-E10B-DC3B-FE55E16AEC61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75367C21-E886-7DF0-0C8F-D1796662596D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FA3FF6D-0E40-18CE-A05A-1E36001942BB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167999D-C089-D89B-5472-39ED29A9B33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6B79D5C-3317-2531-7873-46B562793F6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2F5A56C-E272-0131-0587-38A3F2F2F9DE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375B2C4-0650-10B0-70C6-A48582F3FC51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2C1B0FBB-F0E7-D347-3CA3-1D8DD6305E63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CC19933C-FC7B-8BF4-1912-D3D142ABD8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BB83A32A-6BED-1A70-07FE-39EBBFC89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B61BF853-816F-0B8C-21AB-D9C8A15E610B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60856BF0-EF55-086E-4187-919815B42D3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FB9A7F3D-5106-7E19-0193-2065DD2E01A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A8D3BA56-1D1E-D2FD-9019-0DB9294524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DC65D589-F682-71FC-3BEB-81D0FFFFF38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6EB246C7-8320-4FA2-16DA-6C242ED5167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DB4D3414-67B4-971D-FFFE-2F8BF99A1F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1E704669-0FCC-7BED-C307-998E6B57D5D9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E9FB028F-D91B-99B6-254F-4A3953E00D44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653059DC-6D21-CCDB-5D00-7D074B0D321A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4EAA8502-E6F9-155B-A64A-FE9CFD1551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BE453C7F-F7C3-AF3A-F2D8-4528E71715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0FA42ADE-F30A-54D9-1CC9-DEC998917B15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DE072DDF-98D2-94C6-6F96-CEA7962B947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7EF375E9-9AC7-D886-2E10-1B8B398BD9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22FB6C3F-82E7-EBE9-AA79-69896EEA87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43ABA90-E884-0E54-89FD-887ED2A83450}"/>
              </a:ext>
            </a:extLst>
          </p:cNvPr>
          <p:cNvGrpSpPr/>
          <p:nvPr/>
        </p:nvGrpSpPr>
        <p:grpSpPr>
          <a:xfrm>
            <a:off x="8299856" y="2398358"/>
            <a:ext cx="2277089" cy="918340"/>
            <a:chOff x="8142202" y="2398358"/>
            <a:chExt cx="2277089" cy="91834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C23225B-295B-32AC-E7EA-7663CDECFD99}"/>
                </a:ext>
              </a:extLst>
            </p:cNvPr>
            <p:cNvGrpSpPr/>
            <p:nvPr/>
          </p:nvGrpSpPr>
          <p:grpSpPr>
            <a:xfrm>
              <a:off x="9503790" y="2398358"/>
              <a:ext cx="915501" cy="918340"/>
              <a:chOff x="3844203" y="2510661"/>
              <a:chExt cx="915501" cy="91834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8EDEEBA-5ACD-17C5-98C2-B017F9031C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9E3DE0C-EF89-BAA1-7A62-EC4AFFD278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A5C445F-63D5-032A-01D9-9737DF8BE0DE}"/>
                </a:ext>
              </a:extLst>
            </p:cNvPr>
            <p:cNvGrpSpPr/>
            <p:nvPr/>
          </p:nvGrpSpPr>
          <p:grpSpPr>
            <a:xfrm>
              <a:off x="8142202" y="2398358"/>
              <a:ext cx="914400" cy="914400"/>
              <a:chOff x="5572642" y="2539882"/>
              <a:chExt cx="914400" cy="914400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94B6498E-6D3A-1882-B035-02FFC87D54DC}"/>
                  </a:ext>
                </a:extLst>
              </p:cNvPr>
              <p:cNvGrpSpPr/>
              <p:nvPr/>
            </p:nvGrpSpPr>
            <p:grpSpPr>
              <a:xfrm>
                <a:off x="5572642" y="2539882"/>
                <a:ext cx="914400" cy="914400"/>
                <a:chOff x="4982889" y="7072748"/>
                <a:chExt cx="795114" cy="795114"/>
              </a:xfrm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B743FA06-61FA-063A-B390-FC46ECE0143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89" y="7072748"/>
                  <a:ext cx="795114" cy="795114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9" name="Graphic 58">
                  <a:extLst>
                    <a:ext uri="{FF2B5EF4-FFF2-40B4-BE49-F238E27FC236}">
                      <a16:creationId xmlns:a16="http://schemas.microsoft.com/office/drawing/2014/main" id="{D342B86A-D29C-0995-AA6B-1F0D8CD4DB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41310" y="7508818"/>
                  <a:ext cx="323230" cy="323230"/>
                </a:xfrm>
                <a:prstGeom prst="rect">
                  <a:avLst/>
                </a:prstGeom>
              </p:spPr>
            </p:pic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43AB866-199A-F28D-A8F2-BDF12358757C}"/>
                  </a:ext>
                </a:extLst>
              </p:cNvPr>
              <p:cNvSpPr txBox="1"/>
              <p:nvPr/>
            </p:nvSpPr>
            <p:spPr>
              <a:xfrm>
                <a:off x="5653770" y="2672541"/>
                <a:ext cx="7966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PDDL</a:t>
                </a:r>
              </a:p>
            </p:txBody>
          </p:sp>
        </p:grp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EDA14F3F-459C-405E-A9A2-3523D128BC88}"/>
                </a:ext>
              </a:extLst>
            </p:cNvPr>
            <p:cNvCxnSpPr>
              <a:cxnSpLocks/>
              <a:stCxn id="8" idx="2"/>
              <a:endCxn id="54" idx="6"/>
            </p:cNvCxnSpPr>
            <p:nvPr/>
          </p:nvCxnSpPr>
          <p:spPr bwMode="auto">
            <a:xfrm flipH="1" flipV="1">
              <a:off x="9056602" y="2855558"/>
              <a:ext cx="447188" cy="197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438A36-84D9-81D4-EAC8-843C417F1753}"/>
              </a:ext>
            </a:extLst>
          </p:cNvPr>
          <p:cNvGrpSpPr/>
          <p:nvPr/>
        </p:nvGrpSpPr>
        <p:grpSpPr>
          <a:xfrm>
            <a:off x="2920575" y="239835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3A66562-1BEE-0CE2-E30C-FFAAE3BAF221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7285CCB-8990-378F-9E48-B009F4111E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646203D8-DBBB-8937-3737-1C529629B8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5AA8D3-9841-2A1C-3B7E-104F5A7E7363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73D2AED-8EAE-A723-F29F-E22E0C13DFBE}"/>
              </a:ext>
            </a:extLst>
          </p:cNvPr>
          <p:cNvGrpSpPr/>
          <p:nvPr/>
        </p:nvGrpSpPr>
        <p:grpSpPr>
          <a:xfrm>
            <a:off x="4467342" y="4311083"/>
            <a:ext cx="3273382" cy="1966979"/>
            <a:chOff x="1198636" y="4311083"/>
            <a:chExt cx="3273382" cy="196697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69DDC39-E5C1-2121-1718-1289033F7325}"/>
                </a:ext>
              </a:extLst>
            </p:cNvPr>
            <p:cNvSpPr txBox="1"/>
            <p:nvPr/>
          </p:nvSpPr>
          <p:spPr>
            <a:xfrm>
              <a:off x="2393638" y="5877952"/>
              <a:ext cx="82412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ARE 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4442B7F4-AA1E-8702-35CB-F3E0CBD71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98636" y="4311083"/>
              <a:ext cx="3273382" cy="1045933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CCD81EA-5E15-6E6D-652A-559341068F6F}"/>
              </a:ext>
            </a:extLst>
          </p:cNvPr>
          <p:cNvGrpSpPr/>
          <p:nvPr/>
        </p:nvGrpSpPr>
        <p:grpSpPr>
          <a:xfrm>
            <a:off x="4684140" y="4235670"/>
            <a:ext cx="2707834" cy="2042392"/>
            <a:chOff x="5913844" y="4235670"/>
            <a:chExt cx="2707834" cy="204239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F79AC1-0FD1-41E5-27A3-E6D2885653B5}"/>
                </a:ext>
              </a:extLst>
            </p:cNvPr>
            <p:cNvSpPr txBox="1"/>
            <p:nvPr/>
          </p:nvSpPr>
          <p:spPr>
            <a:xfrm>
              <a:off x="6908808" y="5877952"/>
              <a:ext cx="82412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HDE</a:t>
              </a:r>
              <a:r>
                <a:rPr lang="en-US" dirty="0"/>
                <a:t> 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5D04CEF-4B87-05AB-4F83-BF57393F2DCA}"/>
                </a:ext>
              </a:extLst>
            </p:cNvPr>
            <p:cNvSpPr/>
            <p:nvPr/>
          </p:nvSpPr>
          <p:spPr>
            <a:xfrm>
              <a:off x="5913844" y="4235670"/>
              <a:ext cx="1989929" cy="1355832"/>
            </a:xfrm>
            <a:prstGeom prst="ellipse">
              <a:avLst/>
            </a:prstGeom>
            <a:solidFill>
              <a:srgbClr val="FFF5E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A05E07E-5BCF-352A-379F-167D205A2C1F}"/>
                </a:ext>
              </a:extLst>
            </p:cNvPr>
            <p:cNvSpPr/>
            <p:nvPr/>
          </p:nvSpPr>
          <p:spPr>
            <a:xfrm>
              <a:off x="6430886" y="4238494"/>
              <a:ext cx="2121449" cy="1345117"/>
            </a:xfrm>
            <a:prstGeom prst="ellipse">
              <a:avLst/>
            </a:prstGeom>
            <a:solidFill>
              <a:srgbClr val="DEFBE6">
                <a:alpha val="40997"/>
              </a:srgbClr>
            </a:solidFill>
            <a:ln w="19050">
              <a:solidFill>
                <a:srgbClr val="00206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</a:pPr>
              <a:endParaRPr lang="en-US" sz="700">
                <a:solidFill>
                  <a:schemeClr val="bg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ABEC8EE-0BDF-816D-35B2-A5A75D5A8780}"/>
                </a:ext>
              </a:extLst>
            </p:cNvPr>
            <p:cNvSpPr txBox="1"/>
            <p:nvPr/>
          </p:nvSpPr>
          <p:spPr>
            <a:xfrm>
              <a:off x="6020977" y="5068770"/>
              <a:ext cx="708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plans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CBADFB5-DE5E-4918-FE47-0094C7A61C81}"/>
                </a:ext>
              </a:extLst>
            </p:cNvPr>
            <p:cNvSpPr txBox="1"/>
            <p:nvPr/>
          </p:nvSpPr>
          <p:spPr>
            <a:xfrm>
              <a:off x="7913198" y="4557050"/>
              <a:ext cx="708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plans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2C40032-9F77-D05D-C31C-861A951936D9}"/>
              </a:ext>
            </a:extLst>
          </p:cNvPr>
          <p:cNvGrpSpPr/>
          <p:nvPr/>
        </p:nvGrpSpPr>
        <p:grpSpPr>
          <a:xfrm>
            <a:off x="3961911" y="2474430"/>
            <a:ext cx="4204092" cy="707886"/>
            <a:chOff x="3961911" y="2474430"/>
            <a:chExt cx="4204092" cy="707886"/>
          </a:xfrm>
        </p:grpSpPr>
        <p:sp>
          <p:nvSpPr>
            <p:cNvPr id="41" name="Left Arrow 40">
              <a:extLst>
                <a:ext uri="{FF2B5EF4-FFF2-40B4-BE49-F238E27FC236}">
                  <a16:creationId xmlns:a16="http://schemas.microsoft.com/office/drawing/2014/main" id="{255900FC-A8E6-0E58-689D-C057F719B648}"/>
                </a:ext>
              </a:extLst>
            </p:cNvPr>
            <p:cNvSpPr/>
            <p:nvPr/>
          </p:nvSpPr>
          <p:spPr>
            <a:xfrm>
              <a:off x="3961911" y="2618054"/>
              <a:ext cx="590230" cy="429946"/>
            </a:xfrm>
            <a:prstGeom prst="leftArrow">
              <a:avLst>
                <a:gd name="adj1" fmla="val 44947"/>
                <a:gd name="adj2" fmla="val 75264"/>
              </a:avLst>
            </a:prstGeom>
            <a:ln w="19050" cap="sq" cmpd="thickThin"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D20C7EB-243B-4C9C-89C1-7190E1647DF4}"/>
                </a:ext>
              </a:extLst>
            </p:cNvPr>
            <p:cNvSpPr txBox="1"/>
            <p:nvPr/>
          </p:nvSpPr>
          <p:spPr>
            <a:xfrm>
              <a:off x="4839669" y="2474430"/>
              <a:ext cx="26469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How to measure semantic equivalence?</a:t>
              </a:r>
            </a:p>
          </p:txBody>
        </p:sp>
        <p:sp>
          <p:nvSpPr>
            <p:cNvPr id="43" name="Left Arrow 42">
              <a:extLst>
                <a:ext uri="{FF2B5EF4-FFF2-40B4-BE49-F238E27FC236}">
                  <a16:creationId xmlns:a16="http://schemas.microsoft.com/office/drawing/2014/main" id="{4A374296-2ECE-D2E8-6DDF-0CA7C6DCA329}"/>
                </a:ext>
              </a:extLst>
            </p:cNvPr>
            <p:cNvSpPr/>
            <p:nvPr/>
          </p:nvSpPr>
          <p:spPr>
            <a:xfrm rot="10800000">
              <a:off x="7575773" y="2613239"/>
              <a:ext cx="590230" cy="429946"/>
            </a:xfrm>
            <a:prstGeom prst="leftArrow">
              <a:avLst>
                <a:gd name="adj1" fmla="val 44947"/>
                <a:gd name="adj2" fmla="val 75264"/>
              </a:avLst>
            </a:prstGeom>
            <a:ln w="19050" cap="sq" cmpd="thickThin"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87A4F829-FE30-FDB8-EE1F-A09B4FAC350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2483" t="20400" r="3300" b="16430"/>
          <a:stretch>
            <a:fillRect/>
          </a:stretch>
        </p:blipFill>
        <p:spPr>
          <a:xfrm>
            <a:off x="4495612" y="3728066"/>
            <a:ext cx="2956605" cy="44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721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0CF19-A60E-A8C2-CEBF-2DEC09FE3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33CF6BD8-125A-51D4-1736-D8C31C977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1E5BE-A5D5-5799-2BB1-E990D6D1CE85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8AC20E3-E214-6CFB-A546-6759C83BFDBB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0F44BD51-8660-5ACD-2B3F-8AD783F4592A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032E14A-3299-120C-A6B7-E16A5C95D2FB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4B42559-3D9A-C6F1-3711-00B1AFF5D08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FD87559-F153-DCE6-34B1-392AA8C62AD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D4CBAA5-60A3-8FC1-E9E8-1B667FA306A5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BE700C0-862B-2784-AFA7-C74BB298BAA3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8C2F8976-B3FA-2280-95FC-E219C1C442A0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1B11E97A-ECF3-43E5-A0B0-AC7F29EE2D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A99EA3D6-1EA4-57D2-70B6-8BD7A5A5A3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4450512F-47C3-BFA1-F857-0C2EF6F203F4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74D86839-AB16-7B44-4FFB-1F19492CA64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54253A3B-0D07-575B-F6FF-EC3CEA3C146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F364B4F8-A4C3-998D-7A1E-3A3B6FEEC3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22589717-66A5-63DC-9E90-2B95BF8ADD7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D554D691-24C0-0BA9-8E72-A42EC636B6E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2FD1755D-41EB-0DC5-D743-0A7C9EB866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73DECA7F-E14D-9958-F929-41F4C3B490D0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4DD9098C-303F-2FD4-88DD-944FE23F5F44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234F0107-8EF8-7838-787B-F60DE67B3538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91512953-1A9B-9387-665B-CAE29F41E2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F59EAF95-2669-AB5F-3B46-B57D07F45D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7DD60720-DBF4-F8AD-9B63-7434E98869BA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E57DA7D5-90E5-39DD-1B3D-972F20EBC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F4867C56-5DB3-B6F0-CAC1-6DDB1E6B1F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65965B75-DD97-A7CC-F07F-912534936E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87DA789D-CCDF-BB67-E007-687724CA36D6}"/>
              </a:ext>
            </a:extLst>
          </p:cNvPr>
          <p:cNvSpPr/>
          <p:nvPr/>
        </p:nvSpPr>
        <p:spPr>
          <a:xfrm>
            <a:off x="9721510" y="1897621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EB722E55-EA86-AD64-3BCA-9ADC98034C85}"/>
              </a:ext>
            </a:extLst>
          </p:cNvPr>
          <p:cNvGrpSpPr/>
          <p:nvPr/>
        </p:nvGrpSpPr>
        <p:grpSpPr>
          <a:xfrm>
            <a:off x="9834450" y="244415"/>
            <a:ext cx="470874" cy="1205078"/>
            <a:chOff x="9966968" y="1702148"/>
            <a:chExt cx="470874" cy="1205078"/>
          </a:xfrm>
        </p:grpSpPr>
        <p:grpSp>
          <p:nvGrpSpPr>
            <p:cNvPr id="1112" name="Group 1111">
              <a:extLst>
                <a:ext uri="{FF2B5EF4-FFF2-40B4-BE49-F238E27FC236}">
                  <a16:creationId xmlns:a16="http://schemas.microsoft.com/office/drawing/2014/main" id="{1070C97F-7391-E97A-DB34-A809804D4A2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113" name="Oval 1112">
                <a:extLst>
                  <a:ext uri="{FF2B5EF4-FFF2-40B4-BE49-F238E27FC236}">
                    <a16:creationId xmlns:a16="http://schemas.microsoft.com/office/drawing/2014/main" id="{8C50BA0C-B295-991A-4003-CC53BEF0BE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14" name="Picture 1113">
                <a:extLst>
                  <a:ext uri="{FF2B5EF4-FFF2-40B4-BE49-F238E27FC236}">
                    <a16:creationId xmlns:a16="http://schemas.microsoft.com/office/drawing/2014/main" id="{551D9D7C-8022-6BCB-45E8-1C83F1D710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5F88D77C-C584-4396-31FB-348ADA4EBB3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121" name="Group 1120">
                <a:extLst>
                  <a:ext uri="{FF2B5EF4-FFF2-40B4-BE49-F238E27FC236}">
                    <a16:creationId xmlns:a16="http://schemas.microsoft.com/office/drawing/2014/main" id="{711340D4-EEF4-070D-E3B9-8F0BDB5CCDC0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123" name="Oval 1122">
                  <a:extLst>
                    <a:ext uri="{FF2B5EF4-FFF2-40B4-BE49-F238E27FC236}">
                      <a16:creationId xmlns:a16="http://schemas.microsoft.com/office/drawing/2014/main" id="{9484DA1B-036C-12F7-559B-BAFE00F52CB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124" name="Graphic 1123">
                  <a:extLst>
                    <a:ext uri="{FF2B5EF4-FFF2-40B4-BE49-F238E27FC236}">
                      <a16:creationId xmlns:a16="http://schemas.microsoft.com/office/drawing/2014/main" id="{67FAA90E-38B4-057E-52B6-67FDC7CEEC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122" name="TextBox 1121">
                <a:extLst>
                  <a:ext uri="{FF2B5EF4-FFF2-40B4-BE49-F238E27FC236}">
                    <a16:creationId xmlns:a16="http://schemas.microsoft.com/office/drawing/2014/main" id="{847E0644-DD6A-8469-8E24-D80C19BCCB4C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36A6B2EE-1B81-9A91-E2F2-F94DFC11256E}"/>
                </a:ext>
              </a:extLst>
            </p:cNvPr>
            <p:cNvCxnSpPr>
              <a:cxnSpLocks/>
              <a:stCxn id="1113" idx="4"/>
              <a:endCxn id="1123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A04DDD3A-6774-0967-CC15-E6B99389A332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cxnSp>
        <p:nvCxnSpPr>
          <p:cNvPr id="1133" name="Straight Connector 1132">
            <a:extLst>
              <a:ext uri="{FF2B5EF4-FFF2-40B4-BE49-F238E27FC236}">
                <a16:creationId xmlns:a16="http://schemas.microsoft.com/office/drawing/2014/main" id="{1D7E3491-DA51-0136-0945-EC01AF256A15}"/>
              </a:ext>
            </a:extLst>
          </p:cNvPr>
          <p:cNvCxnSpPr>
            <a:cxnSpLocks/>
            <a:stCxn id="1123" idx="4"/>
            <a:endCxn id="1111" idx="0"/>
          </p:cNvCxnSpPr>
          <p:nvPr/>
        </p:nvCxnSpPr>
        <p:spPr bwMode="auto">
          <a:xfrm flipH="1">
            <a:off x="10060136" y="1449493"/>
            <a:ext cx="4258" cy="44812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4" name="Straight Connector 1133">
            <a:extLst>
              <a:ext uri="{FF2B5EF4-FFF2-40B4-BE49-F238E27FC236}">
                <a16:creationId xmlns:a16="http://schemas.microsoft.com/office/drawing/2014/main" id="{CEE2575B-C629-F38C-64CF-54BEAF403A73}"/>
              </a:ext>
            </a:extLst>
          </p:cNvPr>
          <p:cNvCxnSpPr>
            <a:cxnSpLocks/>
            <a:stCxn id="41" idx="2"/>
            <a:endCxn id="1074" idx="0"/>
          </p:cNvCxnSpPr>
          <p:nvPr/>
        </p:nvCxnSpPr>
        <p:spPr bwMode="auto">
          <a:xfrm flipH="1">
            <a:off x="8644588" y="2234144"/>
            <a:ext cx="665764" cy="23332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C28B689-EDD1-D916-F458-4EFD563DBB83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B7BE07B-1011-F8B8-59FA-7F775FC95502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BD9DDC9-4782-703F-455D-490F0B59ED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99C261DC-9CD6-E0C6-1A18-09D7D9FB79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B58F20C-0C3C-AB8E-DB44-574A9794F361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EDF25622-9DCB-30FC-2DD0-1AAACFAECCA8}"/>
              </a:ext>
            </a:extLst>
          </p:cNvPr>
          <p:cNvSpPr/>
          <p:nvPr/>
        </p:nvSpPr>
        <p:spPr>
          <a:xfrm>
            <a:off x="312678" y="4888155"/>
            <a:ext cx="785400" cy="527249"/>
          </a:xfrm>
          <a:prstGeom prst="ellipse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E8A906-AB1A-F439-1FCE-B3B509EC5898}"/>
              </a:ext>
            </a:extLst>
          </p:cNvPr>
          <p:cNvSpPr txBox="1"/>
          <p:nvPr/>
        </p:nvSpPr>
        <p:spPr>
          <a:xfrm>
            <a:off x="346394" y="4919869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4F4E0-FE17-4D7D-0611-6BCFDA3043E6}"/>
              </a:ext>
            </a:extLst>
          </p:cNvPr>
          <p:cNvSpPr txBox="1"/>
          <p:nvPr/>
        </p:nvSpPr>
        <p:spPr>
          <a:xfrm>
            <a:off x="1332493" y="2133974"/>
            <a:ext cx="3702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Semantic feedback – many 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2175AE-1AAB-FAA8-6119-4B51E881FFFC}"/>
              </a:ext>
            </a:extLst>
          </p:cNvPr>
          <p:cNvSpPr txBox="1"/>
          <p:nvPr/>
        </p:nvSpPr>
        <p:spPr>
          <a:xfrm>
            <a:off x="1776022" y="2610021"/>
            <a:ext cx="488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been a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8A428-1627-2635-3D2D-87653EEB56D7}"/>
              </a:ext>
            </a:extLst>
          </p:cNvPr>
          <p:cNvSpPr txBox="1"/>
          <p:nvPr/>
        </p:nvSpPr>
        <p:spPr>
          <a:xfrm>
            <a:off x="1771736" y="2993820"/>
            <a:ext cx="5264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not been a plan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C708EA4-E0FE-0DCA-919C-CA626BF69029}"/>
              </a:ext>
            </a:extLst>
          </p:cNvPr>
          <p:cNvSpPr/>
          <p:nvPr/>
        </p:nvSpPr>
        <p:spPr>
          <a:xfrm>
            <a:off x="316915" y="5580999"/>
            <a:ext cx="785400" cy="424551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68DC8-619A-97BA-707E-A614DC169E21}"/>
              </a:ext>
            </a:extLst>
          </p:cNvPr>
          <p:cNvSpPr txBox="1"/>
          <p:nvPr/>
        </p:nvSpPr>
        <p:spPr>
          <a:xfrm>
            <a:off x="292578" y="5654774"/>
            <a:ext cx="834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landmarks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43D640-8F2A-94C3-4DEB-DD384F473FB4}"/>
              </a:ext>
            </a:extLst>
          </p:cNvPr>
          <p:cNvSpPr txBox="1"/>
          <p:nvPr/>
        </p:nvSpPr>
        <p:spPr>
          <a:xfrm>
            <a:off x="1771736" y="3377081"/>
            <a:ext cx="475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set of actions should have been a landmark</a:t>
            </a:r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282DB5DE-1FDE-5739-3618-3045DB5F9BF0}"/>
              </a:ext>
            </a:extLst>
          </p:cNvPr>
          <p:cNvSpPr/>
          <p:nvPr/>
        </p:nvSpPr>
        <p:spPr>
          <a:xfrm rot="16200000">
            <a:off x="3707981" y="4023539"/>
            <a:ext cx="590230" cy="429946"/>
          </a:xfrm>
          <a:prstGeom prst="leftArrow">
            <a:avLst>
              <a:gd name="adj1" fmla="val 44947"/>
              <a:gd name="adj2" fmla="val 75264"/>
            </a:avLst>
          </a:prstGeom>
          <a:ln w="19050" cap="sq" cmpd="thickThin"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7C8E6B-73A9-07AA-759D-8E64CDF24B61}"/>
              </a:ext>
            </a:extLst>
          </p:cNvPr>
          <p:cNvSpPr txBox="1"/>
          <p:nvPr/>
        </p:nvSpPr>
        <p:spPr>
          <a:xfrm>
            <a:off x="1847076" y="4658974"/>
            <a:ext cx="5113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We can branch on the feedback given to the model!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BFE6769-AE8B-85A0-C229-B0B5851D6F06}"/>
              </a:ext>
            </a:extLst>
          </p:cNvPr>
          <p:cNvSpPr/>
          <p:nvPr/>
        </p:nvSpPr>
        <p:spPr>
          <a:xfrm>
            <a:off x="8971727" y="1895590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52A61D0-7343-2033-2C81-657989B376C4}"/>
              </a:ext>
            </a:extLst>
          </p:cNvPr>
          <p:cNvCxnSpPr>
            <a:cxnSpLocks/>
            <a:stCxn id="1123" idx="3"/>
            <a:endCxn id="41" idx="0"/>
          </p:cNvCxnSpPr>
          <p:nvPr/>
        </p:nvCxnSpPr>
        <p:spPr bwMode="auto">
          <a:xfrm flipH="1">
            <a:off x="9310352" y="1382147"/>
            <a:ext cx="591455" cy="5134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4BC5E2-A367-A7E3-D0D7-1A6CE8A48DE0}"/>
              </a:ext>
            </a:extLst>
          </p:cNvPr>
          <p:cNvCxnSpPr>
            <a:cxnSpLocks/>
            <a:stCxn id="1123" idx="5"/>
            <a:endCxn id="63" idx="0"/>
          </p:cNvCxnSpPr>
          <p:nvPr/>
        </p:nvCxnSpPr>
        <p:spPr bwMode="auto">
          <a:xfrm>
            <a:off x="10226980" y="1382147"/>
            <a:ext cx="576489" cy="51314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10ADFCF1-2E5B-8B0B-04C2-7ED820DE319E}"/>
              </a:ext>
            </a:extLst>
          </p:cNvPr>
          <p:cNvSpPr/>
          <p:nvPr/>
        </p:nvSpPr>
        <p:spPr>
          <a:xfrm>
            <a:off x="10464843" y="1895296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9A262773-659E-BAF2-6414-DE00C8C81F5B}"/>
              </a:ext>
            </a:extLst>
          </p:cNvPr>
          <p:cNvGrpSpPr/>
          <p:nvPr/>
        </p:nvGrpSpPr>
        <p:grpSpPr>
          <a:xfrm>
            <a:off x="10762813" y="2468710"/>
            <a:ext cx="470874" cy="1205078"/>
            <a:chOff x="9966968" y="1702148"/>
            <a:chExt cx="470874" cy="1205078"/>
          </a:xfrm>
        </p:grpSpPr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A1821392-62E1-C0F7-3198-C95B8688413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046" name="Oval 1045">
                <a:extLst>
                  <a:ext uri="{FF2B5EF4-FFF2-40B4-BE49-F238E27FC236}">
                    <a16:creationId xmlns:a16="http://schemas.microsoft.com/office/drawing/2014/main" id="{A82EC13F-0AAA-0F62-D61F-6F9785D56F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47" name="Picture 1046">
                <a:extLst>
                  <a:ext uri="{FF2B5EF4-FFF2-40B4-BE49-F238E27FC236}">
                    <a16:creationId xmlns:a16="http://schemas.microsoft.com/office/drawing/2014/main" id="{39B099BF-DF85-5DCF-98BD-200111C419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040" name="Group 1039">
              <a:extLst>
                <a:ext uri="{FF2B5EF4-FFF2-40B4-BE49-F238E27FC236}">
                  <a16:creationId xmlns:a16="http://schemas.microsoft.com/office/drawing/2014/main" id="{9F618977-9DB2-3B28-0973-0E9D15C0DAC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042" name="Group 1041">
                <a:extLst>
                  <a:ext uri="{FF2B5EF4-FFF2-40B4-BE49-F238E27FC236}">
                    <a16:creationId xmlns:a16="http://schemas.microsoft.com/office/drawing/2014/main" id="{E37CC7CE-701D-576B-FF12-20BD78D126C8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044" name="Oval 1043">
                  <a:extLst>
                    <a:ext uri="{FF2B5EF4-FFF2-40B4-BE49-F238E27FC236}">
                      <a16:creationId xmlns:a16="http://schemas.microsoft.com/office/drawing/2014/main" id="{C9B5F504-1498-3A59-8708-9DB72513C29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5" name="Graphic 1044">
                  <a:extLst>
                    <a:ext uri="{FF2B5EF4-FFF2-40B4-BE49-F238E27FC236}">
                      <a16:creationId xmlns:a16="http://schemas.microsoft.com/office/drawing/2014/main" id="{A8722710-9C48-9172-8C97-B201AD4069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DCC7A233-A9EF-6FFC-8803-E4B5758E2932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65232A96-A907-E9E4-CE0A-156990BB7613}"/>
                </a:ext>
              </a:extLst>
            </p:cNvPr>
            <p:cNvCxnSpPr>
              <a:cxnSpLocks/>
              <a:stCxn id="1046" idx="4"/>
              <a:endCxn id="1044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C11FF8C3-0F5B-ED76-7F3A-5ACC4049FE3B}"/>
              </a:ext>
            </a:extLst>
          </p:cNvPr>
          <p:cNvGrpSpPr/>
          <p:nvPr/>
        </p:nvGrpSpPr>
        <p:grpSpPr>
          <a:xfrm>
            <a:off x="9825613" y="2468088"/>
            <a:ext cx="470874" cy="1205078"/>
            <a:chOff x="9966968" y="1702148"/>
            <a:chExt cx="470874" cy="1205078"/>
          </a:xfrm>
        </p:grpSpPr>
        <p:grpSp>
          <p:nvGrpSpPr>
            <p:cNvPr id="1050" name="Group 1049">
              <a:extLst>
                <a:ext uri="{FF2B5EF4-FFF2-40B4-BE49-F238E27FC236}">
                  <a16:creationId xmlns:a16="http://schemas.microsoft.com/office/drawing/2014/main" id="{0E8302ED-326A-AD8A-8396-55503162C8F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064" name="Oval 1063">
                <a:extLst>
                  <a:ext uri="{FF2B5EF4-FFF2-40B4-BE49-F238E27FC236}">
                    <a16:creationId xmlns:a16="http://schemas.microsoft.com/office/drawing/2014/main" id="{80CD28FA-2D41-F124-DE8F-5CA93558D2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5" name="Picture 1064">
                <a:extLst>
                  <a:ext uri="{FF2B5EF4-FFF2-40B4-BE49-F238E27FC236}">
                    <a16:creationId xmlns:a16="http://schemas.microsoft.com/office/drawing/2014/main" id="{266E53B5-7B25-9F4F-6E3C-209B3E8F2B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051" name="Group 1050">
              <a:extLst>
                <a:ext uri="{FF2B5EF4-FFF2-40B4-BE49-F238E27FC236}">
                  <a16:creationId xmlns:a16="http://schemas.microsoft.com/office/drawing/2014/main" id="{D7454DF5-8A8D-2E6C-B8F1-1B94C3FDD36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053" name="Group 1052">
                <a:extLst>
                  <a:ext uri="{FF2B5EF4-FFF2-40B4-BE49-F238E27FC236}">
                    <a16:creationId xmlns:a16="http://schemas.microsoft.com/office/drawing/2014/main" id="{10925864-B6DE-3F5D-BCF1-554F8BF0B7C3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062" name="Oval 1061">
                  <a:extLst>
                    <a:ext uri="{FF2B5EF4-FFF2-40B4-BE49-F238E27FC236}">
                      <a16:creationId xmlns:a16="http://schemas.microsoft.com/office/drawing/2014/main" id="{A161D26C-B6A6-AA56-8E2B-0E77B4D28D5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63" name="Graphic 1062">
                  <a:extLst>
                    <a:ext uri="{FF2B5EF4-FFF2-40B4-BE49-F238E27FC236}">
                      <a16:creationId xmlns:a16="http://schemas.microsoft.com/office/drawing/2014/main" id="{AA309E5A-49C9-C87F-50F2-31B0DEF56D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550352F0-0A97-DBCE-94AE-49402DC9B3A0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14E48DED-F68C-8328-3E95-9A278B698349}"/>
                </a:ext>
              </a:extLst>
            </p:cNvPr>
            <p:cNvCxnSpPr>
              <a:cxnSpLocks/>
              <a:stCxn id="1064" idx="4"/>
              <a:endCxn id="1062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79527900-97D4-409B-2E27-98C0EA74788D}"/>
              </a:ext>
            </a:extLst>
          </p:cNvPr>
          <p:cNvGrpSpPr/>
          <p:nvPr/>
        </p:nvGrpSpPr>
        <p:grpSpPr>
          <a:xfrm>
            <a:off x="8415988" y="2467466"/>
            <a:ext cx="470874" cy="1205078"/>
            <a:chOff x="9966968" y="1702148"/>
            <a:chExt cx="470874" cy="1205078"/>
          </a:xfrm>
        </p:grpSpPr>
        <p:grpSp>
          <p:nvGrpSpPr>
            <p:cNvPr id="1067" name="Group 1066">
              <a:extLst>
                <a:ext uri="{FF2B5EF4-FFF2-40B4-BE49-F238E27FC236}">
                  <a16:creationId xmlns:a16="http://schemas.microsoft.com/office/drawing/2014/main" id="{8F678B95-4BE1-35B6-4E58-C9893C0B917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074" name="Oval 1073">
                <a:extLst>
                  <a:ext uri="{FF2B5EF4-FFF2-40B4-BE49-F238E27FC236}">
                    <a16:creationId xmlns:a16="http://schemas.microsoft.com/office/drawing/2014/main" id="{9672ED4F-2741-21AE-EEDE-84A9218615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75" name="Picture 1074">
                <a:extLst>
                  <a:ext uri="{FF2B5EF4-FFF2-40B4-BE49-F238E27FC236}">
                    <a16:creationId xmlns:a16="http://schemas.microsoft.com/office/drawing/2014/main" id="{501C9F23-8733-2109-DF87-71868DDCB3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068" name="Group 1067">
              <a:extLst>
                <a:ext uri="{FF2B5EF4-FFF2-40B4-BE49-F238E27FC236}">
                  <a16:creationId xmlns:a16="http://schemas.microsoft.com/office/drawing/2014/main" id="{4B571EFA-EAEA-8120-8EA6-CCB7391677E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070" name="Group 1069">
                <a:extLst>
                  <a:ext uri="{FF2B5EF4-FFF2-40B4-BE49-F238E27FC236}">
                    <a16:creationId xmlns:a16="http://schemas.microsoft.com/office/drawing/2014/main" id="{34BA437D-FA89-5040-DEDF-74A455323725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072" name="Oval 1071">
                  <a:extLst>
                    <a:ext uri="{FF2B5EF4-FFF2-40B4-BE49-F238E27FC236}">
                      <a16:creationId xmlns:a16="http://schemas.microsoft.com/office/drawing/2014/main" id="{B1FEFB41-AB92-C96C-FA41-A66202BAC9A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73" name="Graphic 1072">
                  <a:extLst>
                    <a:ext uri="{FF2B5EF4-FFF2-40B4-BE49-F238E27FC236}">
                      <a16:creationId xmlns:a16="http://schemas.microsoft.com/office/drawing/2014/main" id="{751D1774-1108-BA40-8D50-A43021559A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071" name="TextBox 1070">
                <a:extLst>
                  <a:ext uri="{FF2B5EF4-FFF2-40B4-BE49-F238E27FC236}">
                    <a16:creationId xmlns:a16="http://schemas.microsoft.com/office/drawing/2014/main" id="{A1A337DE-97D7-1416-0F4D-C97EF50F9672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7A4E8520-2EF8-36A3-7C43-FD1C250EE6BA}"/>
                </a:ext>
              </a:extLst>
            </p:cNvPr>
            <p:cNvCxnSpPr>
              <a:cxnSpLocks/>
              <a:stCxn id="1074" idx="4"/>
              <a:endCxn id="1072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78" name="Straight Connector 1077">
            <a:extLst>
              <a:ext uri="{FF2B5EF4-FFF2-40B4-BE49-F238E27FC236}">
                <a16:creationId xmlns:a16="http://schemas.microsoft.com/office/drawing/2014/main" id="{E3B2CE9E-C11F-235A-0B0F-85939C231E64}"/>
              </a:ext>
            </a:extLst>
          </p:cNvPr>
          <p:cNvCxnSpPr>
            <a:cxnSpLocks/>
            <a:stCxn id="1111" idx="2"/>
            <a:endCxn id="1064" idx="0"/>
          </p:cNvCxnSpPr>
          <p:nvPr/>
        </p:nvCxnSpPr>
        <p:spPr bwMode="auto">
          <a:xfrm flipH="1">
            <a:off x="10054213" y="2236175"/>
            <a:ext cx="5923" cy="23191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C534E827-E1A9-FB97-0054-52481C4DA1C3}"/>
              </a:ext>
            </a:extLst>
          </p:cNvPr>
          <p:cNvCxnSpPr>
            <a:cxnSpLocks/>
            <a:stCxn id="63" idx="2"/>
            <a:endCxn id="1046" idx="0"/>
          </p:cNvCxnSpPr>
          <p:nvPr/>
        </p:nvCxnSpPr>
        <p:spPr bwMode="auto">
          <a:xfrm>
            <a:off x="10803469" y="2233850"/>
            <a:ext cx="187944" cy="23486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0B75714F-3B10-9B1B-13EC-7DAEE35C6EF9}"/>
              </a:ext>
            </a:extLst>
          </p:cNvPr>
          <p:cNvSpPr/>
          <p:nvPr/>
        </p:nvSpPr>
        <p:spPr>
          <a:xfrm>
            <a:off x="7952899" y="4173190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5C14EEC5-C9EF-4AB9-AAD5-DAC443210AF8}"/>
              </a:ext>
            </a:extLst>
          </p:cNvPr>
          <p:cNvCxnSpPr>
            <a:cxnSpLocks/>
            <a:stCxn id="1072" idx="4"/>
            <a:endCxn id="1084" idx="0"/>
          </p:cNvCxnSpPr>
          <p:nvPr/>
        </p:nvCxnSpPr>
        <p:spPr bwMode="auto">
          <a:xfrm flipH="1">
            <a:off x="8291525" y="3672544"/>
            <a:ext cx="354407" cy="50064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A9058305-AAA0-D044-75C6-71E6B9B63D47}"/>
              </a:ext>
            </a:extLst>
          </p:cNvPr>
          <p:cNvSpPr/>
          <p:nvPr/>
        </p:nvSpPr>
        <p:spPr>
          <a:xfrm>
            <a:off x="7547663" y="3747092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606C8001-D3C7-330B-7105-9531EFC51AA8}"/>
              </a:ext>
            </a:extLst>
          </p:cNvPr>
          <p:cNvCxnSpPr>
            <a:cxnSpLocks/>
            <a:stCxn id="1072" idx="3"/>
            <a:endCxn id="1086" idx="0"/>
          </p:cNvCxnSpPr>
          <p:nvPr/>
        </p:nvCxnSpPr>
        <p:spPr bwMode="auto">
          <a:xfrm flipH="1">
            <a:off x="7886288" y="3605198"/>
            <a:ext cx="597057" cy="14189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FA75899F-A8BD-D1A0-F449-CCA53F79DA50}"/>
              </a:ext>
            </a:extLst>
          </p:cNvPr>
          <p:cNvCxnSpPr>
            <a:cxnSpLocks/>
            <a:stCxn id="1072" idx="5"/>
            <a:endCxn id="1089" idx="0"/>
          </p:cNvCxnSpPr>
          <p:nvPr/>
        </p:nvCxnSpPr>
        <p:spPr bwMode="auto">
          <a:xfrm>
            <a:off x="8808518" y="3605198"/>
            <a:ext cx="213083" cy="24761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E99BAE7-E30D-A464-CFC4-326D60CBE2DC}"/>
              </a:ext>
            </a:extLst>
          </p:cNvPr>
          <p:cNvSpPr/>
          <p:nvPr/>
        </p:nvSpPr>
        <p:spPr>
          <a:xfrm>
            <a:off x="8682975" y="3852817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1573578F-F2E9-3DA2-757E-67C0439F3CAC}"/>
              </a:ext>
            </a:extLst>
          </p:cNvPr>
          <p:cNvSpPr/>
          <p:nvPr/>
        </p:nvSpPr>
        <p:spPr>
          <a:xfrm>
            <a:off x="11396187" y="3717636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1B19A637-D810-DEEF-5384-45F5AB639187}"/>
              </a:ext>
            </a:extLst>
          </p:cNvPr>
          <p:cNvCxnSpPr>
            <a:cxnSpLocks/>
            <a:stCxn id="1044" idx="5"/>
            <a:endCxn id="1090" idx="0"/>
          </p:cNvCxnSpPr>
          <p:nvPr/>
        </p:nvCxnSpPr>
        <p:spPr bwMode="auto">
          <a:xfrm>
            <a:off x="11155343" y="3606442"/>
            <a:ext cx="579470" cy="11119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3DE64171-496A-E9D4-E695-BD8B803EF9F6}"/>
              </a:ext>
            </a:extLst>
          </p:cNvPr>
          <p:cNvSpPr/>
          <p:nvPr/>
        </p:nvSpPr>
        <p:spPr>
          <a:xfrm>
            <a:off x="10560897" y="4314617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0FBBFE3D-A943-8C55-0E52-0C9EACB9868B}"/>
              </a:ext>
            </a:extLst>
          </p:cNvPr>
          <p:cNvCxnSpPr>
            <a:cxnSpLocks/>
            <a:stCxn id="1044" idx="4"/>
            <a:endCxn id="1092" idx="0"/>
          </p:cNvCxnSpPr>
          <p:nvPr/>
        </p:nvCxnSpPr>
        <p:spPr bwMode="auto">
          <a:xfrm flipH="1">
            <a:off x="10899522" y="3673788"/>
            <a:ext cx="93235" cy="64082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4" name="Straight Connector 1093">
            <a:extLst>
              <a:ext uri="{FF2B5EF4-FFF2-40B4-BE49-F238E27FC236}">
                <a16:creationId xmlns:a16="http://schemas.microsoft.com/office/drawing/2014/main" id="{2495AD28-2F8B-682E-EDFD-7B41B1E8AF63}"/>
              </a:ext>
            </a:extLst>
          </p:cNvPr>
          <p:cNvCxnSpPr>
            <a:cxnSpLocks/>
            <a:stCxn id="1044" idx="4"/>
            <a:endCxn id="1095" idx="0"/>
          </p:cNvCxnSpPr>
          <p:nvPr/>
        </p:nvCxnSpPr>
        <p:spPr bwMode="auto">
          <a:xfrm>
            <a:off x="10992757" y="3673788"/>
            <a:ext cx="367438" cy="46256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5692C4BE-BB92-3955-70B1-FFDDBC48F80B}"/>
              </a:ext>
            </a:extLst>
          </p:cNvPr>
          <p:cNvSpPr/>
          <p:nvPr/>
        </p:nvSpPr>
        <p:spPr>
          <a:xfrm>
            <a:off x="11021569" y="4136357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BC3183BF-1410-AC26-F560-DFD95648059E}"/>
              </a:ext>
            </a:extLst>
          </p:cNvPr>
          <p:cNvSpPr/>
          <p:nvPr/>
        </p:nvSpPr>
        <p:spPr>
          <a:xfrm>
            <a:off x="9646778" y="4221918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cxnSp>
        <p:nvCxnSpPr>
          <p:cNvPr id="1104" name="Straight Connector 1103">
            <a:extLst>
              <a:ext uri="{FF2B5EF4-FFF2-40B4-BE49-F238E27FC236}">
                <a16:creationId xmlns:a16="http://schemas.microsoft.com/office/drawing/2014/main" id="{01B687CE-D298-7FA3-97AC-FDA21B1810B5}"/>
              </a:ext>
            </a:extLst>
          </p:cNvPr>
          <p:cNvCxnSpPr>
            <a:cxnSpLocks/>
            <a:stCxn id="1062" idx="4"/>
            <a:endCxn id="1103" idx="0"/>
          </p:cNvCxnSpPr>
          <p:nvPr/>
        </p:nvCxnSpPr>
        <p:spPr bwMode="auto">
          <a:xfrm flipH="1">
            <a:off x="9985404" y="3673166"/>
            <a:ext cx="70153" cy="54875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9F3950A3-EE00-CF49-331A-676A3B5E8906}"/>
              </a:ext>
            </a:extLst>
          </p:cNvPr>
          <p:cNvSpPr/>
          <p:nvPr/>
        </p:nvSpPr>
        <p:spPr>
          <a:xfrm>
            <a:off x="9014399" y="4303831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06" name="Straight Connector 1105">
            <a:extLst>
              <a:ext uri="{FF2B5EF4-FFF2-40B4-BE49-F238E27FC236}">
                <a16:creationId xmlns:a16="http://schemas.microsoft.com/office/drawing/2014/main" id="{F1CB749A-F8C6-CD4E-5FA0-09A24AA90935}"/>
              </a:ext>
            </a:extLst>
          </p:cNvPr>
          <p:cNvCxnSpPr>
            <a:cxnSpLocks/>
            <a:stCxn id="1062" idx="3"/>
            <a:endCxn id="1105" idx="0"/>
          </p:cNvCxnSpPr>
          <p:nvPr/>
        </p:nvCxnSpPr>
        <p:spPr bwMode="auto">
          <a:xfrm flipH="1">
            <a:off x="9353024" y="3605820"/>
            <a:ext cx="539946" cy="69801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Straight Connector 1106">
            <a:extLst>
              <a:ext uri="{FF2B5EF4-FFF2-40B4-BE49-F238E27FC236}">
                <a16:creationId xmlns:a16="http://schemas.microsoft.com/office/drawing/2014/main" id="{C2339E3E-CF92-3544-65A5-F4F02232B267}"/>
              </a:ext>
            </a:extLst>
          </p:cNvPr>
          <p:cNvCxnSpPr>
            <a:cxnSpLocks/>
            <a:stCxn id="1062" idx="5"/>
            <a:endCxn id="1108" idx="0"/>
          </p:cNvCxnSpPr>
          <p:nvPr/>
        </p:nvCxnSpPr>
        <p:spPr bwMode="auto">
          <a:xfrm>
            <a:off x="10218143" y="3605820"/>
            <a:ext cx="258631" cy="300737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9D9ACA48-B62F-251B-AC97-A097FB9A51AD}"/>
              </a:ext>
            </a:extLst>
          </p:cNvPr>
          <p:cNvSpPr/>
          <p:nvPr/>
        </p:nvSpPr>
        <p:spPr>
          <a:xfrm>
            <a:off x="10138148" y="3906557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grpSp>
        <p:nvGrpSpPr>
          <p:cNvPr id="1135" name="Group 1134">
            <a:extLst>
              <a:ext uri="{FF2B5EF4-FFF2-40B4-BE49-F238E27FC236}">
                <a16:creationId xmlns:a16="http://schemas.microsoft.com/office/drawing/2014/main" id="{51268DDF-D4B2-3876-5902-5C6E4C0E262E}"/>
              </a:ext>
            </a:extLst>
          </p:cNvPr>
          <p:cNvGrpSpPr/>
          <p:nvPr/>
        </p:nvGrpSpPr>
        <p:grpSpPr>
          <a:xfrm>
            <a:off x="11665569" y="4757207"/>
            <a:ext cx="470874" cy="1205078"/>
            <a:chOff x="9966968" y="1702148"/>
            <a:chExt cx="470874" cy="1205078"/>
          </a:xfrm>
        </p:grpSpPr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519C5354-8C00-6723-B72F-4CA2F60D5F6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143" name="Oval 1142">
                <a:extLst>
                  <a:ext uri="{FF2B5EF4-FFF2-40B4-BE49-F238E27FC236}">
                    <a16:creationId xmlns:a16="http://schemas.microsoft.com/office/drawing/2014/main" id="{77DC48D6-4E90-4496-1CBC-61F51876FF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44" name="Picture 1143">
                <a:extLst>
                  <a:ext uri="{FF2B5EF4-FFF2-40B4-BE49-F238E27FC236}">
                    <a16:creationId xmlns:a16="http://schemas.microsoft.com/office/drawing/2014/main" id="{745B4002-9CD1-AA9F-8F94-34C61F3667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137" name="Group 1136">
              <a:extLst>
                <a:ext uri="{FF2B5EF4-FFF2-40B4-BE49-F238E27FC236}">
                  <a16:creationId xmlns:a16="http://schemas.microsoft.com/office/drawing/2014/main" id="{E27CDA5B-2774-CF80-2A89-5C31DD4851C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139" name="Group 1138">
                <a:extLst>
                  <a:ext uri="{FF2B5EF4-FFF2-40B4-BE49-F238E27FC236}">
                    <a16:creationId xmlns:a16="http://schemas.microsoft.com/office/drawing/2014/main" id="{D54986BB-A7DC-6E60-DF18-E5AB303B1FD4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141" name="Oval 1140">
                  <a:extLst>
                    <a:ext uri="{FF2B5EF4-FFF2-40B4-BE49-F238E27FC236}">
                      <a16:creationId xmlns:a16="http://schemas.microsoft.com/office/drawing/2014/main" id="{7921975C-5325-C7EB-8554-3F1199221FA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142" name="Graphic 1141">
                  <a:extLst>
                    <a:ext uri="{FF2B5EF4-FFF2-40B4-BE49-F238E27FC236}">
                      <a16:creationId xmlns:a16="http://schemas.microsoft.com/office/drawing/2014/main" id="{E05E156E-B107-F8BF-4078-6F4D5F2C79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140" name="TextBox 1139">
                <a:extLst>
                  <a:ext uri="{FF2B5EF4-FFF2-40B4-BE49-F238E27FC236}">
                    <a16:creationId xmlns:a16="http://schemas.microsoft.com/office/drawing/2014/main" id="{E094537B-E9FE-BE66-6F20-0A377C922AF5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3B245361-C2EF-9490-C3E2-8A48A1326400}"/>
                </a:ext>
              </a:extLst>
            </p:cNvPr>
            <p:cNvCxnSpPr>
              <a:cxnSpLocks/>
              <a:stCxn id="1143" idx="4"/>
              <a:endCxn id="1141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19" name="Group 1218">
            <a:extLst>
              <a:ext uri="{FF2B5EF4-FFF2-40B4-BE49-F238E27FC236}">
                <a16:creationId xmlns:a16="http://schemas.microsoft.com/office/drawing/2014/main" id="{EBD25D88-C6BA-B5E7-519E-40DAFFB83C20}"/>
              </a:ext>
            </a:extLst>
          </p:cNvPr>
          <p:cNvGrpSpPr/>
          <p:nvPr/>
        </p:nvGrpSpPr>
        <p:grpSpPr>
          <a:xfrm>
            <a:off x="11156234" y="4791016"/>
            <a:ext cx="470874" cy="1205078"/>
            <a:chOff x="9966968" y="1702148"/>
            <a:chExt cx="470874" cy="1205078"/>
          </a:xfrm>
        </p:grpSpPr>
        <p:grpSp>
          <p:nvGrpSpPr>
            <p:cNvPr id="1220" name="Group 1219">
              <a:extLst>
                <a:ext uri="{FF2B5EF4-FFF2-40B4-BE49-F238E27FC236}">
                  <a16:creationId xmlns:a16="http://schemas.microsoft.com/office/drawing/2014/main" id="{FB2CFDEC-6C67-357F-58D5-7A12A976561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227" name="Oval 1226">
                <a:extLst>
                  <a:ext uri="{FF2B5EF4-FFF2-40B4-BE49-F238E27FC236}">
                    <a16:creationId xmlns:a16="http://schemas.microsoft.com/office/drawing/2014/main" id="{7AB86229-F349-6C9F-BFA0-3ADE301EF6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228" name="Picture 1227">
                <a:extLst>
                  <a:ext uri="{FF2B5EF4-FFF2-40B4-BE49-F238E27FC236}">
                    <a16:creationId xmlns:a16="http://schemas.microsoft.com/office/drawing/2014/main" id="{9D0668B9-5778-791C-0E80-6E043B1A1F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221" name="Group 1220">
              <a:extLst>
                <a:ext uri="{FF2B5EF4-FFF2-40B4-BE49-F238E27FC236}">
                  <a16:creationId xmlns:a16="http://schemas.microsoft.com/office/drawing/2014/main" id="{E64FDBA7-4A69-748C-6FCD-21CF8AA50B8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223" name="Group 1222">
                <a:extLst>
                  <a:ext uri="{FF2B5EF4-FFF2-40B4-BE49-F238E27FC236}">
                    <a16:creationId xmlns:a16="http://schemas.microsoft.com/office/drawing/2014/main" id="{51C03D23-466F-E074-3603-2AFE2327E5B3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225" name="Oval 1224">
                  <a:extLst>
                    <a:ext uri="{FF2B5EF4-FFF2-40B4-BE49-F238E27FC236}">
                      <a16:creationId xmlns:a16="http://schemas.microsoft.com/office/drawing/2014/main" id="{AF0D0187-1D9F-B473-5601-AEF8F7A0EE3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226" name="Graphic 1225">
                  <a:extLst>
                    <a:ext uri="{FF2B5EF4-FFF2-40B4-BE49-F238E27FC236}">
                      <a16:creationId xmlns:a16="http://schemas.microsoft.com/office/drawing/2014/main" id="{303354B4-9315-6E71-BBB9-2B2FB4AD37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224" name="TextBox 1223">
                <a:extLst>
                  <a:ext uri="{FF2B5EF4-FFF2-40B4-BE49-F238E27FC236}">
                    <a16:creationId xmlns:a16="http://schemas.microsoft.com/office/drawing/2014/main" id="{ABA6FB09-11D5-933E-08B8-E9AC89A0BD9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222" name="Straight Connector 1221">
              <a:extLst>
                <a:ext uri="{FF2B5EF4-FFF2-40B4-BE49-F238E27FC236}">
                  <a16:creationId xmlns:a16="http://schemas.microsoft.com/office/drawing/2014/main" id="{54135B69-BBD8-82AB-AB36-FA77D4E5DC58}"/>
                </a:ext>
              </a:extLst>
            </p:cNvPr>
            <p:cNvCxnSpPr>
              <a:cxnSpLocks/>
              <a:stCxn id="1227" idx="4"/>
              <a:endCxn id="1225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29" name="Group 1228">
            <a:extLst>
              <a:ext uri="{FF2B5EF4-FFF2-40B4-BE49-F238E27FC236}">
                <a16:creationId xmlns:a16="http://schemas.microsoft.com/office/drawing/2014/main" id="{6E808BDC-1846-0DDB-B659-D95D5CFD13C3}"/>
              </a:ext>
            </a:extLst>
          </p:cNvPr>
          <p:cNvGrpSpPr/>
          <p:nvPr/>
        </p:nvGrpSpPr>
        <p:grpSpPr>
          <a:xfrm>
            <a:off x="10624752" y="4898615"/>
            <a:ext cx="470874" cy="1205078"/>
            <a:chOff x="9966968" y="1702148"/>
            <a:chExt cx="470874" cy="1205078"/>
          </a:xfrm>
        </p:grpSpPr>
        <p:grpSp>
          <p:nvGrpSpPr>
            <p:cNvPr id="1230" name="Group 1229">
              <a:extLst>
                <a:ext uri="{FF2B5EF4-FFF2-40B4-BE49-F238E27FC236}">
                  <a16:creationId xmlns:a16="http://schemas.microsoft.com/office/drawing/2014/main" id="{A4B11793-C340-30DD-A684-1925426F31B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237" name="Oval 1236">
                <a:extLst>
                  <a:ext uri="{FF2B5EF4-FFF2-40B4-BE49-F238E27FC236}">
                    <a16:creationId xmlns:a16="http://schemas.microsoft.com/office/drawing/2014/main" id="{7E0869FE-6923-892D-D848-863DB632C4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238" name="Picture 1237">
                <a:extLst>
                  <a:ext uri="{FF2B5EF4-FFF2-40B4-BE49-F238E27FC236}">
                    <a16:creationId xmlns:a16="http://schemas.microsoft.com/office/drawing/2014/main" id="{BE14453E-0F05-BD75-5070-79A007E570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231" name="Group 1230">
              <a:extLst>
                <a:ext uri="{FF2B5EF4-FFF2-40B4-BE49-F238E27FC236}">
                  <a16:creationId xmlns:a16="http://schemas.microsoft.com/office/drawing/2014/main" id="{A32BEE42-FB0C-C008-2455-CF79E58ADF2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233" name="Group 1232">
                <a:extLst>
                  <a:ext uri="{FF2B5EF4-FFF2-40B4-BE49-F238E27FC236}">
                    <a16:creationId xmlns:a16="http://schemas.microsoft.com/office/drawing/2014/main" id="{B49D6DEA-DD26-881A-30F1-40DC6FE1782E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235" name="Oval 1234">
                  <a:extLst>
                    <a:ext uri="{FF2B5EF4-FFF2-40B4-BE49-F238E27FC236}">
                      <a16:creationId xmlns:a16="http://schemas.microsoft.com/office/drawing/2014/main" id="{66BC9A07-1FF4-87C9-D676-269DFFB4BDA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236" name="Graphic 1235">
                  <a:extLst>
                    <a:ext uri="{FF2B5EF4-FFF2-40B4-BE49-F238E27FC236}">
                      <a16:creationId xmlns:a16="http://schemas.microsoft.com/office/drawing/2014/main" id="{A9231CE7-D1A7-BAF4-C618-F07DCA3CCF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234" name="TextBox 1233">
                <a:extLst>
                  <a:ext uri="{FF2B5EF4-FFF2-40B4-BE49-F238E27FC236}">
                    <a16:creationId xmlns:a16="http://schemas.microsoft.com/office/drawing/2014/main" id="{7C997B9A-9B5F-35BE-3BF3-B0BFEB68C7D9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232" name="Straight Connector 1231">
              <a:extLst>
                <a:ext uri="{FF2B5EF4-FFF2-40B4-BE49-F238E27FC236}">
                  <a16:creationId xmlns:a16="http://schemas.microsoft.com/office/drawing/2014/main" id="{DFF28C2D-6564-E80B-3445-414BA5B21992}"/>
                </a:ext>
              </a:extLst>
            </p:cNvPr>
            <p:cNvCxnSpPr>
              <a:cxnSpLocks/>
              <a:stCxn id="1237" idx="4"/>
              <a:endCxn id="1235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39" name="Group 1238">
            <a:extLst>
              <a:ext uri="{FF2B5EF4-FFF2-40B4-BE49-F238E27FC236}">
                <a16:creationId xmlns:a16="http://schemas.microsoft.com/office/drawing/2014/main" id="{0351E3CF-B0EC-F9E2-3E37-CE9E8484E864}"/>
              </a:ext>
            </a:extLst>
          </p:cNvPr>
          <p:cNvGrpSpPr/>
          <p:nvPr/>
        </p:nvGrpSpPr>
        <p:grpSpPr>
          <a:xfrm>
            <a:off x="10104943" y="4938657"/>
            <a:ext cx="470874" cy="1205078"/>
            <a:chOff x="9966968" y="1702148"/>
            <a:chExt cx="470874" cy="1205078"/>
          </a:xfrm>
        </p:grpSpPr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B90F1A4B-71F4-8024-136C-36D5BAB10A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247" name="Oval 1246">
                <a:extLst>
                  <a:ext uri="{FF2B5EF4-FFF2-40B4-BE49-F238E27FC236}">
                    <a16:creationId xmlns:a16="http://schemas.microsoft.com/office/drawing/2014/main" id="{8F87808F-EA34-757B-3B13-E82B5D3087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248" name="Picture 1247">
                <a:extLst>
                  <a:ext uri="{FF2B5EF4-FFF2-40B4-BE49-F238E27FC236}">
                    <a16:creationId xmlns:a16="http://schemas.microsoft.com/office/drawing/2014/main" id="{2D8BE217-C332-7398-8BDC-36BD2B1765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241" name="Group 1240">
              <a:extLst>
                <a:ext uri="{FF2B5EF4-FFF2-40B4-BE49-F238E27FC236}">
                  <a16:creationId xmlns:a16="http://schemas.microsoft.com/office/drawing/2014/main" id="{8E3535F7-5362-B7AC-568A-74920573550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243" name="Group 1242">
                <a:extLst>
                  <a:ext uri="{FF2B5EF4-FFF2-40B4-BE49-F238E27FC236}">
                    <a16:creationId xmlns:a16="http://schemas.microsoft.com/office/drawing/2014/main" id="{B3CAE52A-7446-1C93-7452-A4B2B16E7480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245" name="Oval 1244">
                  <a:extLst>
                    <a:ext uri="{FF2B5EF4-FFF2-40B4-BE49-F238E27FC236}">
                      <a16:creationId xmlns:a16="http://schemas.microsoft.com/office/drawing/2014/main" id="{63D9A64A-62A8-6114-DC76-7CF620999EF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246" name="Graphic 1245">
                  <a:extLst>
                    <a:ext uri="{FF2B5EF4-FFF2-40B4-BE49-F238E27FC236}">
                      <a16:creationId xmlns:a16="http://schemas.microsoft.com/office/drawing/2014/main" id="{ECDCC881-72DB-EE93-8016-41405AADE9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244" name="TextBox 1243">
                <a:extLst>
                  <a:ext uri="{FF2B5EF4-FFF2-40B4-BE49-F238E27FC236}">
                    <a16:creationId xmlns:a16="http://schemas.microsoft.com/office/drawing/2014/main" id="{2691FC7E-A9B7-490A-678C-A24B5290CF1D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C98E15A2-C6EC-EFE1-9C97-5009B9AF3F4F}"/>
                </a:ext>
              </a:extLst>
            </p:cNvPr>
            <p:cNvCxnSpPr>
              <a:cxnSpLocks/>
              <a:stCxn id="1247" idx="4"/>
              <a:endCxn id="1245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60" name="Group 1259">
            <a:extLst>
              <a:ext uri="{FF2B5EF4-FFF2-40B4-BE49-F238E27FC236}">
                <a16:creationId xmlns:a16="http://schemas.microsoft.com/office/drawing/2014/main" id="{833C636B-24D7-EC58-9978-45A6E1EE22B1}"/>
              </a:ext>
            </a:extLst>
          </p:cNvPr>
          <p:cNvGrpSpPr/>
          <p:nvPr/>
        </p:nvGrpSpPr>
        <p:grpSpPr>
          <a:xfrm>
            <a:off x="9589261" y="4923450"/>
            <a:ext cx="470874" cy="1205078"/>
            <a:chOff x="9966968" y="1702148"/>
            <a:chExt cx="470874" cy="1205078"/>
          </a:xfrm>
        </p:grpSpPr>
        <p:grpSp>
          <p:nvGrpSpPr>
            <p:cNvPr id="1261" name="Group 1260">
              <a:extLst>
                <a:ext uri="{FF2B5EF4-FFF2-40B4-BE49-F238E27FC236}">
                  <a16:creationId xmlns:a16="http://schemas.microsoft.com/office/drawing/2014/main" id="{B63B31EC-8A8D-847C-06FD-07AAEF19CD9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268" name="Oval 1267">
                <a:extLst>
                  <a:ext uri="{FF2B5EF4-FFF2-40B4-BE49-F238E27FC236}">
                    <a16:creationId xmlns:a16="http://schemas.microsoft.com/office/drawing/2014/main" id="{FB53F18F-2D2B-3636-7948-5FADAA7B0B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269" name="Picture 1268">
                <a:extLst>
                  <a:ext uri="{FF2B5EF4-FFF2-40B4-BE49-F238E27FC236}">
                    <a16:creationId xmlns:a16="http://schemas.microsoft.com/office/drawing/2014/main" id="{5321AE37-7EC0-4512-00AF-46D0B5821E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262" name="Group 1261">
              <a:extLst>
                <a:ext uri="{FF2B5EF4-FFF2-40B4-BE49-F238E27FC236}">
                  <a16:creationId xmlns:a16="http://schemas.microsoft.com/office/drawing/2014/main" id="{7D19A0D6-4706-D905-2365-1C6CA7E0CA3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264" name="Group 1263">
                <a:extLst>
                  <a:ext uri="{FF2B5EF4-FFF2-40B4-BE49-F238E27FC236}">
                    <a16:creationId xmlns:a16="http://schemas.microsoft.com/office/drawing/2014/main" id="{1B628690-042A-8DC6-0875-CF4F4DF63B6B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266" name="Oval 1265">
                  <a:extLst>
                    <a:ext uri="{FF2B5EF4-FFF2-40B4-BE49-F238E27FC236}">
                      <a16:creationId xmlns:a16="http://schemas.microsoft.com/office/drawing/2014/main" id="{D223CEE9-0C78-78EA-F5FB-283A85E8F91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267" name="Graphic 1266">
                  <a:extLst>
                    <a:ext uri="{FF2B5EF4-FFF2-40B4-BE49-F238E27FC236}">
                      <a16:creationId xmlns:a16="http://schemas.microsoft.com/office/drawing/2014/main" id="{3A268461-15E3-7D71-25C7-84E719FDD3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265" name="TextBox 1264">
                <a:extLst>
                  <a:ext uri="{FF2B5EF4-FFF2-40B4-BE49-F238E27FC236}">
                    <a16:creationId xmlns:a16="http://schemas.microsoft.com/office/drawing/2014/main" id="{35FA25EC-4A2D-451D-B46C-5CE51C86BFE5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263" name="Straight Connector 1262">
              <a:extLst>
                <a:ext uri="{FF2B5EF4-FFF2-40B4-BE49-F238E27FC236}">
                  <a16:creationId xmlns:a16="http://schemas.microsoft.com/office/drawing/2014/main" id="{27EF5039-3D2C-8396-1AE7-44280956C18C}"/>
                </a:ext>
              </a:extLst>
            </p:cNvPr>
            <p:cNvCxnSpPr>
              <a:cxnSpLocks/>
              <a:stCxn id="1268" idx="4"/>
              <a:endCxn id="1266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70" name="Group 1269">
            <a:extLst>
              <a:ext uri="{FF2B5EF4-FFF2-40B4-BE49-F238E27FC236}">
                <a16:creationId xmlns:a16="http://schemas.microsoft.com/office/drawing/2014/main" id="{60AAEB16-9AA3-1097-F90D-168897F21818}"/>
              </a:ext>
            </a:extLst>
          </p:cNvPr>
          <p:cNvGrpSpPr/>
          <p:nvPr/>
        </p:nvGrpSpPr>
        <p:grpSpPr>
          <a:xfrm>
            <a:off x="9079920" y="4957259"/>
            <a:ext cx="470874" cy="1205078"/>
            <a:chOff x="9966968" y="1702148"/>
            <a:chExt cx="470874" cy="1205078"/>
          </a:xfrm>
        </p:grpSpPr>
        <p:grpSp>
          <p:nvGrpSpPr>
            <p:cNvPr id="1271" name="Group 1270">
              <a:extLst>
                <a:ext uri="{FF2B5EF4-FFF2-40B4-BE49-F238E27FC236}">
                  <a16:creationId xmlns:a16="http://schemas.microsoft.com/office/drawing/2014/main" id="{24CA7339-72B3-73BF-5B26-224FF2EA5C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278" name="Oval 1277">
                <a:extLst>
                  <a:ext uri="{FF2B5EF4-FFF2-40B4-BE49-F238E27FC236}">
                    <a16:creationId xmlns:a16="http://schemas.microsoft.com/office/drawing/2014/main" id="{2BCFC774-3DBD-822C-0004-4FA0B78D54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279" name="Picture 1278">
                <a:extLst>
                  <a:ext uri="{FF2B5EF4-FFF2-40B4-BE49-F238E27FC236}">
                    <a16:creationId xmlns:a16="http://schemas.microsoft.com/office/drawing/2014/main" id="{0F4EB8AF-0D9F-F5A7-77B4-41510D0703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272" name="Group 1271">
              <a:extLst>
                <a:ext uri="{FF2B5EF4-FFF2-40B4-BE49-F238E27FC236}">
                  <a16:creationId xmlns:a16="http://schemas.microsoft.com/office/drawing/2014/main" id="{B2BE3A86-C6C3-F81D-2F63-6206719E3C6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274" name="Group 1273">
                <a:extLst>
                  <a:ext uri="{FF2B5EF4-FFF2-40B4-BE49-F238E27FC236}">
                    <a16:creationId xmlns:a16="http://schemas.microsoft.com/office/drawing/2014/main" id="{AC61DA6D-6454-F31F-9014-649DBCCAA8DE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276" name="Oval 1275">
                  <a:extLst>
                    <a:ext uri="{FF2B5EF4-FFF2-40B4-BE49-F238E27FC236}">
                      <a16:creationId xmlns:a16="http://schemas.microsoft.com/office/drawing/2014/main" id="{3F09E7B4-D6D0-19E2-2B22-8B10E05A2C9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277" name="Graphic 1276">
                  <a:extLst>
                    <a:ext uri="{FF2B5EF4-FFF2-40B4-BE49-F238E27FC236}">
                      <a16:creationId xmlns:a16="http://schemas.microsoft.com/office/drawing/2014/main" id="{50F5E781-ECFC-C7A9-8C83-020AE8FCCA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275" name="TextBox 1274">
                <a:extLst>
                  <a:ext uri="{FF2B5EF4-FFF2-40B4-BE49-F238E27FC236}">
                    <a16:creationId xmlns:a16="http://schemas.microsoft.com/office/drawing/2014/main" id="{EECB44E6-EEF0-4C8A-8414-F3C16657AEC2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273" name="Straight Connector 1272">
              <a:extLst>
                <a:ext uri="{FF2B5EF4-FFF2-40B4-BE49-F238E27FC236}">
                  <a16:creationId xmlns:a16="http://schemas.microsoft.com/office/drawing/2014/main" id="{E0939F54-FBFD-3395-2DFE-22E85F8F9A2C}"/>
                </a:ext>
              </a:extLst>
            </p:cNvPr>
            <p:cNvCxnSpPr>
              <a:cxnSpLocks/>
              <a:stCxn id="1278" idx="4"/>
              <a:endCxn id="1276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80" name="Group 1279">
            <a:extLst>
              <a:ext uri="{FF2B5EF4-FFF2-40B4-BE49-F238E27FC236}">
                <a16:creationId xmlns:a16="http://schemas.microsoft.com/office/drawing/2014/main" id="{FE7A1542-9C65-BA30-DA35-97C540969B37}"/>
              </a:ext>
            </a:extLst>
          </p:cNvPr>
          <p:cNvGrpSpPr/>
          <p:nvPr/>
        </p:nvGrpSpPr>
        <p:grpSpPr>
          <a:xfrm>
            <a:off x="7938847" y="4892582"/>
            <a:ext cx="470874" cy="1205078"/>
            <a:chOff x="9966968" y="1702148"/>
            <a:chExt cx="470874" cy="1205078"/>
          </a:xfrm>
        </p:grpSpPr>
        <p:grpSp>
          <p:nvGrpSpPr>
            <p:cNvPr id="1281" name="Group 1280">
              <a:extLst>
                <a:ext uri="{FF2B5EF4-FFF2-40B4-BE49-F238E27FC236}">
                  <a16:creationId xmlns:a16="http://schemas.microsoft.com/office/drawing/2014/main" id="{EB7BBE0E-0515-3559-67A1-00CA4A487A1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288" name="Oval 1287">
                <a:extLst>
                  <a:ext uri="{FF2B5EF4-FFF2-40B4-BE49-F238E27FC236}">
                    <a16:creationId xmlns:a16="http://schemas.microsoft.com/office/drawing/2014/main" id="{1C190655-07C3-678E-337A-1C0A6EC391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289" name="Picture 1288">
                <a:extLst>
                  <a:ext uri="{FF2B5EF4-FFF2-40B4-BE49-F238E27FC236}">
                    <a16:creationId xmlns:a16="http://schemas.microsoft.com/office/drawing/2014/main" id="{43FD6383-CD6A-C900-C217-E56998DBF5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282" name="Group 1281">
              <a:extLst>
                <a:ext uri="{FF2B5EF4-FFF2-40B4-BE49-F238E27FC236}">
                  <a16:creationId xmlns:a16="http://schemas.microsoft.com/office/drawing/2014/main" id="{F108DAD6-F1FD-1053-C3EE-70CFAD05F3C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284" name="Group 1283">
                <a:extLst>
                  <a:ext uri="{FF2B5EF4-FFF2-40B4-BE49-F238E27FC236}">
                    <a16:creationId xmlns:a16="http://schemas.microsoft.com/office/drawing/2014/main" id="{5B553266-CCFF-82D6-D871-9FECB755B415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286" name="Oval 1285">
                  <a:extLst>
                    <a:ext uri="{FF2B5EF4-FFF2-40B4-BE49-F238E27FC236}">
                      <a16:creationId xmlns:a16="http://schemas.microsoft.com/office/drawing/2014/main" id="{4AA8F604-1EDA-7238-A75C-F89B28BBAB7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287" name="Graphic 1286">
                  <a:extLst>
                    <a:ext uri="{FF2B5EF4-FFF2-40B4-BE49-F238E27FC236}">
                      <a16:creationId xmlns:a16="http://schemas.microsoft.com/office/drawing/2014/main" id="{6A2A888C-87D6-C4F3-0A85-25B3D55920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285" name="TextBox 1284">
                <a:extLst>
                  <a:ext uri="{FF2B5EF4-FFF2-40B4-BE49-F238E27FC236}">
                    <a16:creationId xmlns:a16="http://schemas.microsoft.com/office/drawing/2014/main" id="{81EE8F53-67DC-99AC-F691-119B7D736F2E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E85A0890-1C76-587D-0B47-E84FCFA62DD9}"/>
                </a:ext>
              </a:extLst>
            </p:cNvPr>
            <p:cNvCxnSpPr>
              <a:cxnSpLocks/>
              <a:stCxn id="1288" idx="4"/>
              <a:endCxn id="1286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90" name="Group 1289">
            <a:extLst>
              <a:ext uri="{FF2B5EF4-FFF2-40B4-BE49-F238E27FC236}">
                <a16:creationId xmlns:a16="http://schemas.microsoft.com/office/drawing/2014/main" id="{7BBE3FD2-C2A8-7B5A-97CB-2660A9648F4E}"/>
              </a:ext>
            </a:extLst>
          </p:cNvPr>
          <p:cNvGrpSpPr/>
          <p:nvPr/>
        </p:nvGrpSpPr>
        <p:grpSpPr>
          <a:xfrm>
            <a:off x="7326275" y="4839860"/>
            <a:ext cx="470874" cy="1205078"/>
            <a:chOff x="9966968" y="1702148"/>
            <a:chExt cx="470874" cy="1205078"/>
          </a:xfrm>
        </p:grpSpPr>
        <p:grpSp>
          <p:nvGrpSpPr>
            <p:cNvPr id="1291" name="Group 1290">
              <a:extLst>
                <a:ext uri="{FF2B5EF4-FFF2-40B4-BE49-F238E27FC236}">
                  <a16:creationId xmlns:a16="http://schemas.microsoft.com/office/drawing/2014/main" id="{68820282-2388-7AA7-3ACA-983CD35C84F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298" name="Oval 1297">
                <a:extLst>
                  <a:ext uri="{FF2B5EF4-FFF2-40B4-BE49-F238E27FC236}">
                    <a16:creationId xmlns:a16="http://schemas.microsoft.com/office/drawing/2014/main" id="{5E37E6BB-6E8B-88AD-6AD6-7FE975970F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299" name="Picture 1298">
                <a:extLst>
                  <a:ext uri="{FF2B5EF4-FFF2-40B4-BE49-F238E27FC236}">
                    <a16:creationId xmlns:a16="http://schemas.microsoft.com/office/drawing/2014/main" id="{F6D94D3F-041E-4488-B303-8FA863787F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292" name="Group 1291">
              <a:extLst>
                <a:ext uri="{FF2B5EF4-FFF2-40B4-BE49-F238E27FC236}">
                  <a16:creationId xmlns:a16="http://schemas.microsoft.com/office/drawing/2014/main" id="{7269DCB2-2F7A-064F-0832-5C272E051F2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294" name="Group 1293">
                <a:extLst>
                  <a:ext uri="{FF2B5EF4-FFF2-40B4-BE49-F238E27FC236}">
                    <a16:creationId xmlns:a16="http://schemas.microsoft.com/office/drawing/2014/main" id="{B1CD408C-0C61-E6CA-A397-CBC2191CA3C0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296" name="Oval 1295">
                  <a:extLst>
                    <a:ext uri="{FF2B5EF4-FFF2-40B4-BE49-F238E27FC236}">
                      <a16:creationId xmlns:a16="http://schemas.microsoft.com/office/drawing/2014/main" id="{D3FEA651-97B0-35CE-6B5D-21BFB900D30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297" name="Graphic 1296">
                  <a:extLst>
                    <a:ext uri="{FF2B5EF4-FFF2-40B4-BE49-F238E27FC236}">
                      <a16:creationId xmlns:a16="http://schemas.microsoft.com/office/drawing/2014/main" id="{E3AB9F64-47DB-7DF5-2EAE-8B2C5FAA60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295" name="TextBox 1294">
                <a:extLst>
                  <a:ext uri="{FF2B5EF4-FFF2-40B4-BE49-F238E27FC236}">
                    <a16:creationId xmlns:a16="http://schemas.microsoft.com/office/drawing/2014/main" id="{7F4BB813-F660-65C4-F1C7-0C790B8E279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293" name="Straight Connector 1292">
              <a:extLst>
                <a:ext uri="{FF2B5EF4-FFF2-40B4-BE49-F238E27FC236}">
                  <a16:creationId xmlns:a16="http://schemas.microsoft.com/office/drawing/2014/main" id="{D48805AB-D4A4-6488-7995-9BDE498D0730}"/>
                </a:ext>
              </a:extLst>
            </p:cNvPr>
            <p:cNvCxnSpPr>
              <a:cxnSpLocks/>
              <a:stCxn id="1298" idx="4"/>
              <a:endCxn id="1296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00" name="Group 1299">
            <a:extLst>
              <a:ext uri="{FF2B5EF4-FFF2-40B4-BE49-F238E27FC236}">
                <a16:creationId xmlns:a16="http://schemas.microsoft.com/office/drawing/2014/main" id="{33277C84-9465-4970-B005-55696F750635}"/>
              </a:ext>
            </a:extLst>
          </p:cNvPr>
          <p:cNvGrpSpPr/>
          <p:nvPr/>
        </p:nvGrpSpPr>
        <p:grpSpPr>
          <a:xfrm>
            <a:off x="8529727" y="4813975"/>
            <a:ext cx="470874" cy="1334021"/>
            <a:chOff x="9966968" y="1702148"/>
            <a:chExt cx="470874" cy="1205078"/>
          </a:xfrm>
        </p:grpSpPr>
        <p:grpSp>
          <p:nvGrpSpPr>
            <p:cNvPr id="1301" name="Group 1300">
              <a:extLst>
                <a:ext uri="{FF2B5EF4-FFF2-40B4-BE49-F238E27FC236}">
                  <a16:creationId xmlns:a16="http://schemas.microsoft.com/office/drawing/2014/main" id="{161DF956-C15C-DF82-ED55-C13799498FE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308" name="Oval 1307">
                <a:extLst>
                  <a:ext uri="{FF2B5EF4-FFF2-40B4-BE49-F238E27FC236}">
                    <a16:creationId xmlns:a16="http://schemas.microsoft.com/office/drawing/2014/main" id="{EADDEBBC-E12B-B1CF-51F7-34A95B0F59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309" name="Picture 1308">
                <a:extLst>
                  <a:ext uri="{FF2B5EF4-FFF2-40B4-BE49-F238E27FC236}">
                    <a16:creationId xmlns:a16="http://schemas.microsoft.com/office/drawing/2014/main" id="{478A4E0D-92CD-7AE4-A6D6-DA20AEBED3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302" name="Group 1301">
              <a:extLst>
                <a:ext uri="{FF2B5EF4-FFF2-40B4-BE49-F238E27FC236}">
                  <a16:creationId xmlns:a16="http://schemas.microsoft.com/office/drawing/2014/main" id="{C422DDE3-6A54-D940-EF7E-AED0D156C0E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304" name="Group 1303">
                <a:extLst>
                  <a:ext uri="{FF2B5EF4-FFF2-40B4-BE49-F238E27FC236}">
                    <a16:creationId xmlns:a16="http://schemas.microsoft.com/office/drawing/2014/main" id="{57BDEA06-5193-7547-6CBC-79066DD871F9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306" name="Oval 1305">
                  <a:extLst>
                    <a:ext uri="{FF2B5EF4-FFF2-40B4-BE49-F238E27FC236}">
                      <a16:creationId xmlns:a16="http://schemas.microsoft.com/office/drawing/2014/main" id="{C84B3B23-4DDA-12DA-0049-0AE1B8F680F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307" name="Graphic 1306">
                  <a:extLst>
                    <a:ext uri="{FF2B5EF4-FFF2-40B4-BE49-F238E27FC236}">
                      <a16:creationId xmlns:a16="http://schemas.microsoft.com/office/drawing/2014/main" id="{FD0DA33A-ED6E-2CEA-F4FB-E20AFE1A9A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305" name="TextBox 1304">
                <a:extLst>
                  <a:ext uri="{FF2B5EF4-FFF2-40B4-BE49-F238E27FC236}">
                    <a16:creationId xmlns:a16="http://schemas.microsoft.com/office/drawing/2014/main" id="{1C958D85-DD48-CF7D-9B30-C21E4CE03C6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303" name="Straight Connector 1302">
              <a:extLst>
                <a:ext uri="{FF2B5EF4-FFF2-40B4-BE49-F238E27FC236}">
                  <a16:creationId xmlns:a16="http://schemas.microsoft.com/office/drawing/2014/main" id="{ADDC990E-C821-B300-052D-FF977F777FB0}"/>
                </a:ext>
              </a:extLst>
            </p:cNvPr>
            <p:cNvCxnSpPr>
              <a:cxnSpLocks/>
              <a:stCxn id="1308" idx="4"/>
              <a:endCxn id="1306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10" name="Straight Connector 1309">
            <a:extLst>
              <a:ext uri="{FF2B5EF4-FFF2-40B4-BE49-F238E27FC236}">
                <a16:creationId xmlns:a16="http://schemas.microsoft.com/office/drawing/2014/main" id="{112F690D-F332-B982-198F-18B5207E68F8}"/>
              </a:ext>
            </a:extLst>
          </p:cNvPr>
          <p:cNvCxnSpPr>
            <a:cxnSpLocks/>
            <a:stCxn id="1086" idx="2"/>
            <a:endCxn id="1298" idx="0"/>
          </p:cNvCxnSpPr>
          <p:nvPr/>
        </p:nvCxnSpPr>
        <p:spPr bwMode="auto">
          <a:xfrm flipH="1">
            <a:off x="7554875" y="4085646"/>
            <a:ext cx="331413" cy="75421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3" name="Straight Connector 1312">
            <a:extLst>
              <a:ext uri="{FF2B5EF4-FFF2-40B4-BE49-F238E27FC236}">
                <a16:creationId xmlns:a16="http://schemas.microsoft.com/office/drawing/2014/main" id="{939BC5B2-C12A-B64B-1C74-795B96AF71CC}"/>
              </a:ext>
            </a:extLst>
          </p:cNvPr>
          <p:cNvCxnSpPr>
            <a:cxnSpLocks/>
            <a:stCxn id="1084" idx="2"/>
            <a:endCxn id="1288" idx="0"/>
          </p:cNvCxnSpPr>
          <p:nvPr/>
        </p:nvCxnSpPr>
        <p:spPr bwMode="auto">
          <a:xfrm flipH="1">
            <a:off x="8167447" y="4511744"/>
            <a:ext cx="124078" cy="38083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6" name="Straight Connector 1315">
            <a:extLst>
              <a:ext uri="{FF2B5EF4-FFF2-40B4-BE49-F238E27FC236}">
                <a16:creationId xmlns:a16="http://schemas.microsoft.com/office/drawing/2014/main" id="{523731F2-DF5F-8B78-FAAF-BC6A0F860114}"/>
              </a:ext>
            </a:extLst>
          </p:cNvPr>
          <p:cNvCxnSpPr>
            <a:cxnSpLocks/>
            <a:stCxn id="1089" idx="2"/>
            <a:endCxn id="1308" idx="0"/>
          </p:cNvCxnSpPr>
          <p:nvPr/>
        </p:nvCxnSpPr>
        <p:spPr bwMode="auto">
          <a:xfrm flipH="1">
            <a:off x="8758327" y="4191371"/>
            <a:ext cx="263274" cy="62260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9" name="Straight Connector 1318">
            <a:extLst>
              <a:ext uri="{FF2B5EF4-FFF2-40B4-BE49-F238E27FC236}">
                <a16:creationId xmlns:a16="http://schemas.microsoft.com/office/drawing/2014/main" id="{1BB49C21-E9E5-5C13-2C95-5D62940F37DF}"/>
              </a:ext>
            </a:extLst>
          </p:cNvPr>
          <p:cNvCxnSpPr>
            <a:cxnSpLocks/>
            <a:stCxn id="1105" idx="2"/>
            <a:endCxn id="1278" idx="0"/>
          </p:cNvCxnSpPr>
          <p:nvPr/>
        </p:nvCxnSpPr>
        <p:spPr bwMode="auto">
          <a:xfrm flipH="1">
            <a:off x="9308520" y="4642385"/>
            <a:ext cx="44504" cy="31487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2" name="Straight Connector 1321">
            <a:extLst>
              <a:ext uri="{FF2B5EF4-FFF2-40B4-BE49-F238E27FC236}">
                <a16:creationId xmlns:a16="http://schemas.microsoft.com/office/drawing/2014/main" id="{48DE4EAB-4BB0-AEFB-6287-8F2A4125CA9B}"/>
              </a:ext>
            </a:extLst>
          </p:cNvPr>
          <p:cNvCxnSpPr>
            <a:cxnSpLocks/>
            <a:stCxn id="1103" idx="2"/>
            <a:endCxn id="1268" idx="0"/>
          </p:cNvCxnSpPr>
          <p:nvPr/>
        </p:nvCxnSpPr>
        <p:spPr bwMode="auto">
          <a:xfrm flipH="1">
            <a:off x="9817861" y="4560472"/>
            <a:ext cx="167543" cy="36297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5" name="Straight Connector 1324">
            <a:extLst>
              <a:ext uri="{FF2B5EF4-FFF2-40B4-BE49-F238E27FC236}">
                <a16:creationId xmlns:a16="http://schemas.microsoft.com/office/drawing/2014/main" id="{B52DB0B8-9F3C-6B4B-5725-F49CAA596B5C}"/>
              </a:ext>
            </a:extLst>
          </p:cNvPr>
          <p:cNvCxnSpPr>
            <a:cxnSpLocks/>
            <a:stCxn id="1108" idx="2"/>
            <a:endCxn id="1247" idx="0"/>
          </p:cNvCxnSpPr>
          <p:nvPr/>
        </p:nvCxnSpPr>
        <p:spPr bwMode="auto">
          <a:xfrm flipH="1">
            <a:off x="10333543" y="4245111"/>
            <a:ext cx="143231" cy="69354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8" name="Straight Connector 1327">
            <a:extLst>
              <a:ext uri="{FF2B5EF4-FFF2-40B4-BE49-F238E27FC236}">
                <a16:creationId xmlns:a16="http://schemas.microsoft.com/office/drawing/2014/main" id="{6DE88ACE-6EB9-28B4-5667-3E3242550244}"/>
              </a:ext>
            </a:extLst>
          </p:cNvPr>
          <p:cNvCxnSpPr>
            <a:cxnSpLocks/>
            <a:stCxn id="1092" idx="2"/>
            <a:endCxn id="1237" idx="0"/>
          </p:cNvCxnSpPr>
          <p:nvPr/>
        </p:nvCxnSpPr>
        <p:spPr bwMode="auto">
          <a:xfrm flipH="1">
            <a:off x="10853352" y="4653171"/>
            <a:ext cx="46170" cy="24544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1" name="Straight Connector 1330">
            <a:extLst>
              <a:ext uri="{FF2B5EF4-FFF2-40B4-BE49-F238E27FC236}">
                <a16:creationId xmlns:a16="http://schemas.microsoft.com/office/drawing/2014/main" id="{1D3A8510-99B0-C183-B59D-1F5FD02A2FA1}"/>
              </a:ext>
            </a:extLst>
          </p:cNvPr>
          <p:cNvCxnSpPr>
            <a:cxnSpLocks/>
            <a:stCxn id="1095" idx="2"/>
            <a:endCxn id="1228" idx="0"/>
          </p:cNvCxnSpPr>
          <p:nvPr/>
        </p:nvCxnSpPr>
        <p:spPr bwMode="auto">
          <a:xfrm>
            <a:off x="11360195" y="4474911"/>
            <a:ext cx="32187" cy="39694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4" name="Straight Connector 1333">
            <a:extLst>
              <a:ext uri="{FF2B5EF4-FFF2-40B4-BE49-F238E27FC236}">
                <a16:creationId xmlns:a16="http://schemas.microsoft.com/office/drawing/2014/main" id="{0B8F1BF1-D8D7-513D-A8E4-19898DBBBB0D}"/>
              </a:ext>
            </a:extLst>
          </p:cNvPr>
          <p:cNvCxnSpPr>
            <a:cxnSpLocks/>
            <a:stCxn id="1090" idx="2"/>
            <a:endCxn id="1143" idx="0"/>
          </p:cNvCxnSpPr>
          <p:nvPr/>
        </p:nvCxnSpPr>
        <p:spPr bwMode="auto">
          <a:xfrm>
            <a:off x="11734813" y="4056190"/>
            <a:ext cx="159356" cy="701017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8778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11" grpId="0" animBg="1"/>
      <p:bldP spid="1126" grpId="0" animBg="1"/>
      <p:bldP spid="35" grpId="0" animBg="1"/>
      <p:bldP spid="38" grpId="0"/>
      <p:bldP spid="3" grpId="0"/>
      <p:bldP spid="4" grpId="0"/>
      <p:bldP spid="5" grpId="0"/>
      <p:bldP spid="7" grpId="0" animBg="1"/>
      <p:bldP spid="9" grpId="0"/>
      <p:bldP spid="10" grpId="0"/>
      <p:bldP spid="12" grpId="0" animBg="1"/>
      <p:bldP spid="13" grpId="0"/>
      <p:bldP spid="41" grpId="0" animBg="1"/>
      <p:bldP spid="63" grpId="0" animBg="1"/>
      <p:bldP spid="1084" grpId="0" animBg="1"/>
      <p:bldP spid="1086" grpId="0" animBg="1"/>
      <p:bldP spid="1089" grpId="0" animBg="1"/>
      <p:bldP spid="1090" grpId="0" animBg="1"/>
      <p:bldP spid="1092" grpId="0" animBg="1"/>
      <p:bldP spid="1095" grpId="0" animBg="1"/>
      <p:bldP spid="1103" grpId="0" animBg="1"/>
      <p:bldP spid="1105" grpId="0" animBg="1"/>
      <p:bldP spid="110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006CA-A85F-00DD-2297-662D81061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FA04BD97-57AE-6DAE-C303-F2ED6C01965B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AB6C1F90-1089-DFA8-2797-8B39C9F0CD97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E608134-661D-458F-7F31-AF2019DF7371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C1B237A-B17D-E7FC-224F-0FA19AAC4064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081D0ABA-701F-065D-560B-65E2B3944C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C4C668BA-3A3C-213D-D2CC-30E01E921B77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10140890-4B6C-2DD4-9897-952D994DB7B5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97E26916-7908-198D-DA29-9C1F2A75E652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159672F5-AC36-BD4F-A1B0-ADD40771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</a:t>
            </a:r>
          </a:p>
        </p:txBody>
      </p: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733F5C64-D156-3A69-4412-F11C3463E764}"/>
              </a:ext>
            </a:extLst>
          </p:cNvPr>
          <p:cNvGrpSpPr/>
          <p:nvPr/>
        </p:nvGrpSpPr>
        <p:grpSpPr>
          <a:xfrm>
            <a:off x="8510329" y="1179567"/>
            <a:ext cx="1312854" cy="665341"/>
            <a:chOff x="8546179" y="5706967"/>
            <a:chExt cx="1312854" cy="665341"/>
          </a:xfrm>
        </p:grpSpPr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BE7DE38B-2FD2-EB14-29AC-7071A58BE98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C4436ADD-EA9B-96EE-4C28-5DF046D4B2D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EDD8B2EB-06F6-668A-CD20-7D230973AC6B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C6EBDA7D-0232-4544-E69E-FB0FC6A8ED28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5" name="Group 1164">
            <a:extLst>
              <a:ext uri="{FF2B5EF4-FFF2-40B4-BE49-F238E27FC236}">
                <a16:creationId xmlns:a16="http://schemas.microsoft.com/office/drawing/2014/main" id="{9736F2C6-2971-B15E-DAC2-A980BE6BF486}"/>
              </a:ext>
            </a:extLst>
          </p:cNvPr>
          <p:cNvGrpSpPr/>
          <p:nvPr/>
        </p:nvGrpSpPr>
        <p:grpSpPr>
          <a:xfrm>
            <a:off x="3859200" y="1113053"/>
            <a:ext cx="4642469" cy="1061695"/>
            <a:chOff x="3880220" y="4569348"/>
            <a:chExt cx="4642469" cy="1061695"/>
          </a:xfrm>
        </p:grpSpPr>
        <p:sp>
          <p:nvSpPr>
            <p:cNvPr id="1107" name="Rounded Rectangle 1106">
              <a:extLst>
                <a:ext uri="{FF2B5EF4-FFF2-40B4-BE49-F238E27FC236}">
                  <a16:creationId xmlns:a16="http://schemas.microsoft.com/office/drawing/2014/main" id="{A181DA8F-3110-A14C-1F75-DE6E868308FA}"/>
                </a:ext>
              </a:extLst>
            </p:cNvPr>
            <p:cNvSpPr/>
            <p:nvPr/>
          </p:nvSpPr>
          <p:spPr>
            <a:xfrm>
              <a:off x="3880220" y="4569348"/>
              <a:ext cx="4642469" cy="1061695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7B07B7D-13FD-2F28-4449-2CE51EAC1D9F}"/>
                </a:ext>
              </a:extLst>
            </p:cNvPr>
            <p:cNvGrpSpPr/>
            <p:nvPr/>
          </p:nvGrpSpPr>
          <p:grpSpPr>
            <a:xfrm>
              <a:off x="5200015" y="4784955"/>
              <a:ext cx="795114" cy="795114"/>
              <a:chOff x="8251677" y="1916963"/>
              <a:chExt cx="795114" cy="795114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63C1206-D95B-92DF-E8FE-66664F79B3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251677" y="1916963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4" name="Picture 8" descr="Coding ">
                <a:extLst>
                  <a:ext uri="{FF2B5EF4-FFF2-40B4-BE49-F238E27FC236}">
                    <a16:creationId xmlns:a16="http://schemas.microsoft.com/office/drawing/2014/main" id="{E29B7A0A-32F1-FAF1-8080-64DEFB34BC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37821" y="2103044"/>
                <a:ext cx="406347" cy="4063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E423D6C-D4F4-1884-D55F-723EB269FCDA}"/>
                </a:ext>
              </a:extLst>
            </p:cNvPr>
            <p:cNvSpPr txBox="1"/>
            <p:nvPr/>
          </p:nvSpPr>
          <p:spPr>
            <a:xfrm>
              <a:off x="3904758" y="4894218"/>
              <a:ext cx="1396461" cy="6943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Policy code</a:t>
              </a:r>
            </a:p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(domain-specific planner)</a:t>
              </a:r>
            </a:p>
          </p:txBody>
        </p: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D4EBA0B4-4DEE-5139-8FAD-D313A05AA2E7}"/>
                </a:ext>
              </a:extLst>
            </p:cNvPr>
            <p:cNvCxnSpPr>
              <a:cxnSpLocks/>
              <a:endCxn id="12" idx="7"/>
            </p:cNvCxnSpPr>
            <p:nvPr/>
          </p:nvCxnSpPr>
          <p:spPr bwMode="auto">
            <a:xfrm flipH="1">
              <a:off x="5878687" y="4894881"/>
              <a:ext cx="2007858" cy="65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28D2D4E1-7721-BF56-6B52-E32033625E88}"/>
                </a:ext>
              </a:extLst>
            </p:cNvPr>
            <p:cNvSpPr txBox="1"/>
            <p:nvPr/>
          </p:nvSpPr>
          <p:spPr>
            <a:xfrm>
              <a:off x="6098536" y="4632618"/>
              <a:ext cx="1812229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policy generator</a:t>
              </a:r>
            </a:p>
          </p:txBody>
        </p:sp>
        <p:cxnSp>
          <p:nvCxnSpPr>
            <p:cNvPr id="1176" name="Straight Connector 1175">
              <a:extLst>
                <a:ext uri="{FF2B5EF4-FFF2-40B4-BE49-F238E27FC236}">
                  <a16:creationId xmlns:a16="http://schemas.microsoft.com/office/drawing/2014/main" id="{C412AF42-EBB0-F8A3-304B-03A74BF5B12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34864" y="5364385"/>
              <a:ext cx="1773506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D459DD1-417C-2ECD-953D-885A98B82036}"/>
                </a:ext>
              </a:extLst>
            </p:cNvPr>
            <p:cNvGrpSpPr/>
            <p:nvPr/>
          </p:nvGrpSpPr>
          <p:grpSpPr>
            <a:xfrm>
              <a:off x="7717032" y="5221610"/>
              <a:ext cx="773317" cy="381910"/>
              <a:chOff x="7498472" y="1277142"/>
              <a:chExt cx="773317" cy="38191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E7536DC-2A89-C275-BBB7-769FF3665E6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7988C2AB-8BA4-0AA1-E68B-2B5157B7237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38" name="Graphic 37" descr="Transfer with solid fill">
                  <a:extLst>
                    <a:ext uri="{FF2B5EF4-FFF2-40B4-BE49-F238E27FC236}">
                      <a16:creationId xmlns:a16="http://schemas.microsoft.com/office/drawing/2014/main" id="{88253026-0F23-F912-D04F-8ADC8BDD44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82D26F3-EF5B-BCEB-3E14-00E2A138AB3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6C42EBFF-D2A1-ACBA-4C86-E55409FDF53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8" name="Graphic 17" descr="Route (Two Pins With A Path) with solid fill">
                  <a:extLst>
                    <a:ext uri="{FF2B5EF4-FFF2-40B4-BE49-F238E27FC236}">
                      <a16:creationId xmlns:a16="http://schemas.microsoft.com/office/drawing/2014/main" id="{228D2EA6-65A7-70BD-72F0-99881E49DF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127" name="Group 1126">
              <a:extLst>
                <a:ext uri="{FF2B5EF4-FFF2-40B4-BE49-F238E27FC236}">
                  <a16:creationId xmlns:a16="http://schemas.microsoft.com/office/drawing/2014/main" id="{DB3B5DB5-711C-9F12-EA20-D1666B76C90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02582" y="4633098"/>
              <a:ext cx="561901" cy="563643"/>
              <a:chOff x="2706216" y="2534577"/>
              <a:chExt cx="939638" cy="1039482"/>
            </a:xfrm>
          </p:grpSpPr>
          <p:sp>
            <p:nvSpPr>
              <p:cNvPr id="1128" name="Oval 1127">
                <a:extLst>
                  <a:ext uri="{FF2B5EF4-FFF2-40B4-BE49-F238E27FC236}">
                    <a16:creationId xmlns:a16="http://schemas.microsoft.com/office/drawing/2014/main" id="{C711AB29-5E82-E912-C0F6-68102C9342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29" name="Picture 1128">
                <a:extLst>
                  <a:ext uri="{FF2B5EF4-FFF2-40B4-BE49-F238E27FC236}">
                    <a16:creationId xmlns:a16="http://schemas.microsoft.com/office/drawing/2014/main" id="{1029DBC4-90C6-E3C2-A1DD-12DD5FAF23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4D61645-0385-B4D3-4D9C-95A91CE6F3C3}"/>
              </a:ext>
            </a:extLst>
          </p:cNvPr>
          <p:cNvGrpSpPr/>
          <p:nvPr/>
        </p:nvGrpSpPr>
        <p:grpSpPr>
          <a:xfrm>
            <a:off x="250570" y="1044978"/>
            <a:ext cx="3732270" cy="1266071"/>
            <a:chOff x="242801" y="5080048"/>
            <a:chExt cx="3732270" cy="126607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8815F70-5517-B2DC-A207-09D4C0AD3696}"/>
                </a:ext>
              </a:extLst>
            </p:cNvPr>
            <p:cNvGrpSpPr/>
            <p:nvPr/>
          </p:nvGrpSpPr>
          <p:grpSpPr>
            <a:xfrm>
              <a:off x="242801" y="5080048"/>
              <a:ext cx="3731486" cy="950229"/>
              <a:chOff x="242801" y="4580572"/>
              <a:chExt cx="3731486" cy="95022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138424-70A5-3F5D-1B3A-3533743A4BE0}"/>
                  </a:ext>
                </a:extLst>
              </p:cNvPr>
              <p:cNvSpPr txBox="1"/>
              <p:nvPr/>
            </p:nvSpPr>
            <p:spPr>
              <a:xfrm>
                <a:off x="242801" y="4580572"/>
                <a:ext cx="20616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Silver et al, AAAI 2024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6BF8E6-1F98-0524-0C57-633628FAADA9}"/>
                  </a:ext>
                </a:extLst>
              </p:cNvPr>
              <p:cNvSpPr txBox="1"/>
              <p:nvPr/>
            </p:nvSpPr>
            <p:spPr>
              <a:xfrm>
                <a:off x="242801" y="4871506"/>
                <a:ext cx="21242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Hodel, BSc Thesis 2024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7918014-899E-70E2-9E23-81E381FB9619}"/>
                  </a:ext>
                </a:extLst>
              </p:cNvPr>
              <p:cNvSpPr txBox="1"/>
              <p:nvPr/>
            </p:nvSpPr>
            <p:spPr>
              <a:xfrm>
                <a:off x="244893" y="5192247"/>
                <a:ext cx="37293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Stein et al, ICAPS 2026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3C661F-BCD9-CADB-8551-D70F1C9CD539}"/>
                </a:ext>
              </a:extLst>
            </p:cNvPr>
            <p:cNvSpPr txBox="1"/>
            <p:nvPr/>
          </p:nvSpPr>
          <p:spPr>
            <a:xfrm>
              <a:off x="245677" y="6007565"/>
              <a:ext cx="37293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Sohrabi et al, LM4Plan@ICAPS 2026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B6C5742-BF41-F479-2673-C5754450BE05}"/>
              </a:ext>
            </a:extLst>
          </p:cNvPr>
          <p:cNvGrpSpPr/>
          <p:nvPr/>
        </p:nvGrpSpPr>
        <p:grpSpPr>
          <a:xfrm>
            <a:off x="206435" y="2966156"/>
            <a:ext cx="9491675" cy="3584005"/>
            <a:chOff x="216374" y="2827010"/>
            <a:chExt cx="9491675" cy="358400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EA65068-A051-7560-E573-15CC49DC4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314" y="2827010"/>
              <a:ext cx="9481735" cy="3584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F8E0BA8-DB41-7A18-54DE-02696848FB09}"/>
                </a:ext>
              </a:extLst>
            </p:cNvPr>
            <p:cNvSpPr/>
            <p:nvPr/>
          </p:nvSpPr>
          <p:spPr>
            <a:xfrm>
              <a:off x="250570" y="4035287"/>
              <a:ext cx="1429143" cy="308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FBD490-8CBE-6A38-2150-F12E2E59610B}"/>
                </a:ext>
              </a:extLst>
            </p:cNvPr>
            <p:cNvSpPr txBox="1"/>
            <p:nvPr/>
          </p:nvSpPr>
          <p:spPr>
            <a:xfrm>
              <a:off x="230691" y="4040663"/>
              <a:ext cx="20616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Silver et al, AAAI 2024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1B49097-92A0-23D5-AB73-8CAAC5BC32C6}"/>
                </a:ext>
              </a:extLst>
            </p:cNvPr>
            <p:cNvSpPr/>
            <p:nvPr/>
          </p:nvSpPr>
          <p:spPr>
            <a:xfrm>
              <a:off x="260508" y="6125332"/>
              <a:ext cx="1429143" cy="186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B6CCC56-F6F1-F8F3-B622-2B4F0850B3A6}"/>
                </a:ext>
              </a:extLst>
            </p:cNvPr>
            <p:cNvSpPr txBox="1"/>
            <p:nvPr/>
          </p:nvSpPr>
          <p:spPr>
            <a:xfrm>
              <a:off x="216374" y="6049132"/>
              <a:ext cx="20958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Stein et al, ICAPS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54255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96814-610A-B7A0-68F1-BCD8ADB9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87C77031-33C5-1A03-ACEB-772AF7E52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A47CA9-5611-29E2-47E8-7805383B1834}"/>
              </a:ext>
            </a:extLst>
          </p:cNvPr>
          <p:cNvGrpSpPr/>
          <p:nvPr/>
        </p:nvGrpSpPr>
        <p:grpSpPr>
          <a:xfrm>
            <a:off x="1869692" y="1278329"/>
            <a:ext cx="8452616" cy="3048980"/>
            <a:chOff x="1348676" y="3713421"/>
            <a:chExt cx="8452616" cy="304898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557F3A9-63FE-1977-C000-093FEE77F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8676" y="3713421"/>
              <a:ext cx="8452616" cy="304898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9BA50D-A56D-D15F-4EF6-C2A663881070}"/>
                </a:ext>
              </a:extLst>
            </p:cNvPr>
            <p:cNvSpPr/>
            <p:nvPr/>
          </p:nvSpPr>
          <p:spPr>
            <a:xfrm>
              <a:off x="5973702" y="4702990"/>
              <a:ext cx="879042" cy="2043358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3504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194" name="Picture 2">
            <a:extLst>
              <a:ext uri="{FF2B5EF4-FFF2-40B4-BE49-F238E27FC236}">
                <a16:creationId xmlns:a16="http://schemas.microsoft.com/office/drawing/2014/main" id="{41123E4A-5E97-774C-537C-C63F23956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3150" y="2662559"/>
            <a:ext cx="6628265" cy="403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C0A1B1-C3CE-F309-31CC-33CD7915AE72}"/>
              </a:ext>
            </a:extLst>
          </p:cNvPr>
          <p:cNvSpPr txBox="1"/>
          <p:nvPr/>
        </p:nvSpPr>
        <p:spPr>
          <a:xfrm>
            <a:off x="9728121" y="6359250"/>
            <a:ext cx="2095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Stein et al, ICAPS 2026</a:t>
            </a:r>
          </a:p>
        </p:txBody>
      </p:sp>
    </p:spTree>
    <p:extLst>
      <p:ext uri="{BB962C8B-B14F-4D97-AF65-F5344CB8AC3E}">
        <p14:creationId xmlns:p14="http://schemas.microsoft.com/office/powerpoint/2010/main" val="16195066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B1F94-DC21-7746-5228-B7ED4F218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3702A9C8-ED85-EBCB-3E20-D0BC60563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46324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 with Reuse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D28DD-4BA5-809F-F8CB-648237D98BA3}"/>
              </a:ext>
            </a:extLst>
          </p:cNvPr>
          <p:cNvSpPr txBox="1"/>
          <p:nvPr/>
        </p:nvSpPr>
        <p:spPr>
          <a:xfrm>
            <a:off x="8731524" y="6359250"/>
            <a:ext cx="372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Sohrabi et al, LM4Plan@ICAPS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6840A-237D-7023-45BD-6148C3C5CA18}"/>
              </a:ext>
            </a:extLst>
          </p:cNvPr>
          <p:cNvSpPr txBox="1"/>
          <p:nvPr/>
        </p:nvSpPr>
        <p:spPr>
          <a:xfrm>
            <a:off x="417699" y="5651364"/>
            <a:ext cx="116436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000000"/>
                </a:solidFill>
                <a:effectLst/>
              </a:rPr>
              <a:t>Generate policy: </a:t>
            </a:r>
            <a:r>
              <a:rPr lang="en-US" sz="2000" dirty="0">
                <a:solidFill>
                  <a:srgbClr val="000000"/>
                </a:solidFill>
              </a:rPr>
              <a:t>  </a:t>
            </a:r>
            <a:r>
              <a:rPr lang="en-US" sz="2000" dirty="0">
                <a:solidFill>
                  <a:srgbClr val="000000"/>
                </a:solidFill>
                <a:effectLst/>
              </a:rPr>
              <a:t>abstract tasks, infer signature, bind parameters, retrieve skills, synthesize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FA2716-75B5-DD91-D7CF-FFAFCAEA523B}"/>
              </a:ext>
            </a:extLst>
          </p:cNvPr>
          <p:cNvSpPr txBox="1"/>
          <p:nvPr/>
        </p:nvSpPr>
        <p:spPr>
          <a:xfrm>
            <a:off x="417699" y="5017799"/>
            <a:ext cx="11092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effectLst/>
              </a:rPr>
              <a:t>Three stages, each guarded by validation: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BB502D-6743-8F73-8D92-4E538E9C0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0058400" cy="387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65009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A3F17-1EA6-E59A-F16F-47FD46102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42238D2B-63CC-6ED6-9E59-AA71020D6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46324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 with Reuse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772E4-D19F-47EC-F3A5-3E2242C1FC73}"/>
              </a:ext>
            </a:extLst>
          </p:cNvPr>
          <p:cNvSpPr txBox="1"/>
          <p:nvPr/>
        </p:nvSpPr>
        <p:spPr>
          <a:xfrm>
            <a:off x="8731524" y="6359250"/>
            <a:ext cx="372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Sohrabi et al, LM4Plan@ICAPS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4E07B-8328-3F21-BB45-5FA6540FBEAA}"/>
              </a:ext>
            </a:extLst>
          </p:cNvPr>
          <p:cNvSpPr txBox="1"/>
          <p:nvPr/>
        </p:nvSpPr>
        <p:spPr>
          <a:xfrm>
            <a:off x="417699" y="5017799"/>
            <a:ext cx="11092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effectLst/>
              </a:rPr>
              <a:t>Three stages, each guarded by validation: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581AA-E6D8-BF1D-68DD-F1DB11700FF4}"/>
              </a:ext>
            </a:extLst>
          </p:cNvPr>
          <p:cNvSpPr txBox="1"/>
          <p:nvPr/>
        </p:nvSpPr>
        <p:spPr>
          <a:xfrm>
            <a:off x="417699" y="5651364"/>
            <a:ext cx="116436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000000"/>
                </a:solidFill>
                <a:effectLst/>
              </a:rPr>
              <a:t>Learn Skills: decompose successful policies into reusable functions and revalidate updated policies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9AB6A7-FDB7-54A6-9695-C73E0FD09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0058400" cy="394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649302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CD444-D2A9-AE6D-46CF-56880459C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627BE409-AA19-46BF-BBDE-AE182A92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46324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 with Reuse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80D8F5-CD87-7881-A281-669042895BAF}"/>
              </a:ext>
            </a:extLst>
          </p:cNvPr>
          <p:cNvSpPr txBox="1"/>
          <p:nvPr/>
        </p:nvSpPr>
        <p:spPr>
          <a:xfrm>
            <a:off x="8731524" y="6359250"/>
            <a:ext cx="372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Sohrabi et al, LM4Plan@ICAPS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B4464B-F690-E697-F01D-8CBF03A4261A}"/>
              </a:ext>
            </a:extLst>
          </p:cNvPr>
          <p:cNvSpPr txBox="1"/>
          <p:nvPr/>
        </p:nvSpPr>
        <p:spPr>
          <a:xfrm>
            <a:off x="417699" y="5017799"/>
            <a:ext cx="11092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effectLst/>
              </a:rPr>
              <a:t>Three stages, each guarded by validation: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B96D9-E5D4-72C9-AF2B-D864901EA396}"/>
              </a:ext>
            </a:extLst>
          </p:cNvPr>
          <p:cNvSpPr txBox="1"/>
          <p:nvPr/>
        </p:nvSpPr>
        <p:spPr>
          <a:xfrm>
            <a:off x="417699" y="5651364"/>
            <a:ext cx="116436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000000"/>
                </a:solidFill>
                <a:effectLst/>
              </a:rPr>
              <a:t>Generalize Skills: cluster, deduplicate, abstract, and validate before adding to the repository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E323EE-91F8-DE7E-A9AA-7320114E1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0058400" cy="395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51503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D3BA5-FCAF-0163-0DC5-3363F20B2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50484DD5-0E56-0606-EC4D-71655F892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46324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 with Reuse: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5FAC4-0E1A-AE29-E0DB-117F35282CF7}"/>
              </a:ext>
            </a:extLst>
          </p:cNvPr>
          <p:cNvSpPr txBox="1"/>
          <p:nvPr/>
        </p:nvSpPr>
        <p:spPr>
          <a:xfrm>
            <a:off x="8731524" y="6359250"/>
            <a:ext cx="372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Sohrabi et al, LM4Plan@ICAPS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79683-DF49-3541-61E1-FE971F132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737883"/>
            <a:ext cx="7772400" cy="5382234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D51750A-2A8C-BEF0-6CC8-5113130D80A4}"/>
              </a:ext>
            </a:extLst>
          </p:cNvPr>
          <p:cNvSpPr/>
          <p:nvPr/>
        </p:nvSpPr>
        <p:spPr>
          <a:xfrm>
            <a:off x="2219739" y="3707296"/>
            <a:ext cx="7752522" cy="1003852"/>
          </a:xfrm>
          <a:prstGeom prst="roundRect">
            <a:avLst>
              <a:gd name="adj" fmla="val 4065"/>
            </a:avLst>
          </a:prstGeom>
          <a:solidFill>
            <a:schemeClr val="accent4">
              <a:lumMod val="20000"/>
              <a:lumOff val="80000"/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45572A-ABDD-6F24-593A-4A4C74C7C063}"/>
              </a:ext>
            </a:extLst>
          </p:cNvPr>
          <p:cNvSpPr/>
          <p:nvPr/>
        </p:nvSpPr>
        <p:spPr>
          <a:xfrm>
            <a:off x="2219739" y="2081952"/>
            <a:ext cx="7752522" cy="1625344"/>
          </a:xfrm>
          <a:prstGeom prst="roundRect">
            <a:avLst>
              <a:gd name="adj" fmla="val 4065"/>
            </a:avLst>
          </a:prstGeom>
          <a:solidFill>
            <a:schemeClr val="accent4">
              <a:lumMod val="40000"/>
              <a:lumOff val="60000"/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E6462DE-FDA5-AA99-3F4D-A74C0917455D}"/>
              </a:ext>
            </a:extLst>
          </p:cNvPr>
          <p:cNvSpPr/>
          <p:nvPr/>
        </p:nvSpPr>
        <p:spPr>
          <a:xfrm>
            <a:off x="2219739" y="4711147"/>
            <a:ext cx="7752522" cy="1525059"/>
          </a:xfrm>
          <a:prstGeom prst="roundRect">
            <a:avLst>
              <a:gd name="adj" fmla="val 2329"/>
            </a:avLst>
          </a:prstGeom>
          <a:solidFill>
            <a:srgbClr val="00B05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A0727ED-C0F7-0018-EDD8-95A2FC3E4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443" y="805445"/>
            <a:ext cx="1133061" cy="113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09C040D-46E9-8B85-63B6-6F7BAC0803BC}"/>
              </a:ext>
            </a:extLst>
          </p:cNvPr>
          <p:cNvSpPr txBox="1"/>
          <p:nvPr/>
        </p:nvSpPr>
        <p:spPr>
          <a:xfrm>
            <a:off x="10596221" y="1938506"/>
            <a:ext cx="136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effectLst/>
                <a:latin typeface="ui-sans-serif"/>
                <a:hlinkClick r:id="rId5"/>
              </a:rPr>
              <a:t>AppWorld</a:t>
            </a:r>
          </a:p>
        </p:txBody>
      </p:sp>
    </p:spTree>
    <p:extLst>
      <p:ext uri="{BB962C8B-B14F-4D97-AF65-F5344CB8AC3E}">
        <p14:creationId xmlns:p14="http://schemas.microsoft.com/office/powerpoint/2010/main" val="24843909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1776-2D69-8753-2986-05CB7AE34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61932FF5-F737-938C-DA4B-7DE761FA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46324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 with Reuse: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42897-EE4C-CC48-173A-8F3C80896378}"/>
              </a:ext>
            </a:extLst>
          </p:cNvPr>
          <p:cNvSpPr txBox="1"/>
          <p:nvPr/>
        </p:nvSpPr>
        <p:spPr>
          <a:xfrm>
            <a:off x="8731524" y="6359250"/>
            <a:ext cx="372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Sohrabi et al, LM4Plan@ICAPS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72180D-7148-0308-0568-88752D656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49" y="866120"/>
            <a:ext cx="5470379" cy="31095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2D15C7-F815-CE19-F20A-4322F617A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386" y="866121"/>
            <a:ext cx="5470379" cy="3109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5EB44B8-A986-DF85-BA20-C298FB512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443" y="4047756"/>
            <a:ext cx="4722582" cy="2650048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C9412063-8AE0-4563-F295-E3097800D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9263" y="149019"/>
            <a:ext cx="645003" cy="645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4774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04274B-2F63-5A86-AA71-FD679E182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1550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222788</TotalTime>
  <Words>1655</Words>
  <Application>Microsoft Macintosh PowerPoint</Application>
  <PresentationFormat>Widescreen</PresentationFormat>
  <Paragraphs>370</Paragraphs>
  <Slides>34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Arial</vt:lpstr>
      <vt:lpstr>Calibri</vt:lpstr>
      <vt:lpstr>Calibri Light</vt:lpstr>
      <vt:lpstr>IBM Plex Sans</vt:lpstr>
      <vt:lpstr>IBM Plex Sans Light</vt:lpstr>
      <vt:lpstr>ui-sans-serif</vt:lpstr>
      <vt:lpstr>Office Theme</vt:lpstr>
      <vt:lpstr>PowerPoint Presentation</vt:lpstr>
      <vt:lpstr>Planning problem</vt:lpstr>
      <vt:lpstr>PowerPoint Presentation</vt:lpstr>
      <vt:lpstr>Solving NL/PDDL planning problems</vt:lpstr>
      <vt:lpstr>LLM as a World Model</vt:lpstr>
      <vt:lpstr>LLM as a World Model</vt:lpstr>
      <vt:lpstr>PowerPoint Presentation</vt:lpstr>
      <vt:lpstr>PowerPoint Presentation</vt:lpstr>
      <vt:lpstr>PowerPoint Presentation</vt:lpstr>
      <vt:lpstr>Building solvers for NL/PDDL planning problems</vt:lpstr>
      <vt:lpstr>World Models generation</vt:lpstr>
      <vt:lpstr>Thought of Search (ToS)</vt:lpstr>
      <vt:lpstr>Automating Thought of Search (AutoToS)</vt:lpstr>
      <vt:lpstr>PowerPoint Presentation</vt:lpstr>
      <vt:lpstr>How does it work?</vt:lpstr>
      <vt:lpstr>Is it much worse than a human feedback?</vt:lpstr>
      <vt:lpstr>Does it match the accuracy of ToS?</vt:lpstr>
      <vt:lpstr>Heuristics generation</vt:lpstr>
      <vt:lpstr>PowerPoint Presentation</vt:lpstr>
      <vt:lpstr>PDDL Generation</vt:lpstr>
      <vt:lpstr>PDDL Generation: First Attempts </vt:lpstr>
      <vt:lpstr>PDDL Generation: First Attempts </vt:lpstr>
      <vt:lpstr>PDDL Generation</vt:lpstr>
      <vt:lpstr>PDDL Generation: Tackling Semantic Correctness</vt:lpstr>
      <vt:lpstr>PDDL Generation: Measuring Semantic Correctness</vt:lpstr>
      <vt:lpstr>PDDL Generation: Beyond Single Loop</vt:lpstr>
      <vt:lpstr>Generalized Policy Generation</vt:lpstr>
      <vt:lpstr>Generalized Policy Generation</vt:lpstr>
      <vt:lpstr>Generalized Policy Generation with Reuse</vt:lpstr>
      <vt:lpstr>Generalized Policy Generation with Reuse</vt:lpstr>
      <vt:lpstr>Generalized Policy Generation with Reuse</vt:lpstr>
      <vt:lpstr>Generalized Policy Generation with Reuse: Results</vt:lpstr>
      <vt:lpstr>Generalized Policy Generation with Reuse: Results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Michael Katz</dc:creator>
  <cp:keywords/>
  <dc:description/>
  <cp:lastModifiedBy>Michael Katz</cp:lastModifiedBy>
  <cp:revision>591</cp:revision>
  <dcterms:created xsi:type="dcterms:W3CDTF">2024-01-29T19:17:17Z</dcterms:created>
  <dcterms:modified xsi:type="dcterms:W3CDTF">2026-06-18T02:36:43Z</dcterms:modified>
  <cp:category/>
</cp:coreProperties>
</file>