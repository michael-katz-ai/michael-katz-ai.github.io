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1000" r:id="rId2"/>
    <p:sldId id="1060" r:id="rId3"/>
    <p:sldId id="1061" r:id="rId4"/>
    <p:sldId id="1062" r:id="rId5"/>
    <p:sldId id="1064" r:id="rId6"/>
    <p:sldId id="1063" r:id="rId7"/>
    <p:sldId id="1065" r:id="rId8"/>
    <p:sldId id="1082" r:id="rId9"/>
    <p:sldId id="1151" r:id="rId10"/>
    <p:sldId id="1152" r:id="rId11"/>
    <p:sldId id="1083" r:id="rId12"/>
    <p:sldId id="1084" r:id="rId13"/>
    <p:sldId id="1153" r:id="rId14"/>
    <p:sldId id="1051" r:id="rId15"/>
    <p:sldId id="1085" r:id="rId16"/>
    <p:sldId id="1086" r:id="rId17"/>
    <p:sldId id="1087" r:id="rId18"/>
    <p:sldId id="1088" r:id="rId19"/>
    <p:sldId id="1050" r:id="rId20"/>
    <p:sldId id="1154" r:id="rId21"/>
    <p:sldId id="1089" r:id="rId22"/>
    <p:sldId id="104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E1"/>
    <a:srgbClr val="E7E6E6"/>
    <a:srgbClr val="C7D0DF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13"/>
    <p:restoredTop sz="83836"/>
  </p:normalViewPr>
  <p:slideViewPr>
    <p:cSldViewPr snapToGrid="0">
      <p:cViewPr varScale="1">
        <p:scale>
          <a:sx n="105" d="100"/>
          <a:sy n="105" d="100"/>
        </p:scale>
        <p:origin x="13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89028-9AA5-EB4F-B8BE-7C57B92012CB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FDEBB-CCCC-8B46-A2A2-C1D34AD7B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044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607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F5736-C885-9429-5E59-0371D6B01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C2879-6D8C-18C0-A495-581EECBBA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38969-D739-062B-B9CA-57D8CBA47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3F93F-D982-5070-E98E-CDAE2D335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87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D19AB-4655-285B-A65A-431237E5A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F4668-BCD3-8DF8-3F3B-C0D290577E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E5AC7C-2966-2D5A-04AA-893DF878C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CA621-6A6E-5BFB-4760-6265D6628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881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9D14A-3CD2-23E6-433E-C6990A105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C4633A-D7CD-F5C9-B273-873F3E310E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9253C9-E235-CEA1-3C26-32C7206F8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B3A3A2-4F73-2B1F-F229-EC180607A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C954E-E3BB-B618-10EA-BD96CC891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C8A35-3C03-B9F4-E645-EFEFFBB96F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99A8B-DB1D-AC92-660D-598F70681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3E48D-4CC4-4C04-02E8-E0A2A654C0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17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DD915-6189-9F5B-368F-0EDB67C01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ECF9B-13C4-9893-4260-5FDBFACE44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F580FA-CD97-4DB1-BB31-6FEE0DC126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9C4A37-EF51-7F53-F13F-43D059FC4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83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20356-7427-FE6E-241D-C6C79C973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AE1DD-20E2-BDEC-8490-B48BE16E5F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28CC0-1235-98BC-9C6A-939B80F3D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01648-99FE-3D9D-A5DB-6F9F0EF882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67036-A19A-A61C-4BD3-A5D3FB9A4C2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023553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E197-43A9-40B0-C922-74EDEC88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CC041-7D44-1971-A897-2E63AF468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F4EB3-1B1B-7DAD-EAE0-8D8A3BB71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37EB6-A422-75D1-A9D2-0E489E1238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7471A-44B5-2763-DACF-CECD9B000C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1380857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2506D-6F22-C052-6AB3-2B516B3A5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5FA7B-1AE7-726F-E4C7-AFD0459C0C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0E2E3-5655-1490-4988-BFFAC66680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C1080F-066D-8AA9-A6EF-A19854054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6DDC3-0E7F-65A2-21F1-F0DF7786E1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277155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D651A-9799-E1FD-246D-12F8C9146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9B10F4-13D8-2F22-64EB-11F8EBD3BB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5FD0B8-4470-A65B-0AEA-29CD81732F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D5B3E-6FF8-AF0A-933D-7970A3357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30B63-77B3-AA99-A2DC-87D0533255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928460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6043-030B-8494-6735-9CA5DB03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FC470F-3EB7-9B1D-481A-F2D3186FC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A7B62-1A66-363C-7012-5F21F0F2D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040104-9947-FA8D-D758-DE313F3554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99541-76B7-DB81-4090-13EDD3101B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057013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FC21-7F59-CB61-1BAB-AE94F383F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0F28A9-E9C6-4A25-933D-2A9B97887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78302F-77E1-03A5-2AC8-71F7BC35B2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4CD9C-C326-C26F-D421-8A519A9101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20D9A-6A8C-B7FF-05E9-DCDBE6EC0AE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449383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C01D1-1E52-BC9A-E87F-35408B7A5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E684B-22B2-79B0-018F-82C09E4677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91983-1DF0-6374-B5FA-D3EAC69D00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2D77A-52F2-F729-4597-5121E5744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5AD45-BD3A-E355-8BA9-348E2B3086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74287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FFDEBB-CCCC-8B46-A2A2-C1D34AD7BEC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8723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F4F1D-B858-7DA4-3887-39547CF1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9F782-6974-FD76-E5AF-6CBFC9C6C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FE364A-4537-5726-BF58-C551648A09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7B8AD-7E44-DC79-1197-FA1349091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B22EFE-994C-9E72-7734-BDA143DBAA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7115819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39C9-7BB1-C05E-DECE-8C54CB3C0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E525BE-5058-4CFC-C14C-7BBC2DE3A4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EBC4C-64E1-93BF-168B-C2A7D6BD45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0CFFE-EAB7-B33C-4FD9-708E8C1244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1804A-3CB9-1ECA-F091-545A1D6006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1203699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4DF2-A2A0-18C9-DD11-62B305AF9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671A16-3906-62BA-4D8B-E6B4FB5EE2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7CC9DF-E975-812B-F976-DF86817F3C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C751A-F3E2-F3C1-A29C-1DA28F32A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BC1C5-A780-623B-31EE-16AEF97254B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9856852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44295-D337-7B89-3C45-DDB0790B5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A9F49-7ED0-37A1-4E94-CE188623A9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54486A-2174-F767-AB9A-85E8A57DF0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713CF0-3428-D998-8E1C-41BA0AFF4A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E813D0-AF6F-9CBD-57DE-DE2F4D7D39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4677338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9B161-1A56-C01F-1FDC-071744BCD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7F473B-CA09-D268-EF75-1BFC55FB4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B01863-6F31-5AF7-4CDF-7EA0C4519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2482A-CF66-6251-9936-72AD921621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CEEB4-E824-F4C5-47B0-AD1FC2BF44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081960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02F82-58D9-0607-A1C6-90AD9609D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C1BE0-DC32-423E-B13F-B3EF36A51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A1CFE-5F01-1088-96DE-7EC200F8C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57ADE0-C686-A300-6B94-AEC339ADDB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A4056-545E-52A8-1EB2-7F47112A48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302300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04788-5367-A860-47E4-2A92A7156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9B2FC-BB3B-D5EE-B19E-DAB17D3C0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8F9A1A-CB60-8216-3769-DA0DAB6D05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EAF61-7547-AA15-EEB3-E9AC95B5E9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674CA-C20D-D66C-CEC6-D8CBF02EDE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0997166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01FCF-0CE9-6D3B-16EB-A5119E0953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983427-FF72-1EBD-4A0A-CC34B01178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14471-D4C0-0E5D-DBA6-97A3C7648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12FF74-043B-05F9-EC58-4238B4C29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5C816-71A6-15B6-B3BA-D76253271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D7979-2C0B-87AB-1A9C-FE395D01B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705FC-E951-C9E6-4FAD-80067A7A66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6035-4C6C-6228-45E6-36A0BC977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859F-A026-A827-B01E-FC636C19D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8C3C-3662-309D-D21B-6BE2F016F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A62A0-3F05-BEC5-A2A6-89FA01F0B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050F4-193F-8A54-409D-15459CE607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B3CC7-5D28-A20C-CF0F-E2E69EE28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D17C5C-2A8F-5B86-FC6A-930F6A230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854D9-29BA-621B-7756-F3261C6A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48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E9919-BA08-5C40-6857-2B7484FA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877B7-433E-AE53-E67C-2CDCC2598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53A7E7-CAD6-CAAB-82F1-8C13C5AF3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47764-9003-6D58-B97F-14B718D72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78F01-8DE6-76CF-17CB-AADC255FB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AA2F18-9C5E-C800-FEAD-5CF69FBDE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3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9A7CB-0349-5E21-B85F-E5F2C4A6B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D3DFB-4BBE-F6EF-3B21-A17611F97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D09CBB-EA58-36BE-A447-E7B00D171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43C917-22C4-F7AD-780D-C718115BFC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33C1B3-5F3B-000B-6EC1-FFC031C423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C392D9-072C-0FE1-3967-D3ACC056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A793EA-75DB-148F-2F62-140A3310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945BA-29E7-CAE0-6162-67C2063C3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51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2CE8-28A3-8D99-1DF3-864BF872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F25EBE-2EC2-0202-B026-B7EB58D69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9A54C-DB6E-F68B-D24D-E2262EB9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FCE15E-EB98-1910-68D0-27D183D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696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938809-CBDD-5D94-47DB-A4A9EBB03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3150C0-5D71-2213-F4F6-BB698FB03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A7695-4215-99E5-56EE-DF98029A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627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5C52-18FB-9FC0-5D47-81B90B0F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13FC7-641A-B751-C6DF-21CE1570A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8BA57-5AB1-37A9-AE57-FAECF47D38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4CEE9-5602-B278-776E-1DCFC6F3E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712C6-4180-0BE1-396C-A5F64A335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D20D6-4F86-0BAD-B1FC-CCD3E08E9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4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CA6D5-DABF-3943-17F6-43DD95E1C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08A7E7-D050-DA63-8E49-D18EFE762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F5AFB-A5B4-3DB3-56F1-0E60630F1A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DC99D2-2131-1407-FDCD-99AA5A29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05233-375B-5080-E42E-938A7BF45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F7AF54-D19E-31E5-E1D7-BC8BD0536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93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45E70-2E59-7152-AAA7-123A13D31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C4B018-BA8F-0207-B623-16C2A2E6E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07BDD-9C87-4D36-AC94-8C8F0FFB9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8B2B19-8BC8-01D1-F6A5-CC03C46B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E0624-53C0-7C7C-BF1F-039A0D86F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69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24E9AF-07E4-B53E-289B-714B3F8CBD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A45DBB-BDF7-BB37-695A-B0F46D513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4FF1F-EF7D-19DD-84E8-C5C7E2BA7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2A1352-43B3-367F-05DC-41BD6F7C6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2C3D-5DC9-8690-62AE-F32289EED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760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26127" y="1985921"/>
            <a:ext cx="9455003" cy="3054431"/>
          </a:xfr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 algn="ctr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8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475F80-7516-72B5-7496-23B3E1428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B9724-21E5-03B7-BE29-8713E569FF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47784-EA72-E42A-D7A5-3B361F343F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CF6158-ACB0-F046-9CB6-2D84E56D4281}" type="datetimeFigureOut">
              <a:rPr lang="en-US" smtClean="0"/>
              <a:t>6/18/26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10E33-DD58-4472-A9AD-89E2B81740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C21A2-CF4E-A518-78AC-20DB4E7EF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694F16-4843-F648-884A-961A41475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0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41000" r="2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49CCF2-5AD5-F193-336E-D1E01025238A}"/>
              </a:ext>
            </a:extLst>
          </p:cNvPr>
          <p:cNvSpPr/>
          <p:nvPr/>
        </p:nvSpPr>
        <p:spPr>
          <a:xfrm>
            <a:off x="420015" y="326707"/>
            <a:ext cx="11642674" cy="144655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Automating Thought of Search: </a:t>
            </a:r>
          </a:p>
          <a:p>
            <a:pPr algn="ctr"/>
            <a:r>
              <a:rPr lang="en-US" sz="4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 Journey Towards Soundness and Completeness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B96621-9DD6-36BC-8DB2-21C46D1E3AAD}"/>
              </a:ext>
            </a:extLst>
          </p:cNvPr>
          <p:cNvSpPr txBox="1"/>
          <p:nvPr/>
        </p:nvSpPr>
        <p:spPr>
          <a:xfrm>
            <a:off x="156786" y="2581071"/>
            <a:ext cx="12169132" cy="8479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Daniel Cao*                     </a:t>
            </a:r>
            <a:r>
              <a:rPr lang="en-US" sz="2000" u="sng" dirty="0"/>
              <a:t>Michael Katz </a:t>
            </a:r>
            <a:r>
              <a:rPr lang="en-US" sz="2000" dirty="0"/>
              <a:t>                    Harsha Kokel                     Kavitha Srinivas                    Shirin Sohrabi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/>
              <a:t>Cornell University                                                                        IBM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88660-97F7-C365-71DD-B37FFA477EFC}"/>
              </a:ext>
            </a:extLst>
          </p:cNvPr>
          <p:cNvSpPr txBox="1"/>
          <p:nvPr/>
        </p:nvSpPr>
        <p:spPr>
          <a:xfrm>
            <a:off x="5164491" y="1890811"/>
            <a:ext cx="1863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ICAPS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3E64C-4A1C-CF52-6F47-5CE2D47812E0}"/>
              </a:ext>
            </a:extLst>
          </p:cNvPr>
          <p:cNvSpPr txBox="1"/>
          <p:nvPr/>
        </p:nvSpPr>
        <p:spPr>
          <a:xfrm>
            <a:off x="156358" y="4065998"/>
            <a:ext cx="6163056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800" dirty="0"/>
              <a:t>*Work performed while at IBM</a:t>
            </a:r>
          </a:p>
        </p:txBody>
      </p:sp>
    </p:spTree>
    <p:extLst>
      <p:ext uri="{BB962C8B-B14F-4D97-AF65-F5344CB8AC3E}">
        <p14:creationId xmlns:p14="http://schemas.microsoft.com/office/powerpoint/2010/main" val="1834566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FB3AE-DC26-DD41-7264-59CCFFBD7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1AF0D-44A2-0500-AD66-DB60A28A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41575D-E254-1EA1-BD4A-F267BBA57A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0DD0CF-E4C5-59CC-2639-4656E277BCCF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1557308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BFCDF-0AC1-695C-0C49-50A8B5F73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EE0B8-0DA0-5821-5AEE-F3AFD9E8F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BA44D-A769-05FC-908C-5D72EB71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050F30BC-48E9-C5D5-AB7C-33C0F896A100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5B1B78C-699D-E824-07E3-8751D397D643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555BFE5B-72F1-6DF0-6E1B-9D6513C41FF5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E7D6B4C-FEE6-FBAE-5463-AD818CA55251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F59DED14-8947-ADB1-EDE3-C1ACF5D01653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BA50E7FA-2F18-303B-3154-FC06C9370342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C5283F3F-400B-9731-EAEC-CF63AFF325A1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09AE2DB-441A-A310-96EF-77FEAC5184BA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490035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D0ACC-71BE-B0AA-8F2A-4E754A97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D8C64-31D3-5152-D447-66C7E80F2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F4CD3-6AF6-7BCE-6F0C-C82AD2018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AC2873F0-7DF6-AED5-C36E-193A756F4CB1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75185BC-9DCA-28E5-BC45-58357834A720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18B3F25-8E8D-1F82-7C54-F8BD981527AF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2B93508-F094-C09B-BF96-31C6DC58B76F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AAE2F31-9691-0906-32E2-173AC67D1CF6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BBB94E8-F806-C518-C96A-4B370D7F89FB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A8341AF-CD55-48F4-90CE-A02C48ED8EC3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AE6167-4624-E40F-6669-BB65906F12E7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9CB19E6-09C2-882A-776E-CAAE571C3560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F91047B-CCE5-9892-D6F6-0325BB5B5481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63DA4E7-B9E3-EEBE-2D7A-EE2423577AAB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1205F10-D439-92D7-FB85-7ADC5A7B3C2C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B312ADE-A80D-007D-E97D-77C794E30721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A7D5097-26D7-23D6-A68F-4317A9BF7FC5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F95C51FA-B9E0-1CAC-02EC-B78EF7161253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05C1EF2-AD5A-7F59-C52B-531B5B7C3266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C99EAE46-7A96-86F0-C11E-9A2A9DA3E278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3DFA76A6-A3D4-94C4-12D9-010AC259021E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8F70A5F-75B5-047B-0357-FBE947906E5F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142091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5F280-618E-9B88-DFA0-9FEC9BDE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B401-448A-F6C5-91AC-1B1DFDF83F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3F6D4-8474-C15E-D34B-49A9BDB9B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82F1A7C-83CA-6513-7A72-CBAC52802FC4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09C66F8-452D-559D-BDF3-9DA6CB234741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D2C3001-66C7-90F6-61A5-AB2971B60F74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E84CEA-3183-9D20-DCFC-E360D7DE1617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F52682D-C764-CA93-CEE2-2AA0C462211F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9958146-85B3-F513-1542-9FC78CD1A552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C731064-4470-6625-EC3E-0A967923CE96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D5C77CF-E72F-7D2D-37C6-2C7ACABC4432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F6EBD55-17AE-6864-6AEE-7E9A560F8C26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9F5AF79-1DEE-7328-FA4E-9238621EABC2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4E2B577-171C-5554-CC20-802BFE8E7201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7C666C4-7190-1B3F-99B4-39054DF177FC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1E4D5C13-49AE-CE7A-4ED5-2C6DBB6E99D6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EDEEE08-2FB6-9CDF-DCBE-9A362902D4E7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36932683-7B9F-5406-2924-00679089BAC7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D6222130-5277-82F4-39F1-80FF9E5CD0D2}"/>
              </a:ext>
            </a:extLst>
          </p:cNvPr>
          <p:cNvGrpSpPr/>
          <p:nvPr/>
        </p:nvGrpSpPr>
        <p:grpSpPr>
          <a:xfrm>
            <a:off x="5289629" y="287335"/>
            <a:ext cx="6748041" cy="2093302"/>
            <a:chOff x="5347502" y="141185"/>
            <a:chExt cx="6748041" cy="2093302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2D3BF517-234D-EFD5-2EEA-B94800759823}"/>
                </a:ext>
              </a:extLst>
            </p:cNvPr>
            <p:cNvSpPr/>
            <p:nvPr/>
          </p:nvSpPr>
          <p:spPr>
            <a:xfrm>
              <a:off x="5347502" y="141185"/>
              <a:ext cx="6748041" cy="209330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09FFF7C-DA4E-78B3-7625-3A8A70515740}"/>
                </a:ext>
              </a:extLst>
            </p:cNvPr>
            <p:cNvSpPr txBox="1"/>
            <p:nvPr/>
          </p:nvSpPr>
          <p:spPr>
            <a:xfrm>
              <a:off x="5878924" y="562223"/>
              <a:ext cx="55328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24 Game is a mathematical card game in which the objective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 is to find a way to manipulate four integers so that the end result is 24.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game  is played with a list of four numbers, and the player must use all four numbers exactly once, using any combination of addition, subtraction, multiplication, or division, to arrive at the number 24. </a:t>
              </a:r>
            </a:p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574CF589-6756-07A2-C26C-531C5AB328A9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3F7234BB-E654-C2A7-F3DA-D608E871C1A1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D2120D2C-85D3-CA8F-E3EB-509CDE10DC95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311FC5D-0139-3555-CD83-AC7238178C21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4115937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B3B06E-5E5F-66C1-0144-36E8E3942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7280C-1928-498F-E208-1377C3BA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087" y="76104"/>
            <a:ext cx="10515600" cy="1325563"/>
          </a:xfrm>
        </p:spPr>
        <p:txBody>
          <a:bodyPr/>
          <a:lstStyle/>
          <a:p>
            <a:r>
              <a:rPr lang="en-US" dirty="0"/>
              <a:t>Planning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C7A7E1-0BFF-2718-76D6-A1ED1819D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77" y="2907752"/>
            <a:ext cx="7010796" cy="3745055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96412392-97A2-787F-4FAD-F91741063E9B}"/>
              </a:ext>
            </a:extLst>
          </p:cNvPr>
          <p:cNvGrpSpPr/>
          <p:nvPr/>
        </p:nvGrpSpPr>
        <p:grpSpPr>
          <a:xfrm>
            <a:off x="8122442" y="2612882"/>
            <a:ext cx="3457815" cy="2073897"/>
            <a:chOff x="469607" y="4554776"/>
            <a:chExt cx="3457815" cy="2073897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5C9748A-E681-0892-B960-6E9FCE1F0B6D}"/>
                </a:ext>
              </a:extLst>
            </p:cNvPr>
            <p:cNvSpPr/>
            <p:nvPr/>
          </p:nvSpPr>
          <p:spPr>
            <a:xfrm>
              <a:off x="469607" y="4554776"/>
              <a:ext cx="3457815" cy="20738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Planning Language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CBD4633-963A-3CE8-4AEF-D418903BD047}"/>
                </a:ext>
              </a:extLst>
            </p:cNvPr>
            <p:cNvSpPr txBox="1"/>
            <p:nvPr/>
          </p:nvSpPr>
          <p:spPr>
            <a:xfrm>
              <a:off x="680797" y="5248522"/>
              <a:ext cx="11577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predicates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E04614-6FFD-F7D8-74C3-B3FD8E038E55}"/>
                </a:ext>
              </a:extLst>
            </p:cNvPr>
            <p:cNvSpPr txBox="1"/>
            <p:nvPr/>
          </p:nvSpPr>
          <p:spPr>
            <a:xfrm>
              <a:off x="2815911" y="4943944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objects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D390271-92BC-1EBE-3CC7-AF9455C4DA60}"/>
                </a:ext>
              </a:extLst>
            </p:cNvPr>
            <p:cNvSpPr txBox="1"/>
            <p:nvPr/>
          </p:nvSpPr>
          <p:spPr>
            <a:xfrm>
              <a:off x="507568" y="4944091"/>
              <a:ext cx="6928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types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19F8957-180E-6283-BAA0-3A4538D94016}"/>
                </a:ext>
              </a:extLst>
            </p:cNvPr>
            <p:cNvSpPr txBox="1"/>
            <p:nvPr/>
          </p:nvSpPr>
          <p:spPr>
            <a:xfrm>
              <a:off x="731426" y="5627278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actions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BFDA08E-5331-825B-B218-B511AEC6DD32}"/>
                </a:ext>
              </a:extLst>
            </p:cNvPr>
            <p:cNvSpPr txBox="1"/>
            <p:nvPr/>
          </p:nvSpPr>
          <p:spPr>
            <a:xfrm>
              <a:off x="1139100" y="5893420"/>
              <a:ext cx="1476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preconditions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E260674E-5B90-B726-65BB-9E0B16285931}"/>
                </a:ext>
              </a:extLst>
            </p:cNvPr>
            <p:cNvSpPr txBox="1"/>
            <p:nvPr/>
          </p:nvSpPr>
          <p:spPr>
            <a:xfrm>
              <a:off x="1139100" y="6168986"/>
              <a:ext cx="8109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effects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F52F3CE-03D2-3E1B-CC1A-C6A016A3F8C7}"/>
                </a:ext>
              </a:extLst>
            </p:cNvPr>
            <p:cNvSpPr txBox="1"/>
            <p:nvPr/>
          </p:nvSpPr>
          <p:spPr>
            <a:xfrm>
              <a:off x="2638661" y="5357036"/>
              <a:ext cx="12230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initial state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EB2A17E-B131-6D20-3088-8B2B58027555}"/>
                </a:ext>
              </a:extLst>
            </p:cNvPr>
            <p:cNvSpPr txBox="1"/>
            <p:nvPr/>
          </p:nvSpPr>
          <p:spPr>
            <a:xfrm>
              <a:off x="2942617" y="5726368"/>
              <a:ext cx="577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goal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986C4A9D-1D90-0106-00A8-8A6636B23223}"/>
              </a:ext>
            </a:extLst>
          </p:cNvPr>
          <p:cNvGrpSpPr/>
          <p:nvPr/>
        </p:nvGrpSpPr>
        <p:grpSpPr>
          <a:xfrm>
            <a:off x="8881110" y="5263037"/>
            <a:ext cx="1940480" cy="1529394"/>
            <a:chOff x="4315446" y="4747171"/>
            <a:chExt cx="2007306" cy="15293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C15C80-DE96-CF2C-1408-F43DED143B08}"/>
                </a:ext>
              </a:extLst>
            </p:cNvPr>
            <p:cNvSpPr/>
            <p:nvPr/>
          </p:nvSpPr>
          <p:spPr>
            <a:xfrm>
              <a:off x="4315446" y="4747171"/>
              <a:ext cx="2007306" cy="152939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Black Box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38D2020B-5A97-1394-58AC-97169BB90790}"/>
                </a:ext>
              </a:extLst>
            </p:cNvPr>
            <p:cNvSpPr/>
            <p:nvPr/>
          </p:nvSpPr>
          <p:spPr>
            <a:xfrm>
              <a:off x="4456437" y="5717477"/>
              <a:ext cx="1593130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/>
                <a:t>succ</a:t>
              </a:r>
              <a:r>
                <a:rPr lang="en-US" dirty="0"/>
                <a:t>: S -&gt;2</a:t>
              </a:r>
              <a:r>
                <a:rPr lang="en-US" baseline="30000" dirty="0"/>
                <a:t>SxA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CBF6214B-FA1A-D8F6-B792-85296D7EE609}"/>
                </a:ext>
              </a:extLst>
            </p:cNvPr>
            <p:cNvSpPr/>
            <p:nvPr/>
          </p:nvSpPr>
          <p:spPr>
            <a:xfrm>
              <a:off x="4471749" y="5160309"/>
              <a:ext cx="1593129" cy="47134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/>
                <a:t>goal: S -&gt; {T,F}</a:t>
              </a:r>
              <a:endParaRPr lang="en-US" baseline="30000" dirty="0"/>
            </a:p>
          </p:txBody>
        </p:sp>
      </p:grpSp>
      <p:sp>
        <p:nvSpPr>
          <p:cNvPr id="41" name="Right Arrow 40">
            <a:extLst>
              <a:ext uri="{FF2B5EF4-FFF2-40B4-BE49-F238E27FC236}">
                <a16:creationId xmlns:a16="http://schemas.microsoft.com/office/drawing/2014/main" id="{BA0FE7DF-B401-1BB6-1366-8D5665694705}"/>
              </a:ext>
            </a:extLst>
          </p:cNvPr>
          <p:cNvSpPr/>
          <p:nvPr/>
        </p:nvSpPr>
        <p:spPr>
          <a:xfrm rot="5400000">
            <a:off x="9614515" y="4828418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77C60A1E-D4A6-E758-2D3E-19E2AB5CD4D8}"/>
              </a:ext>
            </a:extLst>
          </p:cNvPr>
          <p:cNvGrpSpPr/>
          <p:nvPr/>
        </p:nvGrpSpPr>
        <p:grpSpPr>
          <a:xfrm>
            <a:off x="5289629" y="287335"/>
            <a:ext cx="6748041" cy="2093302"/>
            <a:chOff x="5347502" y="141185"/>
            <a:chExt cx="6748041" cy="2093302"/>
          </a:xfrm>
        </p:grpSpPr>
        <p:sp>
          <p:nvSpPr>
            <p:cNvPr id="6" name="Cloud 5">
              <a:extLst>
                <a:ext uri="{FF2B5EF4-FFF2-40B4-BE49-F238E27FC236}">
                  <a16:creationId xmlns:a16="http://schemas.microsoft.com/office/drawing/2014/main" id="{A3035758-E1CB-7260-E0A2-1B6FCA1D3DBC}"/>
                </a:ext>
              </a:extLst>
            </p:cNvPr>
            <p:cNvSpPr/>
            <p:nvPr/>
          </p:nvSpPr>
          <p:spPr>
            <a:xfrm>
              <a:off x="5347502" y="141185"/>
              <a:ext cx="6748041" cy="2093302"/>
            </a:xfrm>
            <a:prstGeom prst="cloud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8D2642D-D142-6D07-D2AA-FF47AE42DA8D}"/>
                </a:ext>
              </a:extLst>
            </p:cNvPr>
            <p:cNvSpPr txBox="1"/>
            <p:nvPr/>
          </p:nvSpPr>
          <p:spPr>
            <a:xfrm>
              <a:off x="5878924" y="562223"/>
              <a:ext cx="55328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24 Game is a mathematical card game in which the objective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 is to find a way to manipulate four integers so that the end result is 24. </a:t>
              </a:r>
            </a:p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The game  is played with a list of four numbers, and the player must use all four numbers exactly once, using any combination of addition, subtraction, multiplication, or division, to arrive at the number 24. </a:t>
              </a:r>
            </a:p>
            <a:p>
              <a:pPr algn="ctr"/>
              <a:endParaRPr lang="en-US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41229587-B127-B382-6074-272897F3FDBB}"/>
              </a:ext>
            </a:extLst>
          </p:cNvPr>
          <p:cNvCxnSpPr>
            <a:cxnSpLocks/>
          </p:cNvCxnSpPr>
          <p:nvPr/>
        </p:nvCxnSpPr>
        <p:spPr>
          <a:xfrm>
            <a:off x="3885235" y="3855709"/>
            <a:ext cx="5151463" cy="1977156"/>
          </a:xfrm>
          <a:prstGeom prst="curvedConnector3">
            <a:avLst>
              <a:gd name="adj1" fmla="val 70671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ight Brace 19">
            <a:extLst>
              <a:ext uri="{FF2B5EF4-FFF2-40B4-BE49-F238E27FC236}">
                <a16:creationId xmlns:a16="http://schemas.microsoft.com/office/drawing/2014/main" id="{DE48C014-40E3-A462-2D69-31883E979C7B}"/>
              </a:ext>
            </a:extLst>
          </p:cNvPr>
          <p:cNvSpPr/>
          <p:nvPr/>
        </p:nvSpPr>
        <p:spPr>
          <a:xfrm>
            <a:off x="5489615" y="4138593"/>
            <a:ext cx="358815" cy="1347807"/>
          </a:xfrm>
          <a:prstGeom prst="rightBrace">
            <a:avLst>
              <a:gd name="adj1" fmla="val 37365"/>
              <a:gd name="adj2" fmla="val 49750"/>
            </a:avLst>
          </a:prstGeom>
          <a:ln w="44450" cap="rnd" cmpd="sng">
            <a:round/>
            <a:headEnd type="none"/>
            <a:tailEnd type="none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Curved Connector 52">
            <a:extLst>
              <a:ext uri="{FF2B5EF4-FFF2-40B4-BE49-F238E27FC236}">
                <a16:creationId xmlns:a16="http://schemas.microsoft.com/office/drawing/2014/main" id="{3F44F670-6BAE-23C0-1F06-9C6D4D51A8F8}"/>
              </a:ext>
            </a:extLst>
          </p:cNvPr>
          <p:cNvCxnSpPr>
            <a:cxnSpLocks/>
          </p:cNvCxnSpPr>
          <p:nvPr/>
        </p:nvCxnSpPr>
        <p:spPr>
          <a:xfrm>
            <a:off x="5878924" y="4805038"/>
            <a:ext cx="3138483" cy="1695881"/>
          </a:xfrm>
          <a:prstGeom prst="curvedConnector3">
            <a:avLst>
              <a:gd name="adj1" fmla="val 50000"/>
            </a:avLst>
          </a:prstGeom>
          <a:ln w="53975" cap="rnd" cmpd="sng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Right Arrow 64">
            <a:extLst>
              <a:ext uri="{FF2B5EF4-FFF2-40B4-BE49-F238E27FC236}">
                <a16:creationId xmlns:a16="http://schemas.microsoft.com/office/drawing/2014/main" id="{43EF91BA-A4D3-7386-F7AC-535175EF3432}"/>
              </a:ext>
            </a:extLst>
          </p:cNvPr>
          <p:cNvSpPr/>
          <p:nvPr/>
        </p:nvSpPr>
        <p:spPr>
          <a:xfrm rot="5400000">
            <a:off x="9747840" y="2229027"/>
            <a:ext cx="445651" cy="303220"/>
          </a:xfrm>
          <a:prstGeom prst="rightArrow">
            <a:avLst/>
          </a:prstGeom>
          <a:ln cap="rnd" cmpd="dbl">
            <a:solidFill>
              <a:schemeClr val="accent1">
                <a:shade val="15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8" name="Curved Connector 67">
            <a:extLst>
              <a:ext uri="{FF2B5EF4-FFF2-40B4-BE49-F238E27FC236}">
                <a16:creationId xmlns:a16="http://schemas.microsoft.com/office/drawing/2014/main" id="{D2B24B6B-431C-354F-E8FF-1C222202DD19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12332" y="2676747"/>
            <a:ext cx="3229301" cy="2108727"/>
          </a:xfrm>
          <a:prstGeom prst="curvedConnector2">
            <a:avLst/>
          </a:prstGeom>
          <a:ln w="168275"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574D71-1260-CA04-9C1D-22DDFD3E5247}"/>
              </a:ext>
            </a:extLst>
          </p:cNvPr>
          <p:cNvSpPr txBox="1"/>
          <p:nvPr/>
        </p:nvSpPr>
        <p:spPr>
          <a:xfrm>
            <a:off x="451087" y="2418797"/>
            <a:ext cx="2211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Mathematical Model:</a:t>
            </a:r>
          </a:p>
        </p:txBody>
      </p:sp>
    </p:spTree>
    <p:extLst>
      <p:ext uri="{BB962C8B-B14F-4D97-AF65-F5344CB8AC3E}">
        <p14:creationId xmlns:p14="http://schemas.microsoft.com/office/powerpoint/2010/main" val="3508622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85412-5D2C-1C4B-10A9-CBFD0D43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90539A2-58CC-3E0B-35A2-30D1AEECB0A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784B0F7-CE7E-508F-EDC2-96346A2E1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2408692" cy="523220"/>
          </a:xfrm>
        </p:spPr>
        <p:txBody>
          <a:bodyPr>
            <a:noAutofit/>
          </a:bodyPr>
          <a:lstStyle/>
          <a:p>
            <a:r>
              <a:rPr lang="en-US" sz="4400" dirty="0"/>
              <a:t>Background: 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0DAEEE-BC19-D8B6-F189-15AA7EE76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DB06862-3C90-3D17-B071-520879479D4A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70023767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9C014-9F61-EC7C-04E9-AB90EC49E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FD39637A-8A18-972E-19C9-3E14A0EE81F6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37B9F77C-96B6-4CDC-BB4F-3A28B598A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2284473" cy="523220"/>
          </a:xfrm>
        </p:spPr>
        <p:txBody>
          <a:bodyPr>
            <a:noAutofit/>
          </a:bodyPr>
          <a:lstStyle/>
          <a:p>
            <a:r>
              <a:rPr lang="en-US" sz="4400" dirty="0"/>
              <a:t>Background: 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DD8AD6-4FDC-BFAA-068F-54A8D046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13082E-8BC7-3D13-1E68-BC8EC541672E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51690B-D38C-4541-56D5-798EC72BE7AE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613622350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DEE1E-7450-50F6-3D23-1853BF9B4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284C0FE7-202E-AC21-6FE5-1A9947E1C4CD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0EF8FE0A-E78E-647B-FF0F-286F19261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2442060" cy="523220"/>
          </a:xfrm>
        </p:spPr>
        <p:txBody>
          <a:bodyPr>
            <a:noAutofit/>
          </a:bodyPr>
          <a:lstStyle/>
          <a:p>
            <a:r>
              <a:rPr lang="en-US" sz="4400" dirty="0"/>
              <a:t>Background: 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6CB4DC-987D-CD3B-3276-C93C3F2018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3DB8E1-D5CA-6BDE-FEA4-ACFD3BE67992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E9E92-5AE4-9CCB-B251-E9553E96BB27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B14C6-BE12-D948-B606-A5AAE5CA1684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732304343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B411E-D645-1251-6ECC-1E495B13E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8E278EE1-B1FB-30BE-1410-C3AF43B1FEE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F28B8029-C84A-B418-97B4-39EFF45F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Background: 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32503B-6676-6EF6-D948-113C3ACF6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859873-C627-6D5B-3281-C67FCE226536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F8DB22-940E-01D3-8AD6-0564A5C26EB4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C7EB4-09F1-620C-9036-56DEF73F892E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8F1B1A-B187-AD00-4D9E-20602D544790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180612305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61201-9DBD-21FD-7D6A-23E9A6CF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4B2B1A2-0CF2-17DE-2208-4DBAC29E2221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47D3EBCA-EAA0-1E94-272E-E96D61791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Background: 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B88BD0-E0F6-35E1-FFB5-99CCAA78D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1C88E1C-D892-B40B-CDC9-A2F670135502}"/>
              </a:ext>
            </a:extLst>
          </p:cNvPr>
          <p:cNvGrpSpPr/>
          <p:nvPr/>
        </p:nvGrpSpPr>
        <p:grpSpPr>
          <a:xfrm>
            <a:off x="4475748" y="2935709"/>
            <a:ext cx="7427012" cy="3175206"/>
            <a:chOff x="1064248" y="2708361"/>
            <a:chExt cx="8117586" cy="3063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F6A1D8B-3106-DF9E-4B15-9187FCD79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89" t="10417" r="2127" b="3008"/>
            <a:stretch>
              <a:fillRect/>
            </a:stretch>
          </p:blipFill>
          <p:spPr>
            <a:xfrm>
              <a:off x="1064248" y="2708361"/>
              <a:ext cx="8113986" cy="306319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5F85063-9F69-19F8-89C9-5505E5C49480}"/>
                </a:ext>
              </a:extLst>
            </p:cNvPr>
            <p:cNvSpPr/>
            <p:nvPr/>
          </p:nvSpPr>
          <p:spPr>
            <a:xfrm>
              <a:off x="1064248" y="5515352"/>
              <a:ext cx="8117586" cy="21186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93F56F7-5ADF-8D53-AF78-A61AD5EA2275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C98E22-EAE6-8369-308E-1A0D066D4E2A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11D600-4FE8-FECE-F931-F48E3CD2F5CE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9BBEFF-9AD7-A639-1015-55EAEB0075AF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2566467464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A9C6F-7A86-8C35-8F31-508E19681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6E5C1DD9-9AC8-A6FA-167C-204EC8036A6D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5F94582E-C253-9035-2E65-B4577C15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0597217" cy="523220"/>
          </a:xfrm>
        </p:spPr>
        <p:txBody>
          <a:bodyPr>
            <a:noAutofit/>
          </a:bodyPr>
          <a:lstStyle/>
          <a:p>
            <a:r>
              <a:rPr lang="en-US" sz="4400" dirty="0"/>
              <a:t>Background: Thought of Search (</a:t>
            </a:r>
            <a:r>
              <a:rPr lang="en-US" sz="4400" dirty="0" err="1"/>
              <a:t>ToS</a:t>
            </a:r>
            <a:r>
              <a:rPr lang="en-US" sz="4400" dirty="0"/>
              <a:t>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97550-5576-D883-C396-82FAB4F352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783" r="74806"/>
          <a:stretch>
            <a:fillRect/>
          </a:stretch>
        </p:blipFill>
        <p:spPr>
          <a:xfrm>
            <a:off x="0" y="705268"/>
            <a:ext cx="4331368" cy="610964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BACCFB5-E070-E9D1-B267-4AC70C4A3DF6}"/>
              </a:ext>
            </a:extLst>
          </p:cNvPr>
          <p:cNvGrpSpPr/>
          <p:nvPr/>
        </p:nvGrpSpPr>
        <p:grpSpPr>
          <a:xfrm>
            <a:off x="4475748" y="2935709"/>
            <a:ext cx="7427012" cy="3175206"/>
            <a:chOff x="1064248" y="2708361"/>
            <a:chExt cx="8117586" cy="30631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321B5EC-8D0E-8BBC-AFF6-2B8D38AEA8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289" t="10417" r="2127" b="3008"/>
            <a:stretch>
              <a:fillRect/>
            </a:stretch>
          </p:blipFill>
          <p:spPr>
            <a:xfrm>
              <a:off x="1064248" y="2708361"/>
              <a:ext cx="8113986" cy="306319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BA224C3-8DBA-9B40-4E53-CD3E039DDD21}"/>
                </a:ext>
              </a:extLst>
            </p:cNvPr>
            <p:cNvSpPr/>
            <p:nvPr/>
          </p:nvSpPr>
          <p:spPr>
            <a:xfrm>
              <a:off x="1064248" y="5515352"/>
              <a:ext cx="8117586" cy="211864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B12FBB6-B1C7-F19B-B650-23CA6B84CFE5}"/>
              </a:ext>
            </a:extLst>
          </p:cNvPr>
          <p:cNvSpPr txBox="1"/>
          <p:nvPr/>
        </p:nvSpPr>
        <p:spPr>
          <a:xfrm>
            <a:off x="4475748" y="907505"/>
            <a:ext cx="79568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Plug the functions into a standard search (BFS/DFS/IDDF…)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6D4EC-87E8-7836-71A9-BFBA0F9F5D01}"/>
              </a:ext>
            </a:extLst>
          </p:cNvPr>
          <p:cNvSpPr txBox="1"/>
          <p:nvPr/>
        </p:nvSpPr>
        <p:spPr>
          <a:xfrm>
            <a:off x="7134729" y="1338349"/>
            <a:ext cx="14518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Results?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C6BAD-EB80-4307-0B6F-45E8D939DCEC}"/>
              </a:ext>
            </a:extLst>
          </p:cNvPr>
          <p:cNvSpPr txBox="1"/>
          <p:nvPr/>
        </p:nvSpPr>
        <p:spPr>
          <a:xfrm>
            <a:off x="5037222" y="1873481"/>
            <a:ext cx="65612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100% accuracy across all tested domains!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Execution time in </a:t>
            </a:r>
            <a:r>
              <a:rPr lang="en-US" sz="2400" b="1" dirty="0" err="1">
                <a:solidFill>
                  <a:srgbClr val="FF0000"/>
                </a:solidFill>
              </a:rPr>
              <a:t>ms</a:t>
            </a:r>
            <a:r>
              <a:rPr lang="en-US" sz="2400" b="1" dirty="0">
                <a:solidFill>
                  <a:srgbClr val="FF0000"/>
                </a:solidFill>
              </a:rPr>
              <a:t> per instance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209890-7C35-D2D9-FA66-2665A3E58B0B}"/>
              </a:ext>
            </a:extLst>
          </p:cNvPr>
          <p:cNvSpPr txBox="1"/>
          <p:nvPr/>
        </p:nvSpPr>
        <p:spPr>
          <a:xfrm>
            <a:off x="4399548" y="6263066"/>
            <a:ext cx="49810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Limitation: need human in the loop!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D3B470-AE5E-9F23-E48A-EA8CE21F857C}"/>
              </a:ext>
            </a:extLst>
          </p:cNvPr>
          <p:cNvSpPr txBox="1"/>
          <p:nvPr/>
        </p:nvSpPr>
        <p:spPr>
          <a:xfrm>
            <a:off x="9987652" y="520610"/>
            <a:ext cx="22873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Katz et al, </a:t>
            </a:r>
            <a:r>
              <a:rPr lang="en-US" sz="1600" b="1" dirty="0" err="1">
                <a:solidFill>
                  <a:schemeClr val="accent1">
                    <a:lumMod val="75000"/>
                  </a:schemeClr>
                </a:solidFill>
              </a:rPr>
              <a:t>NeurIPS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 2024</a:t>
            </a:r>
          </a:p>
        </p:txBody>
      </p:sp>
    </p:spTree>
    <p:extLst>
      <p:ext uri="{BB962C8B-B14F-4D97-AF65-F5344CB8AC3E}">
        <p14:creationId xmlns:p14="http://schemas.microsoft.com/office/powerpoint/2010/main" val="35925625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1FE14-73A3-719E-CF45-3E7141F65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4AA71222-9EAE-6A3A-F88D-140FA5C19EB2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23C6A89-9E61-4C29-DC37-F4549EDB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Automating Thought of Search (</a:t>
            </a:r>
            <a:r>
              <a:rPr lang="en-US" sz="4400" dirty="0" err="1"/>
              <a:t>AutoToS</a:t>
            </a:r>
            <a:r>
              <a:rPr lang="en-US" sz="4400" dirty="0"/>
              <a:t>)</a:t>
            </a:r>
          </a:p>
        </p:txBody>
      </p:sp>
      <p:pic>
        <p:nvPicPr>
          <p:cNvPr id="2" name="Picture 1" descr="A robot thinking about a problem&#10;&#10;AI-generated content may be incorrect.">
            <a:extLst>
              <a:ext uri="{FF2B5EF4-FFF2-40B4-BE49-F238E27FC236}">
                <a16:creationId xmlns:a16="http://schemas.microsoft.com/office/drawing/2014/main" id="{457DB2B3-5031-8207-3392-8EC6F70CF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31" y="828971"/>
            <a:ext cx="4447826" cy="4226599"/>
          </a:xfrm>
          <a:prstGeom prst="rect">
            <a:avLst/>
          </a:prstGeom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B43C4B-CAD6-AFD4-5357-813FA59EC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8049" y="2851768"/>
            <a:ext cx="4828856" cy="1029576"/>
          </a:xfrm>
          <a:prstGeom prst="rect">
            <a:avLst/>
          </a:prstGeom>
        </p:spPr>
      </p:pic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C9F0FB60-FD61-019E-B22F-A1225A3A8E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2146" y="4679996"/>
            <a:ext cx="5244831" cy="1045890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04D4BA-C94B-E82B-F56F-97D2FDCCD8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1760" y="1940651"/>
            <a:ext cx="4997349" cy="939800"/>
          </a:xfrm>
          <a:prstGeom prst="rect">
            <a:avLst/>
          </a:prstGeom>
        </p:spPr>
      </p:pic>
      <p:pic>
        <p:nvPicPr>
          <p:cNvPr id="8" name="Picture 7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00A7F8FF-4DA0-FBE6-B51F-A07B2ECD00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172" y="5309045"/>
            <a:ext cx="5016595" cy="1332767"/>
          </a:xfrm>
          <a:prstGeom prst="rect">
            <a:avLst/>
          </a:prstGeom>
        </p:spPr>
      </p:pic>
      <p:pic>
        <p:nvPicPr>
          <p:cNvPr id="9" name="Picture 8" descr="A close-up of a sign&#10;&#10;AI-generated content may be incorrect.">
            <a:extLst>
              <a:ext uri="{FF2B5EF4-FFF2-40B4-BE49-F238E27FC236}">
                <a16:creationId xmlns:a16="http://schemas.microsoft.com/office/drawing/2014/main" id="{17E09179-91A3-13DA-16FF-739343B872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7802" y="5840144"/>
            <a:ext cx="4785193" cy="863600"/>
          </a:xfrm>
          <a:prstGeom prst="rect">
            <a:avLst/>
          </a:prstGeom>
        </p:spPr>
      </p:pic>
      <p:pic>
        <p:nvPicPr>
          <p:cNvPr id="10" name="Picture 9" descr="A close-up of a text&#10;&#10;AI-generated content may be incorrect.">
            <a:extLst>
              <a:ext uri="{FF2B5EF4-FFF2-40B4-BE49-F238E27FC236}">
                <a16:creationId xmlns:a16="http://schemas.microsoft.com/office/drawing/2014/main" id="{6F21205A-753E-5843-448F-88B9C98DF7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2895" y="948130"/>
            <a:ext cx="4770197" cy="939800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59849D-9B83-7498-D718-EB9B0DA2501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82817" y="3833218"/>
            <a:ext cx="4991870" cy="1099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93120FA-E1E6-67FE-260A-B1D3E050CE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9557" y="828971"/>
            <a:ext cx="3682494" cy="4751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2B3DB9-CF71-82FC-C84B-14EA650EF3BE}"/>
              </a:ext>
            </a:extLst>
          </p:cNvPr>
          <p:cNvSpPr txBox="1"/>
          <p:nvPr/>
        </p:nvSpPr>
        <p:spPr>
          <a:xfrm>
            <a:off x="10220342" y="525558"/>
            <a:ext cx="20665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1">
                    <a:lumMod val="75000"/>
                  </a:schemeClr>
                </a:solidFill>
              </a:rPr>
              <a:t>Cao et al, ICAPS 2026</a:t>
            </a:r>
          </a:p>
        </p:txBody>
      </p:sp>
    </p:spTree>
    <p:extLst>
      <p:ext uri="{BB962C8B-B14F-4D97-AF65-F5344CB8AC3E}">
        <p14:creationId xmlns:p14="http://schemas.microsoft.com/office/powerpoint/2010/main" val="410829564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B77376B-3505-5ABB-3196-DA38B825748B}"/>
              </a:ext>
            </a:extLst>
          </p:cNvPr>
          <p:cNvSpPr txBox="1">
            <a:spLocks/>
          </p:cNvSpPr>
          <p:nvPr/>
        </p:nvSpPr>
        <p:spPr>
          <a:xfrm>
            <a:off x="-9428" y="43091"/>
            <a:ext cx="11463491" cy="5232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199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 err="1"/>
              <a:t>AutoToS</a:t>
            </a:r>
            <a:r>
              <a:rPr lang="en-US" sz="4400" dirty="0"/>
              <a:t>: Core Idea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C8AEE49-D26E-1811-05E7-411BC6F7DF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3860" y="640907"/>
            <a:ext cx="9271591" cy="6181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827084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B3EE6-6087-E164-47C7-78AD863BF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9F3B899-2AA2-4CDD-3E89-9CB594FEE033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8539B89A-E2BD-95A4-D147-554C7B40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6C43FC-FAFA-24B9-2C56-8804A30444A7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879B81-F19B-DEFF-E0B6-25880A3169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80B13E-7517-630C-7AF1-AAC2EB824A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479419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4F302-D9D6-81A0-C3F1-6071AD0D0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7ADA5451-95CC-633C-71C8-C81DA838FB05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EB384213-12CB-5D19-373F-565E5299E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011677-0ABA-0C45-4C05-D8D242F3809E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B0F493-7188-EFD9-29E9-7B948C6D2F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D87BD6-5F5F-F1B9-BEE1-AABFE2A66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574C446-0848-9321-3DC4-0EA3765CEE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3123"/>
          <a:stretch>
            <a:fillRect/>
          </a:stretch>
        </p:blipFill>
        <p:spPr>
          <a:xfrm>
            <a:off x="424070" y="3379303"/>
            <a:ext cx="4635610" cy="330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66961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AC781-DC16-4326-4B8D-0BBE80195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D03E8901-B50D-742C-2B4D-EC7DE822C8B1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26FC20F5-1BF4-9CD0-EF5F-101FD5BB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51FCFD-6B7D-648D-6EAB-130AAE21B7E9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E985EF-6620-0599-E61D-95D1020619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60F668-80AF-06C5-4D7B-216E586BFF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D2E3BE0-F514-5D49-171A-BE910A39E2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3123"/>
          <a:stretch>
            <a:fillRect/>
          </a:stretch>
        </p:blipFill>
        <p:spPr>
          <a:xfrm>
            <a:off x="424070" y="3379303"/>
            <a:ext cx="4635610" cy="33032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C419C5-9E3A-8991-183A-5E2011467C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32" t="9995" b="38793"/>
          <a:stretch>
            <a:fillRect/>
          </a:stretch>
        </p:blipFill>
        <p:spPr>
          <a:xfrm>
            <a:off x="5029049" y="1581889"/>
            <a:ext cx="6391206" cy="29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7633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BAFEC-53F8-0F1A-1C07-39679E1B9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76AD4DC-CC99-679C-6154-D0D03EFD56C4}"/>
              </a:ext>
            </a:extLst>
          </p:cNvPr>
          <p:cNvSpPr txBox="1"/>
          <p:nvPr/>
        </p:nvSpPr>
        <p:spPr>
          <a:xfrm>
            <a:off x="7395210" y="6024077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AF7F9C99-F0BF-4B39-5C76-05123C55CA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How does it work?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D803BC-DB73-234B-6C00-33AD8C70A50C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45988B-E521-83C2-BB78-19C750C331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793" r="72" b="90743"/>
          <a:stretch>
            <a:fillRect/>
          </a:stretch>
        </p:blipFill>
        <p:spPr>
          <a:xfrm>
            <a:off x="655779" y="987352"/>
            <a:ext cx="11247464" cy="5232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0759F9-35D4-FA13-517F-C736C1D68A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606" t="10377" r="43356" b="58441"/>
          <a:stretch>
            <a:fillRect/>
          </a:stretch>
        </p:blipFill>
        <p:spPr>
          <a:xfrm>
            <a:off x="441131" y="1606932"/>
            <a:ext cx="4585253" cy="1762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225887-CB5A-AA54-D10C-54E961CF88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498" t="41559" r="43123"/>
          <a:stretch>
            <a:fillRect/>
          </a:stretch>
        </p:blipFill>
        <p:spPr>
          <a:xfrm>
            <a:off x="424070" y="3379303"/>
            <a:ext cx="4635610" cy="330323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9D64BA-6A41-B617-7615-5DC2A3B2A9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7191" t="61046" b="1"/>
          <a:stretch>
            <a:fillRect/>
          </a:stretch>
        </p:blipFill>
        <p:spPr>
          <a:xfrm>
            <a:off x="5059679" y="4476599"/>
            <a:ext cx="6360576" cy="22017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F2775E-0706-380D-54A4-4707C0B4EF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932" t="9995" b="38793"/>
          <a:stretch>
            <a:fillRect/>
          </a:stretch>
        </p:blipFill>
        <p:spPr>
          <a:xfrm>
            <a:off x="5029049" y="1581889"/>
            <a:ext cx="6391206" cy="290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8763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C0CC9-A8EF-039B-65C9-1EBC7795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37188AC7-9121-498E-700C-8374AB1441B5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BF16A74B-CF46-A7A3-F9D5-4835E0DB6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Is it much worse than a human feedback?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CF838F8-A73B-7033-EEBD-C9EFF7597783}"/>
              </a:ext>
            </a:extLst>
          </p:cNvPr>
          <p:cNvSpPr/>
          <p:nvPr/>
        </p:nvSpPr>
        <p:spPr>
          <a:xfrm>
            <a:off x="288757" y="1456676"/>
            <a:ext cx="493762" cy="5358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CAA6C5-5951-F1EA-1810-48CE05401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842" y="2285999"/>
            <a:ext cx="10324315" cy="300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209704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FB8E8-4043-0CD8-08B7-DA7F68BEA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1D2FA740-3680-4BCA-A102-A3B4E56F307E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DA1BA2E5-2829-87E0-8C52-5FFC75973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Does it match the accuracy of </a:t>
            </a:r>
            <a:r>
              <a:rPr lang="en-US" sz="4400" dirty="0" err="1"/>
              <a:t>ToS</a:t>
            </a:r>
            <a:r>
              <a:rPr lang="en-US" sz="4400" dirty="0"/>
              <a:t>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0B4FE6-CCA9-754A-2E6E-5D6C18FFB8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4674" y="818146"/>
            <a:ext cx="5307202" cy="608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187701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1EEF-6883-E293-A722-2358E655E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EE4A5671-D934-3AA3-B022-8438C5249225}"/>
              </a:ext>
            </a:extLst>
          </p:cNvPr>
          <p:cNvSpPr txBox="1"/>
          <p:nvPr/>
        </p:nvSpPr>
        <p:spPr>
          <a:xfrm>
            <a:off x="7759004" y="5955252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sz="9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252" name="Title 1">
            <a:extLst>
              <a:ext uri="{FF2B5EF4-FFF2-40B4-BE49-F238E27FC236}">
                <a16:creationId xmlns:a16="http://schemas.microsoft.com/office/drawing/2014/main" id="{8C42E1B5-5643-5AB1-E26D-D77951E18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428" y="43091"/>
            <a:ext cx="11463491" cy="523220"/>
          </a:xfrm>
        </p:spPr>
        <p:txBody>
          <a:bodyPr>
            <a:noAutofit/>
          </a:bodyPr>
          <a:lstStyle/>
          <a:p>
            <a:r>
              <a:rPr lang="en-US" sz="4400" dirty="0"/>
              <a:t>Does it match the accuracy of </a:t>
            </a:r>
            <a:r>
              <a:rPr lang="en-US" sz="4400" dirty="0" err="1"/>
              <a:t>ToS</a:t>
            </a:r>
            <a:r>
              <a:rPr lang="en-US" sz="4400" dirty="0"/>
              <a:t>?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02A168C-A56C-CF62-34A5-165AB83EFEFE}"/>
              </a:ext>
            </a:extLst>
          </p:cNvPr>
          <p:cNvGrpSpPr/>
          <p:nvPr/>
        </p:nvGrpSpPr>
        <p:grpSpPr>
          <a:xfrm>
            <a:off x="1989222" y="2221827"/>
            <a:ext cx="8213558" cy="3200400"/>
            <a:chOff x="5366602" y="1580147"/>
            <a:chExt cx="6536640" cy="2013285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B2B868F-558C-2C57-4E52-2DD4AF20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6602" y="1580147"/>
              <a:ext cx="6536640" cy="201328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A322ED3-1495-33C9-AA46-CCADB8BE49FF}"/>
                </a:ext>
              </a:extLst>
            </p:cNvPr>
            <p:cNvSpPr/>
            <p:nvPr/>
          </p:nvSpPr>
          <p:spPr>
            <a:xfrm>
              <a:off x="9554131" y="2970973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CD7F739-0AC2-A1C4-8352-EF86E40364DE}"/>
                </a:ext>
              </a:extLst>
            </p:cNvPr>
            <p:cNvSpPr/>
            <p:nvPr/>
          </p:nvSpPr>
          <p:spPr>
            <a:xfrm>
              <a:off x="7262639" y="2467238"/>
              <a:ext cx="2272175" cy="301616"/>
            </a:xfrm>
            <a:prstGeom prst="rect">
              <a:avLst/>
            </a:prstGeom>
            <a:solidFill>
              <a:schemeClr val="accent4">
                <a:lumMod val="40000"/>
                <a:lumOff val="60000"/>
                <a:alpha val="24595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70966673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704274B-2F63-5A86-AA71-FD679E182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715501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223733</TotalTime>
  <Words>608</Words>
  <Application>Microsoft Macintosh PowerPoint</Application>
  <PresentationFormat>Widescreen</PresentationFormat>
  <Paragraphs>134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Arial</vt:lpstr>
      <vt:lpstr>Calibri</vt:lpstr>
      <vt:lpstr>Calibri Light</vt:lpstr>
      <vt:lpstr>IBM Plex Sans</vt:lpstr>
      <vt:lpstr>Office Theme</vt:lpstr>
      <vt:lpstr>PowerPoint Presentation</vt:lpstr>
      <vt:lpstr>Planning problem</vt:lpstr>
      <vt:lpstr>Planning problem</vt:lpstr>
      <vt:lpstr>Planning problem</vt:lpstr>
      <vt:lpstr>Planning problem</vt:lpstr>
      <vt:lpstr>Planning problem</vt:lpstr>
      <vt:lpstr>Background: Thought of Search (ToS)</vt:lpstr>
      <vt:lpstr>Background: Thought of Search (ToS)</vt:lpstr>
      <vt:lpstr>Background: Thought of Search (ToS)</vt:lpstr>
      <vt:lpstr>Background: Thought of Search (ToS)</vt:lpstr>
      <vt:lpstr>Background: Thought of Search (ToS)</vt:lpstr>
      <vt:lpstr>Background: Thought of Search (ToS)</vt:lpstr>
      <vt:lpstr>Automating Thought of Search (AutoToS)</vt:lpstr>
      <vt:lpstr>PowerPoint Presentation</vt:lpstr>
      <vt:lpstr>How does it work?</vt:lpstr>
      <vt:lpstr>How does it work?</vt:lpstr>
      <vt:lpstr>How does it work?</vt:lpstr>
      <vt:lpstr>How does it work?</vt:lpstr>
      <vt:lpstr>Is it much worse than a human feedback?</vt:lpstr>
      <vt:lpstr>Does it match the accuracy of ToS?</vt:lpstr>
      <vt:lpstr>Does it match the accuracy of ToS?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Michael Katz</dc:creator>
  <cp:keywords/>
  <dc:description/>
  <cp:lastModifiedBy>Michael Katz</cp:lastModifiedBy>
  <cp:revision>570</cp:revision>
  <dcterms:created xsi:type="dcterms:W3CDTF">2024-01-29T19:17:17Z</dcterms:created>
  <dcterms:modified xsi:type="dcterms:W3CDTF">2026-06-18T21:01:56Z</dcterms:modified>
  <cp:category/>
</cp:coreProperties>
</file>