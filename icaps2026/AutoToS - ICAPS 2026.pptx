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1000" r:id="rId2"/>
    <p:sldId id="602" r:id="rId3"/>
    <p:sldId id="1036" r:id="rId4"/>
    <p:sldId id="1037" r:id="rId5"/>
    <p:sldId id="1051" r:id="rId6"/>
    <p:sldId id="1038" r:id="rId7"/>
    <p:sldId id="1050" r:id="rId8"/>
    <p:sldId id="1039" r:id="rId9"/>
    <p:sldId id="104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E1"/>
    <a:srgbClr val="E7E6E6"/>
    <a:srgbClr val="C7D0DF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04"/>
    <p:restoredTop sz="83813"/>
  </p:normalViewPr>
  <p:slideViewPr>
    <p:cSldViewPr snapToGrid="0">
      <p:cViewPr>
        <p:scale>
          <a:sx n="103" d="100"/>
          <a:sy n="103" d="100"/>
        </p:scale>
        <p:origin x="159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9028-9AA5-EB4F-B8BE-7C57B92012CB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FDEBB-CCCC-8B46-A2A2-C1D34AD7B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44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FFDEBB-CCCC-8B46-A2A2-C1D34AD7BE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607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DB996-A0B1-EDFB-9453-A04417A04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19A78-89E7-A517-C5AE-B416EA335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BEE4D-6D05-C2BB-2C2A-B8F7B47AE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90080-A862-333A-4853-7E0353D7E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FFDEBB-CCCC-8B46-A2A2-C1D34AD7BEC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203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20356-7427-FE6E-241D-C6C79C97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AE1DD-20E2-BDEC-8490-B48BE16E5F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28CC0-1235-98BC-9C6A-939B80F3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01648-99FE-3D9D-A5DB-6F9F0EF882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667036-A19A-A61C-4BD3-A5D3FB9A4C2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002355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C01D1-1E52-BC9A-E87F-35408B7A5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AE684B-22B2-79B0-018F-82C09E467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91983-1DF0-6374-B5FA-D3EAC69D0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2D77A-52F2-F729-4597-5121E5744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5AD45-BD3A-E355-8BA9-348E2B30863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74287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FFDEBB-CCCC-8B46-A2A2-C1D34AD7BEC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72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92941-6824-7026-0DDA-984CBA44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3F45B-1E00-C954-90C1-D95776D6E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8765CB-E6FF-15F3-D334-410817105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C61FF7-3564-2487-C4CE-8973F4F4C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DB585-5F0D-798F-3326-6862053929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833325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9B161-1A56-C01F-1FDC-071744BC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7F473B-CA09-D268-EF75-1BFC55FB4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B01863-6F31-5AF7-4CDF-7EA0C4519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2482A-CF66-6251-9936-72AD92162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CEEB4-E824-F4C5-47B0-AD1FC2BF446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081960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02F82-58D9-0607-A1C6-90AD9609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DC1BE0-DC32-423E-B13F-B3EF36A51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A1CFE-5F01-1088-96DE-7EC200F8C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7ADE0-C686-A300-6B94-AEC339ADD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A4056-545E-52A8-1EB2-7F47112A48F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30230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01FCF-0CE9-6D3B-16EB-A5119E095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983427-FF72-1EBD-4A0A-CC34B0117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14471-D4C0-0E5D-DBA6-97A3C7648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2FF74-043B-05F9-EC58-4238B4C29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5C816-71A6-15B6-B3BA-D76253271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50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D7979-2C0B-87AB-1A9C-FE395D01B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705FC-E951-C9E6-4FAD-80067A7A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76035-4C6C-6228-45E6-36A0BC977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A859F-A026-A827-B01E-FC636C19D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E8C3C-3662-309D-D21B-6BE2F016F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A62A0-3F05-BEC5-A2A6-89FA01F0B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050F4-193F-8A54-409D-15459CE607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B3CC7-5D28-A20C-CF0F-E2E69EE28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17C5C-2A8F-5B86-FC6A-930F6A230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854D9-29BA-621B-7756-F3261C6A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88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E9919-BA08-5C40-6857-2B7484FA3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877B7-433E-AE53-E67C-2CDCC25985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53A7E7-CAD6-CAAB-82F1-8C13C5AF3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47764-9003-6D58-B97F-14B718D7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78F01-8DE6-76CF-17CB-AADC255FB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A2F18-9C5E-C800-FEAD-5CF69FBDE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613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9A7CB-0349-5E21-B85F-E5F2C4A6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8D3DFB-4BBE-F6EF-3B21-A17611F97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09CBB-EA58-36BE-A447-E7B00D171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3C917-22C4-F7AD-780D-C718115BFC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33C1B3-5F3B-000B-6EC1-FFC031C423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C392D9-072C-0FE1-3967-D3ACC056F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A793EA-75DB-148F-2F62-140A3310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945BA-29E7-CAE0-6162-67C2063C3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510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22CE8-28A3-8D99-1DF3-864BF872C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25EBE-2EC2-0202-B026-B7EB58D69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9A54C-DB6E-F68B-D24D-E2262EB9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FCE15E-EB98-1910-68D0-27D183D60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96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38809-CBDD-5D94-47DB-A4A9EBB0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150C0-5D71-2213-F4F6-BB698FB03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A7695-4215-99E5-56EE-DF98029A0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27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15C52-18FB-9FC0-5D47-81B90B0F9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13FC7-641A-B751-C6DF-21CE1570A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8BA57-5AB1-37A9-AE57-FAECF47D3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F4CEE9-5602-B278-776E-1DCFC6F3E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712C6-4180-0BE1-396C-A5F64A335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D20D6-4F86-0BAD-B1FC-CCD3E08E9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4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CA6D5-DABF-3943-17F6-43DD95E1C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08A7E7-D050-DA63-8E49-D18EFE7623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FF5AFB-A5B4-3DB3-56F1-0E60630F1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DC99D2-2131-1407-FDCD-99AA5A293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05233-375B-5080-E42E-938A7BF45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F7AF54-D19E-31E5-E1D7-BC8BD0536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93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45E70-2E59-7152-AAA7-123A13D3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C4B018-BA8F-0207-B623-16C2A2E6E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07BDD-9C87-4D36-AC94-8C8F0FFB9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B2B19-8BC8-01D1-F6A5-CC03C46B1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E0624-53C0-7C7C-BF1F-039A0D86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169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24E9AF-07E4-B53E-289B-714B3F8CB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A45DBB-BDF7-BB37-695A-B0F46D513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4FF1F-EF7D-19DD-84E8-C5C7E2BA7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A1352-43B3-367F-05DC-41BD6F7C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02C3D-5DC9-8690-62AE-F32289EE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776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26127" y="1985921"/>
            <a:ext cx="9455003" cy="3054431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7680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475F80-7516-72B5-7496-23B3E142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B9724-21E5-03B7-BE29-8713E569FF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47784-EA72-E42A-D7A5-3B361F343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CF6158-ACB0-F046-9CB6-2D84E56D4281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10E33-DD58-4472-A9AD-89E2B81740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C21A2-CF4E-A518-78AC-20DB4E7EFA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650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41000" r="2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049CCF2-5AD5-F193-336E-D1E01025238A}"/>
              </a:ext>
            </a:extLst>
          </p:cNvPr>
          <p:cNvSpPr/>
          <p:nvPr/>
        </p:nvSpPr>
        <p:spPr>
          <a:xfrm>
            <a:off x="420015" y="326707"/>
            <a:ext cx="11642674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Automating Thought of Search: </a:t>
            </a:r>
          </a:p>
          <a:p>
            <a:pPr algn="ctr"/>
            <a:r>
              <a:rPr lang="en-US" sz="4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 Journey Towards Soundness and Completeness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B96621-9DD6-36BC-8DB2-21C46D1E3AAD}"/>
              </a:ext>
            </a:extLst>
          </p:cNvPr>
          <p:cNvSpPr txBox="1"/>
          <p:nvPr/>
        </p:nvSpPr>
        <p:spPr>
          <a:xfrm>
            <a:off x="156786" y="2581071"/>
            <a:ext cx="12169132" cy="1446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Daniel Cao*                     </a:t>
            </a:r>
            <a:r>
              <a:rPr lang="en-US" sz="2000" u="sng" dirty="0"/>
              <a:t>Michael Katz </a:t>
            </a:r>
            <a:r>
              <a:rPr lang="en-US" sz="2000" dirty="0"/>
              <a:t>                    Harsha Kokel                     Kavitha Srinivas                    Shirin Sohrabi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Cornell University                                                                        IBM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*Work performed while at IBM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88660-97F7-C365-71DD-B37FFA477EFC}"/>
              </a:ext>
            </a:extLst>
          </p:cNvPr>
          <p:cNvSpPr txBox="1"/>
          <p:nvPr/>
        </p:nvSpPr>
        <p:spPr>
          <a:xfrm>
            <a:off x="5164491" y="1890811"/>
            <a:ext cx="1863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ICAPS 2026</a:t>
            </a:r>
          </a:p>
        </p:txBody>
      </p:sp>
    </p:spTree>
    <p:extLst>
      <p:ext uri="{BB962C8B-B14F-4D97-AF65-F5344CB8AC3E}">
        <p14:creationId xmlns:p14="http://schemas.microsoft.com/office/powerpoint/2010/main" val="183456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885BD-FDEC-279F-2434-F2D14C7CA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7D004-13A9-8B2D-B823-F7B70FA35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087" y="76104"/>
            <a:ext cx="10515600" cy="1325563"/>
          </a:xfrm>
        </p:spPr>
        <p:txBody>
          <a:bodyPr/>
          <a:lstStyle/>
          <a:p>
            <a:r>
              <a:rPr lang="en-US" dirty="0"/>
              <a:t>Planning problem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9906B6-D159-790C-E0DB-6E0D66D3F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77" y="2907752"/>
            <a:ext cx="7010796" cy="3745055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E56124A6-4B73-AA77-8ABC-CCC8D668F426}"/>
              </a:ext>
            </a:extLst>
          </p:cNvPr>
          <p:cNvGrpSpPr/>
          <p:nvPr/>
        </p:nvGrpSpPr>
        <p:grpSpPr>
          <a:xfrm>
            <a:off x="8122442" y="2612882"/>
            <a:ext cx="3457815" cy="2073897"/>
            <a:chOff x="469607" y="4554776"/>
            <a:chExt cx="3457815" cy="207389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1A6EA1-A73B-E0B4-DB98-A8CDEFB5CC7B}"/>
                </a:ext>
              </a:extLst>
            </p:cNvPr>
            <p:cNvSpPr/>
            <p:nvPr/>
          </p:nvSpPr>
          <p:spPr>
            <a:xfrm>
              <a:off x="469607" y="4554776"/>
              <a:ext cx="3457815" cy="207389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Planning Language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18B6350-54B2-748F-1C49-26918A85CF63}"/>
                </a:ext>
              </a:extLst>
            </p:cNvPr>
            <p:cNvSpPr txBox="1"/>
            <p:nvPr/>
          </p:nvSpPr>
          <p:spPr>
            <a:xfrm>
              <a:off x="680797" y="5248522"/>
              <a:ext cx="11577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predicates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96DABF2-BEE5-707E-7FA4-7E8E241FD606}"/>
                </a:ext>
              </a:extLst>
            </p:cNvPr>
            <p:cNvSpPr txBox="1"/>
            <p:nvPr/>
          </p:nvSpPr>
          <p:spPr>
            <a:xfrm>
              <a:off x="2815911" y="494394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E9BB7C3-56ED-0E71-7E7C-ADFFD7CF8E7E}"/>
                </a:ext>
              </a:extLst>
            </p:cNvPr>
            <p:cNvSpPr txBox="1"/>
            <p:nvPr/>
          </p:nvSpPr>
          <p:spPr>
            <a:xfrm>
              <a:off x="507568" y="4944091"/>
              <a:ext cx="692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types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195B83-8B1E-4185-F47D-E3F5013443FC}"/>
                </a:ext>
              </a:extLst>
            </p:cNvPr>
            <p:cNvSpPr txBox="1"/>
            <p:nvPr/>
          </p:nvSpPr>
          <p:spPr>
            <a:xfrm>
              <a:off x="731426" y="5627278"/>
              <a:ext cx="856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actions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F805EA3-78C5-66FC-D580-3B1B3F3E921A}"/>
                </a:ext>
              </a:extLst>
            </p:cNvPr>
            <p:cNvSpPr txBox="1"/>
            <p:nvPr/>
          </p:nvSpPr>
          <p:spPr>
            <a:xfrm>
              <a:off x="1139100" y="5893420"/>
              <a:ext cx="14765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preconditions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AC08D6C-E42A-CDA3-E661-5272A61C2F6F}"/>
                </a:ext>
              </a:extLst>
            </p:cNvPr>
            <p:cNvSpPr txBox="1"/>
            <p:nvPr/>
          </p:nvSpPr>
          <p:spPr>
            <a:xfrm>
              <a:off x="1139100" y="6168986"/>
              <a:ext cx="810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effects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65E8180-5A19-7745-5A02-28164493B974}"/>
                </a:ext>
              </a:extLst>
            </p:cNvPr>
            <p:cNvSpPr txBox="1"/>
            <p:nvPr/>
          </p:nvSpPr>
          <p:spPr>
            <a:xfrm>
              <a:off x="2638661" y="5357036"/>
              <a:ext cx="12230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initial state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DDF5219-876D-CDAC-FE10-0944EB16EF96}"/>
                </a:ext>
              </a:extLst>
            </p:cNvPr>
            <p:cNvSpPr txBox="1"/>
            <p:nvPr/>
          </p:nvSpPr>
          <p:spPr>
            <a:xfrm>
              <a:off x="2942617" y="5726368"/>
              <a:ext cx="577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goal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B2EDFF7-55D9-6082-1846-1EE3729DDF0E}"/>
              </a:ext>
            </a:extLst>
          </p:cNvPr>
          <p:cNvGrpSpPr/>
          <p:nvPr/>
        </p:nvGrpSpPr>
        <p:grpSpPr>
          <a:xfrm>
            <a:off x="8881110" y="5263037"/>
            <a:ext cx="1940480" cy="1529394"/>
            <a:chOff x="4315446" y="4747171"/>
            <a:chExt cx="2007306" cy="15293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7C6326F-5A9E-8CF4-5EF7-A375D15A6754}"/>
                </a:ext>
              </a:extLst>
            </p:cNvPr>
            <p:cNvSpPr/>
            <p:nvPr/>
          </p:nvSpPr>
          <p:spPr>
            <a:xfrm>
              <a:off x="4315446" y="4747171"/>
              <a:ext cx="2007306" cy="15293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Black Box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6D332E15-59C3-3039-88A6-ED629E76BAF8}"/>
                </a:ext>
              </a:extLst>
            </p:cNvPr>
            <p:cNvSpPr/>
            <p:nvPr/>
          </p:nvSpPr>
          <p:spPr>
            <a:xfrm>
              <a:off x="4456437" y="5717477"/>
              <a:ext cx="1593130" cy="47134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succ</a:t>
              </a:r>
              <a:r>
                <a:rPr lang="en-US" dirty="0"/>
                <a:t>: S -&gt;2</a:t>
              </a:r>
              <a:r>
                <a:rPr lang="en-US" baseline="30000" dirty="0"/>
                <a:t>SxA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A07EA76D-87F8-4A23-F08C-13E9A0082C54}"/>
                </a:ext>
              </a:extLst>
            </p:cNvPr>
            <p:cNvSpPr/>
            <p:nvPr/>
          </p:nvSpPr>
          <p:spPr>
            <a:xfrm>
              <a:off x="4471749" y="5160309"/>
              <a:ext cx="1593129" cy="47134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goal: S -&gt; {T,F}</a:t>
              </a:r>
              <a:endParaRPr lang="en-US" baseline="30000" dirty="0"/>
            </a:p>
          </p:txBody>
        </p:sp>
      </p:grpSp>
      <p:sp>
        <p:nvSpPr>
          <p:cNvPr id="41" name="Right Arrow 40">
            <a:extLst>
              <a:ext uri="{FF2B5EF4-FFF2-40B4-BE49-F238E27FC236}">
                <a16:creationId xmlns:a16="http://schemas.microsoft.com/office/drawing/2014/main" id="{DC678112-87DD-D90E-6D10-D473296B1AC3}"/>
              </a:ext>
            </a:extLst>
          </p:cNvPr>
          <p:cNvSpPr/>
          <p:nvPr/>
        </p:nvSpPr>
        <p:spPr>
          <a:xfrm rot="5400000">
            <a:off x="9614515" y="4828418"/>
            <a:ext cx="445651" cy="303220"/>
          </a:xfrm>
          <a:prstGeom prst="rightArrow">
            <a:avLst/>
          </a:prstGeom>
          <a:ln cap="rnd" cmpd="dbl">
            <a:solidFill>
              <a:schemeClr val="accent1">
                <a:shade val="1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D2A97D7-650A-7C6F-EF7D-FE152D24B675}"/>
              </a:ext>
            </a:extLst>
          </p:cNvPr>
          <p:cNvGrpSpPr/>
          <p:nvPr/>
        </p:nvGrpSpPr>
        <p:grpSpPr>
          <a:xfrm>
            <a:off x="5289629" y="287335"/>
            <a:ext cx="6748041" cy="2093302"/>
            <a:chOff x="5347502" y="141185"/>
            <a:chExt cx="6748041" cy="2093302"/>
          </a:xfrm>
        </p:grpSpPr>
        <p:sp>
          <p:nvSpPr>
            <p:cNvPr id="6" name="Cloud 5">
              <a:extLst>
                <a:ext uri="{FF2B5EF4-FFF2-40B4-BE49-F238E27FC236}">
                  <a16:creationId xmlns:a16="http://schemas.microsoft.com/office/drawing/2014/main" id="{1D89D30B-B9F4-E2A3-E600-323E82DAB015}"/>
                </a:ext>
              </a:extLst>
            </p:cNvPr>
            <p:cNvSpPr/>
            <p:nvPr/>
          </p:nvSpPr>
          <p:spPr>
            <a:xfrm>
              <a:off x="5347502" y="141185"/>
              <a:ext cx="6748041" cy="2093302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FC1643C-4E7A-1826-4122-A4167A61B323}"/>
                </a:ext>
              </a:extLst>
            </p:cNvPr>
            <p:cNvSpPr txBox="1"/>
            <p:nvPr/>
          </p:nvSpPr>
          <p:spPr>
            <a:xfrm>
              <a:off x="5878924" y="562223"/>
              <a:ext cx="5532843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The 24 Game is a mathematical card game in which the objective</a:t>
              </a: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 is to find a way to manipulate four integers so that the end result is 24. </a:t>
              </a: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The game  is played with a list of four numbers, and the player must use all four numbers exactly once, using any combination of addition, subtraction, multiplication, or division, to arrive at the number 24. </a:t>
              </a:r>
            </a:p>
            <a:p>
              <a:pPr algn="ctr"/>
              <a:endParaRPr lang="en-US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68D12859-BC9D-24CD-13D9-A60E24CC4780}"/>
              </a:ext>
            </a:extLst>
          </p:cNvPr>
          <p:cNvCxnSpPr>
            <a:cxnSpLocks/>
          </p:cNvCxnSpPr>
          <p:nvPr/>
        </p:nvCxnSpPr>
        <p:spPr>
          <a:xfrm>
            <a:off x="3885235" y="3855709"/>
            <a:ext cx="5151463" cy="1977156"/>
          </a:xfrm>
          <a:prstGeom prst="curvedConnector3">
            <a:avLst>
              <a:gd name="adj1" fmla="val 70671"/>
            </a:avLst>
          </a:prstGeom>
          <a:ln w="53975" cap="rnd" cmpd="sng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630D3E9B-91AA-A23B-C43D-18D47003EFDC}"/>
              </a:ext>
            </a:extLst>
          </p:cNvPr>
          <p:cNvSpPr/>
          <p:nvPr/>
        </p:nvSpPr>
        <p:spPr>
          <a:xfrm>
            <a:off x="5489615" y="4138593"/>
            <a:ext cx="358815" cy="1347807"/>
          </a:xfrm>
          <a:prstGeom prst="rightBrace">
            <a:avLst>
              <a:gd name="adj1" fmla="val 37365"/>
              <a:gd name="adj2" fmla="val 49750"/>
            </a:avLst>
          </a:prstGeom>
          <a:ln w="44450" cap="rnd" cmpd="sng">
            <a:round/>
            <a:headEnd type="none"/>
            <a:tailEnd type="none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AC6E28F8-C20A-4B16-3E8B-87FCBA1C074D}"/>
              </a:ext>
            </a:extLst>
          </p:cNvPr>
          <p:cNvCxnSpPr>
            <a:cxnSpLocks/>
          </p:cNvCxnSpPr>
          <p:nvPr/>
        </p:nvCxnSpPr>
        <p:spPr>
          <a:xfrm>
            <a:off x="5878924" y="4805038"/>
            <a:ext cx="3138483" cy="1695881"/>
          </a:xfrm>
          <a:prstGeom prst="curvedConnector3">
            <a:avLst>
              <a:gd name="adj1" fmla="val 50000"/>
            </a:avLst>
          </a:prstGeom>
          <a:ln w="53975" cap="rnd" cmpd="sng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ight Arrow 64">
            <a:extLst>
              <a:ext uri="{FF2B5EF4-FFF2-40B4-BE49-F238E27FC236}">
                <a16:creationId xmlns:a16="http://schemas.microsoft.com/office/drawing/2014/main" id="{A0FF4405-15E7-8BB3-4A7F-D64BAE43B199}"/>
              </a:ext>
            </a:extLst>
          </p:cNvPr>
          <p:cNvSpPr/>
          <p:nvPr/>
        </p:nvSpPr>
        <p:spPr>
          <a:xfrm rot="5400000">
            <a:off x="9747840" y="2229027"/>
            <a:ext cx="445651" cy="303220"/>
          </a:xfrm>
          <a:prstGeom prst="rightArrow">
            <a:avLst/>
          </a:prstGeom>
          <a:ln cap="rnd" cmpd="dbl">
            <a:solidFill>
              <a:schemeClr val="accent1">
                <a:shade val="1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8" name="Curved Connector 67">
            <a:extLst>
              <a:ext uri="{FF2B5EF4-FFF2-40B4-BE49-F238E27FC236}">
                <a16:creationId xmlns:a16="http://schemas.microsoft.com/office/drawing/2014/main" id="{5FCA291C-90F9-4569-151D-EE93221C0AF7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2332" y="2676747"/>
            <a:ext cx="3229301" cy="2108727"/>
          </a:xfrm>
          <a:prstGeom prst="curvedConnector2">
            <a:avLst/>
          </a:prstGeom>
          <a:ln w="168275"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9E0053E-FF51-6A30-B3FE-7CF9EBC3B017}"/>
              </a:ext>
            </a:extLst>
          </p:cNvPr>
          <p:cNvSpPr txBox="1"/>
          <p:nvPr/>
        </p:nvSpPr>
        <p:spPr>
          <a:xfrm>
            <a:off x="451087" y="2418797"/>
            <a:ext cx="2211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Mathematical Model:</a:t>
            </a:r>
          </a:p>
        </p:txBody>
      </p:sp>
    </p:spTree>
    <p:extLst>
      <p:ext uri="{BB962C8B-B14F-4D97-AF65-F5344CB8AC3E}">
        <p14:creationId xmlns:p14="http://schemas.microsoft.com/office/powerpoint/2010/main" val="305958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20" grpId="0" animBg="1"/>
      <p:bldP spid="65" grpId="0" animBg="1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85412-5D2C-1C4B-10A9-CBFD0D432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E90539A2-58CC-3E0B-35A2-30D1AEECB0AE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A784B0F7-CE7E-508F-EDC2-96346A2E1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2442060" cy="523220"/>
          </a:xfrm>
        </p:spPr>
        <p:txBody>
          <a:bodyPr>
            <a:noAutofit/>
          </a:bodyPr>
          <a:lstStyle/>
          <a:p>
            <a:r>
              <a:rPr lang="en-US" sz="4400" dirty="0"/>
              <a:t>Background: Solving NL/PDDL Planning Problems</a:t>
            </a:r>
            <a:r>
              <a:rPr lang="ru-RU" sz="4400" dirty="0"/>
              <a:t>: </a:t>
            </a:r>
            <a:r>
              <a:rPr lang="en-US" sz="4400" dirty="0" err="1"/>
              <a:t>ToS</a:t>
            </a:r>
            <a:endParaRPr lang="en-US" sz="4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0DAEEE-BC19-D8B6-F189-15AA7EE761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783" r="74806"/>
          <a:stretch>
            <a:fillRect/>
          </a:stretch>
        </p:blipFill>
        <p:spPr>
          <a:xfrm>
            <a:off x="0" y="705268"/>
            <a:ext cx="4331368" cy="610964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B93E639-15B8-88ED-74B3-CA2F1FB7E2C9}"/>
              </a:ext>
            </a:extLst>
          </p:cNvPr>
          <p:cNvGrpSpPr/>
          <p:nvPr/>
        </p:nvGrpSpPr>
        <p:grpSpPr>
          <a:xfrm>
            <a:off x="4475748" y="2935709"/>
            <a:ext cx="7427012" cy="3175206"/>
            <a:chOff x="1064248" y="2708361"/>
            <a:chExt cx="8117586" cy="306319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C1441E7-BBEA-5F98-1C6F-AB0746060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289" t="10417" r="2127" b="3008"/>
            <a:stretch>
              <a:fillRect/>
            </a:stretch>
          </p:blipFill>
          <p:spPr>
            <a:xfrm>
              <a:off x="1064248" y="2708361"/>
              <a:ext cx="8113986" cy="306319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039C51-4813-6F4F-56E9-E5A0C37CAFD2}"/>
                </a:ext>
              </a:extLst>
            </p:cNvPr>
            <p:cNvSpPr/>
            <p:nvPr/>
          </p:nvSpPr>
          <p:spPr>
            <a:xfrm>
              <a:off x="1064248" y="5515352"/>
              <a:ext cx="8117586" cy="211864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4595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CFB9B5D8-9739-D039-24B1-6FC9B7ADE326}"/>
              </a:ext>
            </a:extLst>
          </p:cNvPr>
          <p:cNvSpPr txBox="1"/>
          <p:nvPr/>
        </p:nvSpPr>
        <p:spPr>
          <a:xfrm>
            <a:off x="4475748" y="907505"/>
            <a:ext cx="7956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Plug the functions into a standard search (BFS/DFS/IDDF…)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0190F-8FE7-70B6-71A7-D8166F394188}"/>
              </a:ext>
            </a:extLst>
          </p:cNvPr>
          <p:cNvSpPr txBox="1"/>
          <p:nvPr/>
        </p:nvSpPr>
        <p:spPr>
          <a:xfrm>
            <a:off x="7134729" y="1338349"/>
            <a:ext cx="1451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Results?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BB740B-0226-3E49-6390-7F73DBD6F786}"/>
              </a:ext>
            </a:extLst>
          </p:cNvPr>
          <p:cNvSpPr txBox="1"/>
          <p:nvPr/>
        </p:nvSpPr>
        <p:spPr>
          <a:xfrm>
            <a:off x="5037222" y="1873481"/>
            <a:ext cx="65612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100% accuracy across all tested domains!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Execution time in </a:t>
            </a:r>
            <a:r>
              <a:rPr lang="en-US" sz="2400" b="1" dirty="0" err="1">
                <a:solidFill>
                  <a:srgbClr val="FF0000"/>
                </a:solidFill>
              </a:rPr>
              <a:t>ms</a:t>
            </a:r>
            <a:r>
              <a:rPr lang="en-US" sz="2400" b="1" dirty="0">
                <a:solidFill>
                  <a:srgbClr val="FF0000"/>
                </a:solidFill>
              </a:rPr>
              <a:t> per instance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D4AA23-1451-6C29-2283-5EBDC86CDB8A}"/>
              </a:ext>
            </a:extLst>
          </p:cNvPr>
          <p:cNvSpPr txBox="1"/>
          <p:nvPr/>
        </p:nvSpPr>
        <p:spPr>
          <a:xfrm>
            <a:off x="4399548" y="6263066"/>
            <a:ext cx="4981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Limitation: need human in the loop!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06862-3C90-3D17-B071-520879479D4A}"/>
              </a:ext>
            </a:extLst>
          </p:cNvPr>
          <p:cNvSpPr txBox="1"/>
          <p:nvPr/>
        </p:nvSpPr>
        <p:spPr>
          <a:xfrm>
            <a:off x="9448799" y="6445577"/>
            <a:ext cx="258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>
                    <a:lumMod val="75000"/>
                  </a:schemeClr>
                </a:solidFill>
              </a:rPr>
              <a:t>Katz et al, </a:t>
            </a:r>
            <a:r>
              <a:rPr lang="en-US" sz="1800" b="1" dirty="0" err="1">
                <a:solidFill>
                  <a:schemeClr val="accent1">
                    <a:lumMod val="75000"/>
                  </a:schemeClr>
                </a:solidFill>
              </a:rPr>
              <a:t>NeurIPS</a:t>
            </a:r>
            <a:r>
              <a:rPr lang="en-US" sz="1800" b="1" dirty="0">
                <a:solidFill>
                  <a:schemeClr val="accent1">
                    <a:lumMod val="75000"/>
                  </a:schemeClr>
                </a:solidFill>
              </a:rPr>
              <a:t> 2024</a:t>
            </a:r>
          </a:p>
        </p:txBody>
      </p:sp>
    </p:spTree>
    <p:extLst>
      <p:ext uri="{BB962C8B-B14F-4D97-AF65-F5344CB8AC3E}">
        <p14:creationId xmlns:p14="http://schemas.microsoft.com/office/powerpoint/2010/main" val="98906200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1FE14-73A3-719E-CF45-3E7141F65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4AA71222-9EAE-6A3A-F88D-140FA5C19EB2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A23C6A89-9E61-4C29-DC37-F4549EDB0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Solving NL/PDDL Planning Problems: </a:t>
            </a:r>
            <a:r>
              <a:rPr lang="en-US" sz="4400" dirty="0" err="1"/>
              <a:t>AutoToS</a:t>
            </a:r>
            <a:endParaRPr lang="en-US" sz="4400" dirty="0"/>
          </a:p>
        </p:txBody>
      </p:sp>
      <p:pic>
        <p:nvPicPr>
          <p:cNvPr id="2" name="Picture 1" descr="A robot thinking about a problem&#10;&#10;AI-generated content may be incorrect.">
            <a:extLst>
              <a:ext uri="{FF2B5EF4-FFF2-40B4-BE49-F238E27FC236}">
                <a16:creationId xmlns:a16="http://schemas.microsoft.com/office/drawing/2014/main" id="{457DB2B3-5031-8207-3392-8EC6F70CF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731" y="828971"/>
            <a:ext cx="4447826" cy="4226599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AB43C4B-CAD6-AFD4-5357-813FA59EC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8049" y="2851768"/>
            <a:ext cx="4828856" cy="1029576"/>
          </a:xfrm>
          <a:prstGeom prst="rect">
            <a:avLst/>
          </a:prstGeom>
        </p:spPr>
      </p:pic>
      <p:pic>
        <p:nvPicPr>
          <p:cNvPr id="6" name="Picture 5" descr="A screenshot of a phone&#10;&#10;AI-generated content may be incorrect.">
            <a:extLst>
              <a:ext uri="{FF2B5EF4-FFF2-40B4-BE49-F238E27FC236}">
                <a16:creationId xmlns:a16="http://schemas.microsoft.com/office/drawing/2014/main" id="{C9F0FB60-FD61-019E-B22F-A1225A3A8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2146" y="4679996"/>
            <a:ext cx="5244831" cy="1045890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4D4BA-C94B-E82B-F56F-97D2FDCCD8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760" y="1940651"/>
            <a:ext cx="4997349" cy="939800"/>
          </a:xfrm>
          <a:prstGeom prst="rect">
            <a:avLst/>
          </a:prstGeom>
        </p:spPr>
      </p:pic>
      <p:pic>
        <p:nvPicPr>
          <p:cNvPr id="8" name="Picture 7" descr="A white background with blue text&#10;&#10;AI-generated content may be incorrect.">
            <a:extLst>
              <a:ext uri="{FF2B5EF4-FFF2-40B4-BE49-F238E27FC236}">
                <a16:creationId xmlns:a16="http://schemas.microsoft.com/office/drawing/2014/main" id="{00A7F8FF-4DA0-FBE6-B51F-A07B2ECD00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6172" y="5309045"/>
            <a:ext cx="5016595" cy="1332767"/>
          </a:xfrm>
          <a:prstGeom prst="rect">
            <a:avLst/>
          </a:prstGeom>
        </p:spPr>
      </p:pic>
      <p:pic>
        <p:nvPicPr>
          <p:cNvPr id="9" name="Picture 8" descr="A close-up of a sign&#10;&#10;AI-generated content may be incorrect.">
            <a:extLst>
              <a:ext uri="{FF2B5EF4-FFF2-40B4-BE49-F238E27FC236}">
                <a16:creationId xmlns:a16="http://schemas.microsoft.com/office/drawing/2014/main" id="{17E09179-91A3-13DA-16FF-739343B872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7802" y="5840144"/>
            <a:ext cx="4785193" cy="863600"/>
          </a:xfrm>
          <a:prstGeom prst="rect">
            <a:avLst/>
          </a:prstGeom>
        </p:spPr>
      </p:pic>
      <p:pic>
        <p:nvPicPr>
          <p:cNvPr id="10" name="Picture 9" descr="A close-up of a text&#10;&#10;AI-generated content may be incorrect.">
            <a:extLst>
              <a:ext uri="{FF2B5EF4-FFF2-40B4-BE49-F238E27FC236}">
                <a16:creationId xmlns:a16="http://schemas.microsoft.com/office/drawing/2014/main" id="{6F21205A-753E-5843-448F-88B9C98DF71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32895" y="948130"/>
            <a:ext cx="4770197" cy="93980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59849D-9B83-7498-D718-EB9B0DA2501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2817" y="3833218"/>
            <a:ext cx="4991870" cy="1099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3120FA-E1E6-67FE-260A-B1D3E050CE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9557" y="828971"/>
            <a:ext cx="3682494" cy="47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78710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77376B-3505-5ABB-3196-DA38B825748B}"/>
              </a:ext>
            </a:extLst>
          </p:cNvPr>
          <p:cNvSpPr txBox="1">
            <a:spLocks/>
          </p:cNvSpPr>
          <p:nvPr/>
        </p:nvSpPr>
        <p:spPr>
          <a:xfrm>
            <a:off x="-9428" y="43091"/>
            <a:ext cx="11463491" cy="5232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199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 err="1"/>
              <a:t>AutoToS</a:t>
            </a:r>
            <a:r>
              <a:rPr lang="en-US" sz="4400" dirty="0"/>
              <a:t>: Core Idea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C8AEE49-D26E-1811-05E7-411BC6F7D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860" y="640907"/>
            <a:ext cx="9271591" cy="618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82708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B802-912F-DA11-730B-A56228123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5B899AB9-C5F4-3792-D13E-C857E0379F29}"/>
              </a:ext>
            </a:extLst>
          </p:cNvPr>
          <p:cNvSpPr txBox="1"/>
          <p:nvPr/>
        </p:nvSpPr>
        <p:spPr>
          <a:xfrm>
            <a:off x="7395210" y="602407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0E7FCDC0-2D6C-1189-0A0D-7BC4EF7F0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How does it work?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561BF8-6B4E-D6EF-0125-FA5439C3D31D}"/>
              </a:ext>
            </a:extLst>
          </p:cNvPr>
          <p:cNvSpPr/>
          <p:nvPr/>
        </p:nvSpPr>
        <p:spPr>
          <a:xfrm>
            <a:off x="288757" y="1456676"/>
            <a:ext cx="493762" cy="5358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F1DB8B-5F6F-9E86-DAF1-F63A3F5127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793" r="72" b="90743"/>
          <a:stretch>
            <a:fillRect/>
          </a:stretch>
        </p:blipFill>
        <p:spPr>
          <a:xfrm>
            <a:off x="655779" y="987352"/>
            <a:ext cx="11247464" cy="5232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2B8B4F-6D56-18D1-D1DB-B7F5D9F148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606" t="10377" r="43356" b="58441"/>
          <a:stretch>
            <a:fillRect/>
          </a:stretch>
        </p:blipFill>
        <p:spPr>
          <a:xfrm>
            <a:off x="437321" y="1606932"/>
            <a:ext cx="4585253" cy="1762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9E4ADC-8D06-EA28-35F1-9E888DE55C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98" t="41559" r="42478"/>
          <a:stretch>
            <a:fillRect/>
          </a:stretch>
        </p:blipFill>
        <p:spPr>
          <a:xfrm>
            <a:off x="424069" y="3379303"/>
            <a:ext cx="4731027" cy="33032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EBF4F-38AB-B4B1-2560-3EA06104F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932" t="61046" b="1"/>
          <a:stretch>
            <a:fillRect/>
          </a:stretch>
        </p:blipFill>
        <p:spPr>
          <a:xfrm>
            <a:off x="5048099" y="4480409"/>
            <a:ext cx="6362450" cy="22017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2608FC-B2B8-8601-C92A-60FBC50984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932" t="9995" b="38793"/>
          <a:stretch>
            <a:fillRect/>
          </a:stretch>
        </p:blipFill>
        <p:spPr>
          <a:xfrm>
            <a:off x="5048099" y="1585700"/>
            <a:ext cx="6362450" cy="289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26274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C0CC9-A8EF-039B-65C9-1EBC7795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37188AC7-9121-498E-700C-8374AB1441B5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BF16A74B-CF46-A7A3-F9D5-4835E0DB6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Is it much worse than a human feedback?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F838F8-A73B-7033-EEBD-C9EFF7597783}"/>
              </a:ext>
            </a:extLst>
          </p:cNvPr>
          <p:cNvSpPr/>
          <p:nvPr/>
        </p:nvSpPr>
        <p:spPr>
          <a:xfrm>
            <a:off x="288757" y="1456676"/>
            <a:ext cx="493762" cy="5358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CAA6C5-5951-F1EA-1810-48CE05401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842" y="2285999"/>
            <a:ext cx="10324315" cy="300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09704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FB8E8-4043-0CD8-08B7-DA7F68BE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D2FA740-3680-4BCA-A102-A3B4E56F307E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DA1BA2E5-2829-87E0-8C52-5FFC75973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Does it match the accuracy of </a:t>
            </a:r>
            <a:r>
              <a:rPr lang="en-US" sz="4400" dirty="0" err="1"/>
              <a:t>ToS</a:t>
            </a:r>
            <a:r>
              <a:rPr lang="en-US" sz="4400" dirty="0"/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0B4FE6-CCA9-754A-2E6E-5D6C18FFB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674" y="818146"/>
            <a:ext cx="5307202" cy="6089141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66845C1-CEF7-88F5-85CB-6BC30200B6F7}"/>
              </a:ext>
            </a:extLst>
          </p:cNvPr>
          <p:cNvGrpSpPr/>
          <p:nvPr/>
        </p:nvGrpSpPr>
        <p:grpSpPr>
          <a:xfrm>
            <a:off x="1989222" y="2221827"/>
            <a:ext cx="8213558" cy="3200400"/>
            <a:chOff x="5366602" y="1580147"/>
            <a:chExt cx="6536640" cy="201328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96906B-8FEF-EE9F-94B2-2B1F4502B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6602" y="1580147"/>
              <a:ext cx="6536640" cy="201328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C705CE8-431B-3588-2DC3-601D5676C7B7}"/>
                </a:ext>
              </a:extLst>
            </p:cNvPr>
            <p:cNvSpPr/>
            <p:nvPr/>
          </p:nvSpPr>
          <p:spPr>
            <a:xfrm>
              <a:off x="9554131" y="2970973"/>
              <a:ext cx="2272175" cy="301616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4595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13FDDE-DD82-9F06-519C-634C90F4BF63}"/>
                </a:ext>
              </a:extLst>
            </p:cNvPr>
            <p:cNvSpPr/>
            <p:nvPr/>
          </p:nvSpPr>
          <p:spPr>
            <a:xfrm>
              <a:off x="7262639" y="2467238"/>
              <a:ext cx="2272175" cy="301616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4595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902208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04274B-2F63-5A86-AA71-FD679E182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71550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223728</TotalTime>
  <Words>238</Words>
  <Application>Microsoft Macintosh PowerPoint</Application>
  <PresentationFormat>Widescreen</PresentationFormat>
  <Paragraphs>48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IBM Plex Sans</vt:lpstr>
      <vt:lpstr>Office Theme</vt:lpstr>
      <vt:lpstr>PowerPoint Presentation</vt:lpstr>
      <vt:lpstr>Planning problem</vt:lpstr>
      <vt:lpstr>Background: Solving NL/PDDL Planning Problems: ToS</vt:lpstr>
      <vt:lpstr>Solving NL/PDDL Planning Problems: AutoToS</vt:lpstr>
      <vt:lpstr>PowerPoint Presentation</vt:lpstr>
      <vt:lpstr>How does it work?</vt:lpstr>
      <vt:lpstr>Is it much worse than a human feedback?</vt:lpstr>
      <vt:lpstr>Does it match the accuracy of ToS?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Michael Katz</dc:creator>
  <cp:keywords/>
  <dc:description/>
  <cp:lastModifiedBy>Michael Katz</cp:lastModifiedBy>
  <cp:revision>567</cp:revision>
  <dcterms:created xsi:type="dcterms:W3CDTF">2024-01-29T19:17:17Z</dcterms:created>
  <dcterms:modified xsi:type="dcterms:W3CDTF">2026-06-11T14:23:48Z</dcterms:modified>
  <cp:category/>
</cp:coreProperties>
</file>